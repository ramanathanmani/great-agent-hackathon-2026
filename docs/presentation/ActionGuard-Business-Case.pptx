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libri"/>
              </a:rPr>
              <a:t>Target budget per stage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Target ms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Speech-to-text (final)</c:v>
                  </c:pt>
                  <c:pt idx="1">
                    <c:v>Language + intent (offline)</c:v>
                  </c:pt>
                  <c:pt idx="2">
                    <c:v>Negation + decision layer</c:v>
                  </c:pt>
                  <c:pt idx="3">
                    <c:v>Sentiment check</c:v>
                  </c:pt>
                  <c:pt idx="4">
                    <c:v>LLM fallback (unclear only)</c:v>
                  </c:pt>
                  <c:pt idx="5">
                    <c:v>Speech out (first audio)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250</c:v>
                </c:pt>
                <c:pt idx="5">
                  <c:v>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Calibri"/>
              </a:rPr>
              <a:t>Target mix of guarded actions (%)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Target decision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F8A63"/>
              </a:solidFill>
              <a:effectLst/>
            </c:spPr>
          </c:dPt>
          <c:dPt>
            <c:idx val="1"/>
            <c:bubble3D val="0"/>
            <c:spPr>
              <a:solidFill>
                <a:srgbClr val="F4A300"/>
              </a:solidFill>
              <a:effectLst/>
            </c:spPr>
          </c:dPt>
          <c:dPt>
            <c:idx val="2"/>
            <c:bubble3D val="0"/>
            <c:spPr>
              <a:solidFill>
                <a:srgbClr val="C8283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ALLOW</c:v>
                </c:pt>
                <c:pt idx="1">
                  <c:v>CONFIRM</c:v>
                </c:pt>
                <c:pt idx="2">
                  <c:v>BLOCK / re-route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80</c:v>
                </c:pt>
                <c:pt idx="1">
                  <c:v>15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9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sentence. It means 'don't cancel the order, just change the address'. Today an AI agent can hear 'cancel' and do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Name, owner, and the core idea: every irreversible tool call passes through a gate with three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has it: every brand putting an AI agent with write-access in front of Indian callers. Why it hurts: the mistake is a transaction, not a bad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B is reproducible today: run analyseOffline() on the Hindi sentence in codemix.js and it returns cancellation_refund. The Tamil sentence comes back as damaged_item, which also ignores 'vendam'.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we are not another AI agent. We are the layer between any company's agent and the APIs that change orders, money and addresses.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checks, in order: how risky the action is, whether the caller negated it, and how confident we are in the transcript. Only the last branch adds a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Chip colors: blue = English, grey = Hindi or Tamil, red = negation. The Tamil example shows the confidence branch: the word is probably 'vendam', but it's too low-confidence to issue money without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design targets, not measurements. The offline engine already runs in microseconds (register metrics measured at ~546 ns per call in decision-policy/), so the plug-in's own checks are a small part of the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irreversible or money-moving tool calls count as guarded actions, so the price tracks the risk removed. The free monitor mode is the upsell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wrong-action metric is measurable today: our Round-1 engine gives a baseline on the negation set. Latency, confirmation rate and decision mix are design targets.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GREAT AGENT HACKATHON 2026  ·  ROUND 2 BUSINESS CASE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FreshVoice ActionGuard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377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your AI agent and your action APIs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3429000"/>
            <a:ext cx="384048" cy="38404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07008" y="3429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834640" y="3429000"/>
            <a:ext cx="384048" cy="38404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10128" y="3429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3429000"/>
            <a:ext cx="384048" cy="384048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13248" y="34290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43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“Order cancel </a:t>
            </a:r>
            <a:pPr indent="0" marL="0">
              <a:buNone/>
            </a:pPr>
            <a:r>
              <a:rPr lang="en-US" sz="2200" b="1" i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hai.”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understands mixed-language callers, confirms when unsure, and audits every action.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·  Track 1: Customer &amp; Employee Experience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Initiative Overview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5727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470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plug-in between a company's AI agent and its action APIs. It understands mixed-language callers and runs the right API safely.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303580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1012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Sadhana, builders of FreshVoice (Round 1)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44988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731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code-mix engine + MCP server, live at codemix-skill.vercel.app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20574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 wants to call an API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cancel_order(48211)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12480" y="2514600"/>
            <a:ext cx="50292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8915400" y="192024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ActionGuard plug-in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understands, decides,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confirms, audits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flipH="1">
            <a:off x="7132320" y="3108960"/>
            <a:ext cx="3108960" cy="77724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309360" y="393192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3977640"/>
            <a:ext cx="1554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and log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 flipH="1">
            <a:off x="8961120" y="3108960"/>
            <a:ext cx="1280160" cy="77724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8138160" y="393192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3977640"/>
            <a:ext cx="1554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in caller's language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0241280" y="3108960"/>
            <a:ext cx="548640" cy="77724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966960" y="3931920"/>
            <a:ext cx="1645920" cy="1188720"/>
          </a:xfrm>
          <a:prstGeom prst="roundRect">
            <a:avLst>
              <a:gd name="adj" fmla="val 6154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12680" y="3977640"/>
            <a:ext cx="15544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and re-route / hand off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53492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actions go straight through. We only ask a question when the action is irreversible and we aren't sure.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 agents now do things, and code-mixed speech is where they will get it wrong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5212080" cy="4206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support agents no longer just answer questions. They cancel orders, issue refunds and change addresses on their own.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callers mix languages mid-sentence, and the meaning often hangs on one small negation word: mat, nahi, vendam, vaddu.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phone audio, that short word is exactly what speech-to-text mishears or drops.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then takes the opposite action. It can't be undone, and it costs refunds, reshipping and customer trust.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6916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NEGATION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169164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order cancelled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1965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cancel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karo, bas address change karna hai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4414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Meaning: don't cancel, just change the address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081528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31729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NEGATION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0" y="31729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refund issued, no replacement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4472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Refund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vendam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replacement anuppunga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92277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Meaning: I don't want a refund, send a replacement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562856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446520" y="46542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DROP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0" y="465429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confident wrong action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928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Heard: “Order cancel </a:t>
            </a:r>
            <a:pPr indent="0" marL="0">
              <a:buNone/>
            </a:pPr>
            <a:r>
              <a:rPr lang="en-US" sz="1700" b="1" i="1" u="sng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</a:t>
            </a:r>
            <a:pPr indent="0" marL="0">
              <a:buNone/>
            </a:pPr>
            <a:r>
              <a:rPr lang="en-US" sz="1700" i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karo…”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54041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negation is lost on a noisy line, so the sentence now means the opposite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Breaks Today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the same sentence becomes the wrong action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9903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A: speech-to-text drops the negation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“Order cancel mat karo, bas address change karna hai”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468880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2889504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“Order cancel ___ karo, bas address change…”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64024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5184648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model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confidence)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059168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479792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tool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cancel_order(48211)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354312" y="240030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9774936" y="178308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undone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41071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B: transcript is right, but the model ignores “mat”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says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“Order cancel mat karo, bas address change karna hai”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468880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889504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transcript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764024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184648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intent model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“order” + “cancel”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cancellation_refund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059168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479792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calls tool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cancel_order(48211)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354312" y="4411980"/>
            <a:ext cx="420624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774936" y="3794760"/>
            <a:ext cx="1874520" cy="1234440"/>
          </a:xfrm>
          <a:prstGeom prst="roundRect">
            <a:avLst>
              <a:gd name="adj" fmla="val 5926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cancelled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undone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440680"/>
            <a:ext cx="11018520" cy="731520"/>
          </a:xfrm>
          <a:prstGeom prst="roundRect">
            <a:avLst>
              <a:gd name="adj" fmla="val 125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hypothetical: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Round-1 FreshVoice engine classifies “Order cancel mat karo, bas address change karna hai” as cancellation_refund.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3474720" cy="42976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83080"/>
            <a:ext cx="822960" cy="82296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8882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now have write access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agents, tool calling and MCP let a bot cancel, refund or re-address an order directly. A misunderstanding used to produce a bad answer. Now it produces a bad transaction.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474720" cy="42976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1783080"/>
            <a:ext cx="822960" cy="82296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9888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Code-mixed voice is normal in India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 and Tanglish callers switch language inside a sentence. FreshVoice already handles the switching, and negation is the gap we measured in our own engine.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508760"/>
            <a:ext cx="3474720" cy="429768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21040" y="1783080"/>
            <a:ext cx="822960" cy="822960"/>
          </a:xfrm>
          <a:prstGeom prst="ellipse">
            <a:avLst/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98882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signals are finally cheap</a:t>
            </a:r>
            <a:endParaRPr lang="en-US" sz="19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356616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now returns word-level confidence (ElevenLabs Scribe), and fast LLMs (Gemini Flash) can check one action inside a live call. Checking every action is now affordable.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Competitive Landscape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051560" y="1554480"/>
            <a:ext cx="4206240" cy="4206240"/>
          </a:xfrm>
          <a:prstGeom prst="rect">
            <a:avLst/>
          </a:prstGeom>
          <a:solidFill>
            <a:srgbClr val="F7F9FB"/>
          </a:solidFill>
          <a:ln w="12700">
            <a:solidFill>
              <a:srgbClr val="B8C2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54680" y="1554480"/>
            <a:ext cx="2103120" cy="2103120"/>
          </a:xfrm>
          <a:prstGeom prst="rect">
            <a:avLst/>
          </a:prstGeom>
          <a:solidFill>
            <a:srgbClr val="E1F3EC"/>
          </a:solidFill>
          <a:ln w="12700">
            <a:solidFill>
              <a:srgbClr val="B8C2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3657600"/>
            <a:ext cx="4206240" cy="0"/>
          </a:xfrm>
          <a:prstGeom prst="line">
            <a:avLst/>
          </a:prstGeom>
          <a:noFill/>
          <a:ln w="12700">
            <a:solidFill>
              <a:srgbClr val="B8C2D0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154680" y="1554480"/>
            <a:ext cx="0" cy="4206240"/>
          </a:xfrm>
          <a:prstGeom prst="line">
            <a:avLst/>
          </a:prstGeom>
          <a:noFill/>
          <a:ln w="12700">
            <a:solidFill>
              <a:srgbClr val="B8C2D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051560" y="58338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code-mixed negation →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-1325880" y="3520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checks to action risk 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46581" y="5146243"/>
            <a:ext cx="219456" cy="219456"/>
          </a:xfrm>
          <a:prstGeom prst="ellipse">
            <a:avLst/>
          </a:prstGeom>
          <a:solidFill>
            <a:srgbClr val="5B6475"/>
          </a:solidFill>
          <a:ln w="12700">
            <a:solidFill>
              <a:srgbClr val="5B647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739189" y="5109667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530706" y="3421685"/>
            <a:ext cx="219456" cy="21945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3314" y="3385109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19579" y="2706624"/>
            <a:ext cx="219456" cy="21945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2187" y="267004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22699" y="4809744"/>
            <a:ext cx="219456" cy="219456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85339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 voice bots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61104" y="2072030"/>
            <a:ext cx="310896" cy="310896"/>
          </a:xfrm>
          <a:prstGeom prst="ellipse">
            <a:avLst/>
          </a:prstGeom>
          <a:solidFill>
            <a:srgbClr val="F4A300"/>
          </a:solidFill>
          <a:ln w="25400">
            <a:solidFill>
              <a:srgbClr val="1421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23744" y="208117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ActionGuard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14630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14630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06440" y="1828800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97880" y="182880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LLM guardrails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818120" y="1828800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 policy, toxicity and PII filters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0" y="1828800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tell that “mat” flips “cancel”, and ignores speech-to-text confidence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806440" y="2679192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97880" y="267919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Confirm-everything IVR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7818120" y="2679192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Safe: “press 1 to confirm”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92640" y="2679192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friction to every action, so callers drop off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806440" y="3529584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897880" y="35295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 voice-bot platforms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7818120" y="3529584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Indian-language speech recognition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692640" y="3529584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safety isn't their layer. Tool calls fire unchecked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806440" y="4379976"/>
            <a:ext cx="5897880" cy="758952"/>
          </a:xfrm>
          <a:prstGeom prst="roundRect">
            <a:avLst>
              <a:gd name="adj" fmla="val 7229"/>
            </a:avLst>
          </a:prstGeom>
          <a:solidFill>
            <a:srgbClr val="FFFFFF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897880" y="437997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nothing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4379976"/>
            <a:ext cx="17830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effort and zero latency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92640" y="4379976"/>
            <a:ext cx="201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refunds and cancellations, and customers lose trust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806440" y="5303520"/>
            <a:ext cx="5897880" cy="777240"/>
          </a:xfrm>
          <a:prstGeom prst="roundRect">
            <a:avLst>
              <a:gd name="adj" fmla="val 11765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5989320" y="530352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edge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plug-in between any AI agent and its APIs: mixed-language understanding, negation, a decision layer and SOP audit, with no rebuild of the agent.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Solution: a Plug-in Layer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company's AI agent calls our plug-in instead of calling its action APIs directly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3736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/ IVR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+ DTMF keypad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01752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&amp; web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chat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2263140"/>
            <a:ext cx="365760" cy="38862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2286000" y="3108960"/>
            <a:ext cx="365760" cy="43434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651760" y="1737360"/>
            <a:ext cx="1828800" cy="2331720"/>
          </a:xfrm>
          <a:prstGeom prst="roundRect">
            <a:avLst>
              <a:gd name="adj" fmla="val 4000"/>
            </a:avLst>
          </a:prstGeom>
          <a:solidFill>
            <a:srgbClr val="E4EDF6"/>
          </a:solidFill>
          <a:ln w="12700">
            <a:solidFill>
              <a:srgbClr val="E4EDF6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AI agent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Freddy AI Agent or any LLM agent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what to do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903220"/>
            <a:ext cx="365760" cy="914"/>
          </a:xfrm>
          <a:prstGeom prst="line">
            <a:avLst/>
          </a:prstGeom>
          <a:noFill/>
          <a:ln w="31750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46320" y="155448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14213D"/>
          </a:solidFill>
          <a:ln w="31750">
            <a:solidFill>
              <a:srgbClr val="F4A30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846320" y="16276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ActionGuard plug-in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29200" y="21031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74920" y="210312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language · intent · negation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0" y="210312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10312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 · transparent confirm · sentiment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0" y="32004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74920" y="320040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 · DTMF / IVR · interrupts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0" y="3200400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03720" y="3200400"/>
            <a:ext cx="1645920" cy="987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checks · stored transcripts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778240" y="2903220"/>
            <a:ext cx="365760" cy="914"/>
          </a:xfrm>
          <a:prstGeom prst="line">
            <a:avLst/>
          </a:prstGeom>
          <a:noFill/>
          <a:ln w="3175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8732520" y="2560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1737360"/>
            <a:ext cx="2560320" cy="2331720"/>
          </a:xfrm>
          <a:prstGeom prst="roundRect">
            <a:avLst>
              <a:gd name="adj" fmla="val 3137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action APIs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· refund · address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Freshdesk · orders · payments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852160" y="4297680"/>
            <a:ext cx="914" cy="41148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772400" y="4297680"/>
            <a:ext cx="914" cy="4114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46320" y="470916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 or low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→ handoff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470916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store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transcripts, decisions,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results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4709160"/>
            <a:ext cx="4023360" cy="1371600"/>
          </a:xfrm>
          <a:prstGeom prst="roundRect">
            <a:avLst>
              <a:gd name="adj" fmla="val 6667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40080" y="4709160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 three ways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server  ·  REST proxy / SDK  ·  Freshworks Marketplace app. The agent itself doesn't need to be rebuilt.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44000" y="470916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281160" y="470916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calls an irreversible API directly. Every action goes through the plug-in.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Plug-in Does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features in four groups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41732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languages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Hinglish, Tanglish and more, even when the caller switches mid-sentence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detection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what the caller wants and maps it to the right API tool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4846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handling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17550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mat, nahi, vendam, vaddu that flip the meaning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38328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1783080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25196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356616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356616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ALLOW, CONFIRM or BLOCK for every API action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356616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uncertainty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56616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caller what it's unsure of and confirms before acting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3566160" y="4846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→ human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566160" y="517550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distressed callers go straight to a person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621792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E4EDF6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783080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8660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640080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latency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offline checks; the LLM runs only when a case is unclear</a:t>
            </a:r>
            <a:endParaRPr lang="en-US" sz="1150" dirty="0"/>
          </a:p>
        </p:txBody>
      </p:sp>
      <p:sp>
        <p:nvSpPr>
          <p:cNvPr id="32" name="Text 27"/>
          <p:cNvSpPr txBox="1"/>
          <p:nvPr/>
        </p:nvSpPr>
        <p:spPr>
          <a:xfrm>
            <a:off x="640080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DTMF &amp; IVR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40080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“Press 1 to confirm” works on any phone line and IVR menu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0" y="48463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400800" y="517550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caller can cut in while the agent speaks, and the agent listens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9052560" y="1508760"/>
            <a:ext cx="2651760" cy="4663440"/>
          </a:xfrm>
          <a:prstGeom prst="roundRect">
            <a:avLst>
              <a:gd name="adj" fmla="val 3448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9235440" y="164592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0" y="1783080"/>
            <a:ext cx="274320" cy="27432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9921240" y="1645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9235440" y="2377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SOP-based auditing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9235440" y="270662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every call against the company's own SOP rules</a:t>
            </a:r>
            <a:endParaRPr lang="en-US" sz="1150" dirty="0"/>
          </a:p>
        </p:txBody>
      </p:sp>
      <p:sp>
        <p:nvSpPr>
          <p:cNvPr id="42" name="Text 36"/>
          <p:cNvSpPr txBox="1"/>
          <p:nvPr/>
        </p:nvSpPr>
        <p:spPr>
          <a:xfrm>
            <a:off x="9235440" y="36118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9235440" y="3941064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transcript, each decision and each API call</a:t>
            </a:r>
            <a:endParaRPr lang="en-US" sz="1150" dirty="0"/>
          </a:p>
        </p:txBody>
      </p:sp>
      <p:sp>
        <p:nvSpPr>
          <p:cNvPr id="44" name="Text 38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End to End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feature acts during a single call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58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Caller speaks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Phone, IVR or app. If the caller cuts in, the agent stops talking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68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34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4EDF6"/>
          </a:solidFill>
          <a:ln w="12700">
            <a:solidFill>
              <a:srgbClr val="E4EDF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44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Speech-to-text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transcript with a confidence score for each word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754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120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30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Language + intent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Tags each word's language and finds the intent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40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9EDF3"/>
          </a:solidFill>
          <a:ln w="12700">
            <a:solidFill>
              <a:srgbClr val="E9ED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16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Negation check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“mat” or “vendam” flip the action?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26880" y="228600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692640" y="169164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802368" y="16916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Sentiment check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or distressed? Hand to a human agent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652760" y="2880360"/>
            <a:ext cx="914" cy="685800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92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02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Decision layer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ALLOW, CONFIRM or BLOCK the API action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 flipH="1">
            <a:off x="9326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06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FFF4DA"/>
          </a:solidFill>
          <a:ln w="12700">
            <a:solidFill>
              <a:srgbClr val="FFF4D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516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Transparent confirm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it's unsure of. Answer by voice or keypad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 flipH="1">
            <a:off x="7040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120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5230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API tool call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company's API: cancel, refund, address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 flipH="1">
            <a:off x="4754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34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2944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SOP audit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call against the company's SOP rules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 flipH="1">
            <a:off x="2468880" y="4160520"/>
            <a:ext cx="365760" cy="914"/>
          </a:xfrm>
          <a:prstGeom prst="line">
            <a:avLst/>
          </a:prstGeom>
          <a:noFill/>
          <a:ln w="3175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48640" y="356616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1F3EC"/>
          </a:solidFill>
          <a:ln w="12700">
            <a:solidFill>
              <a:srgbClr val="E1F3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8368" y="356616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Transcript stored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Words, decisions and API calls kept for audit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E4EDF6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19456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E9EDF3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0604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84048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FFF4DA"/>
          </a:solidFill>
          <a:ln w="12700">
            <a:solidFill>
              <a:srgbClr val="7A500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25196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8640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1421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9788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132320" y="5257800"/>
            <a:ext cx="320040" cy="320040"/>
          </a:xfrm>
          <a:prstGeom prst="roundRect">
            <a:avLst>
              <a:gd name="adj" fmla="val 14286"/>
            </a:avLst>
          </a:prstGeom>
          <a:solidFill>
            <a:srgbClr val="E1F3EC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43800" y="5257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calls go 1 → 2 → 3 → 4 → 6 → 8 with no question asked. Steps 5 and 7 only kick in when needed.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Gate Decides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risky, uncertain branch adds friction for the caller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proposes an action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cancel_order(48211)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2331720"/>
            <a:ext cx="36576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2834640" y="1600200"/>
            <a:ext cx="228600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money?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120640" y="2331720"/>
            <a:ext cx="41148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5074920" y="20116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532120" y="1600200"/>
            <a:ext cx="228600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applies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action verb?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18120" y="2331720"/>
            <a:ext cx="41148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772400" y="20116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600200"/>
            <a:ext cx="2286000" cy="1463040"/>
          </a:xfrm>
          <a:prstGeom prst="diamond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 about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words that 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or no?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15600" y="2331720"/>
            <a:ext cx="320040" cy="914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0469880" y="20116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1874520"/>
            <a:ext cx="914400" cy="914400"/>
          </a:xfrm>
          <a:prstGeom prst="roundRect">
            <a:avLst>
              <a:gd name="adj" fmla="val 8000"/>
            </a:avLst>
          </a:prstGeom>
          <a:solidFill>
            <a:srgbClr val="1F8A63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77640" y="3063240"/>
            <a:ext cx="914" cy="6400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02336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37033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and log it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track order)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675120" y="3063240"/>
            <a:ext cx="914" cy="6400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72084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532120" y="37033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run it; switch 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update_address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372600" y="3063240"/>
            <a:ext cx="914" cy="64008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9418320" y="32004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703320"/>
            <a:ext cx="2286000" cy="1005840"/>
          </a:xfrm>
          <a:prstGeom prst="roundRect">
            <a:avLst>
              <a:gd name="adj" fmla="val 7273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what's uncertain,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or keypad reply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 flipH="1">
            <a:off x="8503920" y="4709160"/>
            <a:ext cx="457200" cy="45720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784080" y="4709160"/>
            <a:ext cx="548640" cy="457200"/>
          </a:xfrm>
          <a:prstGeom prst="line">
            <a:avLst/>
          </a:prstGeom>
          <a:noFill/>
          <a:ln w="2540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635240" y="516636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“Haan” / press 1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run it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9509760" y="516636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“Nahi” / press 2 / silence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human 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Freshdesk note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983480"/>
            <a:ext cx="4663440" cy="1097280"/>
          </a:xfrm>
          <a:prstGeom prst="roundRect">
            <a:avLst>
              <a:gd name="adj" fmla="val 8333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85800" y="498348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Read-back example (Hindi)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“Aap order cancel karna chahte hain, ya sirf address change? Haan ya nahi?”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Confirming Before Acting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says what it's unsure of. The caller answers by voice or keypad, and can interrupt at any time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760720" cy="4572000"/>
          </a:xfrm>
          <a:prstGeom prst="roundRect">
            <a:avLst>
              <a:gd name="adj" fmla="val 2000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240280" y="17373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240280" y="1984248"/>
            <a:ext cx="3840480" cy="548640"/>
          </a:xfrm>
          <a:prstGeom prst="roundRect">
            <a:avLst>
              <a:gd name="adj" fmla="val 20000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“Refund vendam, replacement anuppunga.”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700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· spoken in Tamil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16936"/>
            <a:ext cx="4572000" cy="1188720"/>
          </a:xfrm>
          <a:prstGeom prst="roundRect">
            <a:avLst>
              <a:gd name="adj" fmla="val 9231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don't want a refund, you want a replacement for order 48211. I'm not fully sure I heard ‘vendam’ on this line. Say ‘aamaa’ or press 1 to confirm. Press 2 to talk to a person.”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424281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· keypad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4489704"/>
            <a:ext cx="3840480" cy="548640"/>
          </a:xfrm>
          <a:prstGeom prst="roundRect">
            <a:avLst>
              <a:gd name="adj" fmla="val 20000"/>
            </a:avLst>
          </a:prstGeom>
          <a:solidFill>
            <a:srgbClr val="FFF4DA"/>
          </a:solidFill>
          <a:ln w="12700">
            <a:solidFill>
              <a:srgbClr val="FFF4DA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presses 1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17550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422392"/>
            <a:ext cx="3840480" cy="548640"/>
          </a:xfrm>
          <a:prstGeom prst="roundRect">
            <a:avLst>
              <a:gd name="adj" fmla="val 20000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“Replacement booked. Reference R-2291.”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629400" y="1554480"/>
            <a:ext cx="502920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0" y="1755648"/>
            <a:ext cx="292608" cy="29260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69480" y="1691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Transparent uncertainty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14884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exact word or detail it isn't sure of, and how sure it is. No silent guessing on actions that can't be undone.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29400" y="3127248"/>
            <a:ext cx="502920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3328416"/>
            <a:ext cx="292608" cy="292608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326440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DTMF &amp; IVR fallback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372160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keypad works when speech is noisy. It plugs into the company's existing IVR menus: press 1 to confirm, 2 for a person.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29400" y="4700016"/>
            <a:ext cx="502920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58000" y="4901184"/>
            <a:ext cx="292608" cy="292608"/>
          </a:xfrm>
          <a:prstGeom prst="ellipse">
            <a:avLst/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69480" y="48371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 handling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294376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caller cuts in while the agent is talking, the agent stops speaking and treats the new words as the answer.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Calls Traced Through the Gate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CALL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1965960"/>
            <a:ext cx="754380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1965960"/>
            <a:ext cx="7543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50492" y="1965960"/>
            <a:ext cx="85039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50492" y="1965960"/>
            <a:ext cx="850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74036" y="1965960"/>
            <a:ext cx="685800" cy="603504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5875">
            <a:solidFill>
              <a:srgbClr val="C828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574036" y="196596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32988" y="1965960"/>
            <a:ext cx="754380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2988" y="1965960"/>
            <a:ext cx="7543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karo,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60520" y="1965960"/>
            <a:ext cx="685800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520" y="1965960"/>
            <a:ext cx="685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2679192"/>
            <a:ext cx="946404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2679192"/>
            <a:ext cx="9464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42516" y="2679192"/>
            <a:ext cx="85039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42516" y="2679192"/>
            <a:ext cx="850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66060" y="2679192"/>
            <a:ext cx="1138428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66060" y="2679192"/>
            <a:ext cx="11384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 hai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34290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“mat” applies to “cancel karo”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1422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action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331720" y="41422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cancel_order: irreversible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46120" y="4828032"/>
            <a:ext cx="914" cy="219456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822960" y="50749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cancel_order → run update_address instead (reversible → ALLOW)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5379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 CALL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37960" y="1965960"/>
            <a:ext cx="85039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37960" y="1965960"/>
            <a:ext cx="850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461504" y="1965960"/>
            <a:ext cx="946404" cy="603504"/>
          </a:xfrm>
          <a:prstGeom prst="roundRect">
            <a:avLst>
              <a:gd name="adj" fmla="val 9091"/>
            </a:avLst>
          </a:prstGeom>
          <a:solidFill>
            <a:srgbClr val="FBE4E7"/>
          </a:solidFill>
          <a:ln w="15875">
            <a:solidFill>
              <a:srgbClr val="C8283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61504" y="1965960"/>
            <a:ext cx="9464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vendam,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481060" y="1965960"/>
            <a:ext cx="1330452" cy="603504"/>
          </a:xfrm>
          <a:prstGeom prst="roundRect">
            <a:avLst>
              <a:gd name="adj" fmla="val 9091"/>
            </a:avLst>
          </a:prstGeom>
          <a:solidFill>
            <a:srgbClr val="E4EDF6"/>
          </a:solidFill>
          <a:ln w="15875">
            <a:solidFill>
              <a:srgbClr val="E4ED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81060" y="1965960"/>
            <a:ext cx="13304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A5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884664" y="1965960"/>
            <a:ext cx="1138428" cy="603504"/>
          </a:xfrm>
          <a:prstGeom prst="roundRect">
            <a:avLst>
              <a:gd name="adj" fmla="val 9091"/>
            </a:avLst>
          </a:prstGeom>
          <a:solidFill>
            <a:srgbClr val="E9EDF3"/>
          </a:solidFill>
          <a:ln w="15875">
            <a:solidFill>
              <a:srgbClr val="E9ED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884664" y="1965960"/>
            <a:ext cx="113842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anuppunga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37960" y="3429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046720" y="34290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“vendam” applies to “refund”. Speech-to-text confidence on it is only 0.58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41422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action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046720" y="414223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issue_refund: moves money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8961120" y="4828032"/>
            <a:ext cx="914" cy="219456"/>
          </a:xfrm>
          <a:prstGeom prst="line">
            <a:avLst/>
          </a:prstGeom>
          <a:noFill/>
          <a:ln w="25400">
            <a:solidFill>
              <a:srgbClr val="F4A30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37960" y="507492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FF4DA"/>
          </a:solidFill>
          <a:ln w="12700">
            <a:solidFill>
              <a:srgbClr val="F4A300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6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issue_refund. CONFIRM the replacement: “Replacement anuppalaamaa?”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Latency by Design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time budget from the caller's last word to the agent's reply (proposed targets, in ms)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694944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685800" y="1645920"/>
          <a:ext cx="667512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863840" y="1554480"/>
            <a:ext cx="37947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166420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~480 ms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path: most calls, no LLM step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863840" y="3127248"/>
            <a:ext cx="37947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092440" y="3236976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800 ms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931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case, with the LLM fallback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7863840" y="4700016"/>
            <a:ext cx="3794760" cy="1389888"/>
          </a:xfrm>
          <a:prstGeom prst="roundRect">
            <a:avLst>
              <a:gd name="adj" fmla="val 657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92440" y="4809744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5 ms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5504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tagging + intent runs in-process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SOP Auditing &amp; Full Audit Trail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is checked against the company's SOP, and the complete record is stored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002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word, both sides, timestamps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988820"/>
            <a:ext cx="594360" cy="4572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514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verdict, confidence, reason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flipV="1">
            <a:off x="3291840" y="2446020"/>
            <a:ext cx="594360" cy="4572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548640" y="34290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9EDF3"/>
          </a:solidFill>
          <a:ln w="12700">
            <a:solidFill>
              <a:srgbClr val="E9EDF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4290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and response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V="1">
            <a:off x="3291840" y="2446020"/>
            <a:ext cx="594360" cy="1371600"/>
          </a:xfrm>
          <a:prstGeom prst="line">
            <a:avLst/>
          </a:prstGeom>
          <a:noFill/>
          <a:ln w="19050">
            <a:solidFill>
              <a:srgbClr val="5B6475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886200" y="1828800"/>
            <a:ext cx="2377440" cy="1234440"/>
          </a:xfrm>
          <a:prstGeom prst="roundRect">
            <a:avLst>
              <a:gd name="adj" fmla="val 5926"/>
            </a:avLst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rule checker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after every call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V="1">
            <a:off x="6263640" y="1874520"/>
            <a:ext cx="502920" cy="365760"/>
          </a:xfrm>
          <a:prstGeom prst="line">
            <a:avLst/>
          </a:prstGeom>
          <a:noFill/>
          <a:ln w="25400">
            <a:solidFill>
              <a:srgbClr val="1F8A6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263640" y="2651760"/>
            <a:ext cx="502920" cy="365760"/>
          </a:xfrm>
          <a:prstGeom prst="line">
            <a:avLst/>
          </a:prstGeom>
          <a:noFill/>
          <a:ln w="25400">
            <a:solidFill>
              <a:srgbClr val="C8283C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766560" y="1463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1F3EC"/>
          </a:solidFill>
          <a:ln w="12700">
            <a:solidFill>
              <a:srgbClr val="1F8A63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on the ticket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2606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BE4E7"/>
          </a:solidFill>
          <a:ln w="12700">
            <a:solidFill>
              <a:srgbClr val="C8283C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828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a supervisor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464040" y="1463040"/>
            <a:ext cx="2194560" cy="1965960"/>
          </a:xfrm>
          <a:prstGeom prst="roundRect">
            <a:avLst>
              <a:gd name="adj" fmla="val 4651"/>
            </a:avLst>
          </a:prstGeom>
          <a:solidFill>
            <a:srgbClr val="FFF4DA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0" y="1554480"/>
            <a:ext cx="1965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5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for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&amp; chargebacks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&amp; compliance review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5715000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724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SOP RULES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back the order ID before any cancellation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above ₹5,000 need an OTP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a replacement before a refund for damaged items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 → human agent within 2 turns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7960" y="452628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720840" y="45262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A3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C-7781 · order 48211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said:     “Refund vendam, replacement anuppunga”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verdict:  BLOCK issue_refund · CONFIRM replacement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unsure:   “vendam” 0.58 → caller pressed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SOP:      read-back ✓   OTP n/a   handoff n/a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Scope: MVP vs Later Phases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3611880" cy="731520"/>
          </a:xfrm>
          <a:prstGeom prst="chevron">
            <a:avLst/>
          </a:prstGeom>
          <a:solidFill>
            <a:srgbClr val="14213D"/>
          </a:solidFill>
          <a:ln>
            <a:solidFill>
              <a:srgbClr val="1421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MVP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0–3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as MCP tool + REST proxy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Tamil + English: intent + negation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layer + transparent confirm (voice + DTMF)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transcript audit store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1417320"/>
            <a:ext cx="3611880" cy="731520"/>
          </a:xfrm>
          <a:prstGeom prst="chevron">
            <a:avLst/>
          </a:prstGeom>
          <a:solidFill>
            <a:srgbClr val="E9EDF3"/>
          </a:solidFill>
          <a:ln>
            <a:solidFill>
              <a:srgbClr val="E9ED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Sentiment-based handoff to human agents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 handling tuned for phone lines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rule editor + audit reports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Telugu, Kannada, Bengali, Marathi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1417320"/>
            <a:ext cx="3611880" cy="731520"/>
          </a:xfrm>
          <a:prstGeom prst="chevron">
            <a:avLst/>
          </a:prstGeom>
          <a:solidFill>
            <a:srgbClr val="E9EDF3"/>
          </a:solidFill>
          <a:ln>
            <a:solidFill>
              <a:srgbClr val="E9ED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94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7–12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Freshworks Marketplace app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WhatsApp channels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+ learning from human overrides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5262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4686300"/>
            <a:ext cx="320040" cy="3200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554480" y="4526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&amp; agentic design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89204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company's agent plans the tool calls. ActionGuard is a second, independent agent that checks each one. Fast rule-based checks for each language run first; an LLM is used only for unclear cases, and rules alone still work offline.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17920" y="4343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446520" y="4526280"/>
            <a:ext cx="640080" cy="64008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4686300"/>
            <a:ext cx="320040" cy="32004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7223760" y="4526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 (Round 1)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7223760" y="489204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Code-mix tagging engine, intent scoring, MCP server, Freshdesk ticket API, and a live demo on Vercel. ActionGuard adds the checks and the gate on top.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Customers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6751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783080"/>
            <a:ext cx="914400" cy="9144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11680" y="17373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20116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D2C, e-commerce &amp; fintech brands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2011680" y="2468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brands with 20 to 500 support seats, on Freshdesk and Freshcaller, starting to let AI agents cancel, refund and re-address orders for Hindi- and Tamil-speaking callers.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66751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22960" y="4114800"/>
            <a:ext cx="914400" cy="914400"/>
          </a:xfrm>
          <a:prstGeom prst="ellipse">
            <a:avLst/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3434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11680" y="4069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01168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BPOs and support outsourcers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2011680" y="480060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Freshworks for several Indian brands, and one wrong refund costs them a client. They want one policy layer across all their accounts.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1463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Actions guarded in the MVP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680960" y="2011680"/>
            <a:ext cx="731520" cy="73152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219456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595360" y="20116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order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595360" y="23591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undone once the order leaves the warehouse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680960" y="3291840"/>
            <a:ext cx="731520" cy="731520"/>
          </a:xfrm>
          <a:prstGeom prst="ellipse">
            <a:avLst/>
          </a:prstGeom>
          <a:solidFill>
            <a:srgbClr val="C8283C"/>
          </a:solidFill>
          <a:ln w="12700">
            <a:solidFill>
              <a:srgbClr val="C8283C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347472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595360" y="3291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refund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363931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money, and reversing it is costly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680960" y="4572000"/>
            <a:ext cx="731520" cy="731520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754880"/>
            <a:ext cx="365760" cy="36576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595360" y="45720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address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8595360" y="491947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Reversible, but a wrong one means a failed delivery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Proposition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109960" cy="1143000"/>
          </a:xfrm>
          <a:prstGeom prst="roundRect">
            <a:avLst>
              <a:gd name="adj" fmla="val 8000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41732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 it in once, and your AI agent can act for mixed-language callers: it gets the intent right, confirms when unsure, hands angry callers to a person and audits every action.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FBE4E7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1752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29992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ActionGuard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611880"/>
            <a:ext cx="493776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acts on its first guess at the intent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dropped “mat” leads to a cancelled order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callers stay stuck talking to a bot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transcript or SOP check to prove what happened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17920" y="2834640"/>
            <a:ext cx="5440680" cy="3291840"/>
          </a:xfrm>
          <a:prstGeom prst="roundRect">
            <a:avLst>
              <a:gd name="adj" fmla="val 2778"/>
            </a:avLst>
          </a:prstGeom>
          <a:solidFill>
            <a:srgbClr val="E1F3EC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01752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040880" y="299923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ActionGuard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492240" y="3611880"/>
            <a:ext cx="4937760" cy="2377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mixed-language callers and runs the right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negation and confidence before any irreversible call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what it's unsure of; caller confirms by voice or keypad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Angry callers reach a person; every call is SOP-audited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 &amp; Packaging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0424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Proposed. We only charge for the actions we actually guard.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3291840" cy="4023360"/>
          </a:xfrm>
          <a:prstGeom prst="roundRect">
            <a:avLst>
              <a:gd name="adj" fmla="val 277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Freddy AI Agent customer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657600"/>
            <a:ext cx="278892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mode: flags risky actions, never blocks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wrong-action report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80560" y="1554480"/>
            <a:ext cx="3291840" cy="4434840"/>
          </a:xfrm>
          <a:prstGeom prst="roundRect">
            <a:avLst>
              <a:gd name="adj" fmla="val 2778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75488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ActionGuard Add-on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21945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971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1,000 guarded actions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429000"/>
            <a:ext cx="2788920" cy="2423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plug-in: decision layer, DTMF confirm, interrupts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handoff + SOP audit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MVP languages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days free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291840" cy="4023360"/>
          </a:xfrm>
          <a:prstGeom prst="roundRect">
            <a:avLst>
              <a:gd name="adj" fmla="val 2778"/>
            </a:avLst>
          </a:prstGeom>
          <a:solidFill>
            <a:srgbClr val="E9EDF3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</a:t>
            </a:r>
            <a:endParaRPr lang="en-US" sz="44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contract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657600"/>
            <a:ext cx="278892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SOP rule packs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retention + data residency in India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Go-to-Market Plan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097280" y="2148840"/>
            <a:ext cx="10012680" cy="0"/>
          </a:xfrm>
          <a:prstGeom prst="line">
            <a:avLst/>
          </a:prstGeom>
          <a:noFill/>
          <a:ln w="38100">
            <a:solidFill>
              <a:srgbClr val="B8C2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14213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partners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Indian D2C brands already on Freshdesk + Freshcaller run a free pilot in monitor mode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0" y="1828800"/>
            <a:ext cx="640080" cy="640080"/>
          </a:xfrm>
          <a:prstGeom prst="ellipse">
            <a:avLst/>
          </a:prstGeom>
          <a:solidFill>
            <a:srgbClr val="14213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8328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61188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61188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wrong-action numbers from the pilot, plus a 60-second Hinglish + Tanglish demo video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92240" y="1828800"/>
            <a:ext cx="640080" cy="640080"/>
          </a:xfrm>
          <a:prstGeom prst="ellipse">
            <a:avLst/>
          </a:prstGeom>
          <a:solidFill>
            <a:srgbClr val="F4A30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4652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Freshworks Marketplace listing, in-app banner for Freddy AI Agent voice admins, and email with a 30-day trial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326880" y="1828800"/>
            <a:ext cx="640080" cy="640080"/>
          </a:xfrm>
          <a:prstGeom prst="ellipse">
            <a:avLst/>
          </a:prstGeom>
          <a:solidFill>
            <a:srgbClr val="14213D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1463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Q3+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052560" y="274320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8116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9281160" y="338328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alongside Freddy AI Agent deals in India and SEA, with a BPO partner program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monitor mode shows each customer their own wrong-action count, and that report is what sells the paid add-on.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&amp; Resources Needed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63449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8132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engineers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core, voice / IVR, Freshworks app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59461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44144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linguist / data annotator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7706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Tamil negation set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338328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55473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340156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Part-time PM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37307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+ pricing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48640" y="4617720"/>
            <a:ext cx="4114800" cy="1508760"/>
          </a:xfrm>
          <a:prstGeom prst="roundRect">
            <a:avLst>
              <a:gd name="adj" fmla="val 6061"/>
            </a:avLst>
          </a:prstGeom>
          <a:solidFill>
            <a:srgbClr val="14213D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77240" y="4663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~$90K</a:t>
            </a:r>
            <a:endParaRPr lang="en-US" sz="40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49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MVP in 3 months: salaries, speech-to-text and LLM usage, and labelling ~5,000 negation utterances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212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timeline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7589520" y="1920240"/>
            <a:ext cx="134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930640" y="1920240"/>
            <a:ext cx="134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10271760" y="1920240"/>
            <a:ext cx="134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212080" y="2203704"/>
            <a:ext cx="6400800" cy="47548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5303520" y="22402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 dataset + lexicon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7589520" y="2304288"/>
            <a:ext cx="1609344" cy="274320"/>
          </a:xfrm>
          <a:prstGeom prst="roundRect">
            <a:avLst>
              <a:gd name="adj" fmla="val 26667"/>
            </a:avLst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212080" y="2660904"/>
            <a:ext cx="6400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303520" y="26974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Plug-in core + decision layer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260080" y="2761488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212080" y="3118104"/>
            <a:ext cx="6400800" cy="47548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303520" y="31546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Voice: DTMF, interrupts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8930640" y="3218688"/>
            <a:ext cx="1609344" cy="274320"/>
          </a:xfrm>
          <a:prstGeom prst="roundRect">
            <a:avLst>
              <a:gd name="adj" fmla="val 26667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5212080" y="3575304"/>
            <a:ext cx="6400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5303520" y="36118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Sentiment, SOP audit, store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9332976" y="3675888"/>
            <a:ext cx="2011680" cy="274320"/>
          </a:xfrm>
          <a:prstGeom prst="roundRect">
            <a:avLst>
              <a:gd name="adj" fmla="val 26667"/>
            </a:avLst>
          </a:prstGeom>
          <a:solidFill>
            <a:srgbClr val="2A5C8A"/>
          </a:solidFill>
          <a:ln w="12700">
            <a:solidFill>
              <a:srgbClr val="2A5C8A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212080" y="4032504"/>
            <a:ext cx="6400800" cy="47548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0" y="4069080"/>
            <a:ext cx="2240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Design-partner pilot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10271760" y="4133088"/>
            <a:ext cx="1341120" cy="274320"/>
          </a:xfrm>
          <a:prstGeom prst="roundRect">
            <a:avLst>
              <a:gd name="adj" fmla="val 26667"/>
            </a:avLst>
          </a:prstGeom>
          <a:solidFill>
            <a:srgbClr val="1F8A63"/>
          </a:solidFill>
          <a:ln w="12700">
            <a:solidFill>
              <a:srgbClr val="1F8A63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5212080" y="4617720"/>
            <a:ext cx="6400800" cy="1508760"/>
          </a:xfrm>
          <a:prstGeom prst="roundRect">
            <a:avLst>
              <a:gd name="adj" fmla="val 6061"/>
            </a:avLst>
          </a:prstGeom>
          <a:solidFill>
            <a:srgbClr val="F4F6F9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Text 35"/>
          <p:cNvSpPr txBox="1"/>
          <p:nvPr/>
        </p:nvSpPr>
        <p:spPr>
          <a:xfrm>
            <a:off x="5440680" y="4663440"/>
            <a:ext cx="5943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ARR estimate (assumption-based)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paying customers × 20,000 guarded actions / month × $5 per 1,000 = $10K MRR, or about </a:t>
            </a:r>
            <a:pPr indent="0" marL="0">
              <a:buNone/>
            </a:pPr>
            <a:r>
              <a:rPr lang="en-US" sz="1300" b="1" dirty="0">
                <a:solidFill>
                  <a:srgbClr val="1F8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 ARR in Year 1</a:t>
            </a:r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Every number here is an assumption to test in the pilot.</a:t>
            </a:r>
            <a:endParaRPr lang="en-US" sz="1300" dirty="0"/>
          </a:p>
        </p:txBody>
      </p:sp>
      <p:sp>
        <p:nvSpPr>
          <p:cNvPr id="41" name="Text 3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Benefits &amp; Success Metrics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2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0.5%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actions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irreversible API calls on negated Hindi + Tamil requests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794760" y="1463040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977640" y="1554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150 ms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97764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latency (p95)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2377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plug-in adds on top of the agent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35808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15%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rate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50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guarded actions that ask a question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794760" y="3035808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977640" y="31272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397764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coverage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77640" y="39502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actions stored with transcript + SOP result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4608576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8A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−30%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248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Reversal tickets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522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/ cancellation reversals at pilot customers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794760" y="4608576"/>
            <a:ext cx="3063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3977640" y="47000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5C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3977640" y="5248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55229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eligible voice customers within 2 quarters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269480" y="1463040"/>
            <a:ext cx="4389120" cy="457200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30" name="Chart 0" descr=""/>
          <p:cNvGraphicFramePr/>
          <p:nvPr/>
        </p:nvGraphicFramePr>
        <p:xfrm>
          <a:off x="7406640" y="1554480"/>
          <a:ext cx="41148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F4A300"/>
          </a:solidFill>
          <a:ln w="12700">
            <a:solidFill>
              <a:srgbClr val="F4A3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384048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Assumptions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2103120" cy="2103120"/>
          </a:xfrm>
          <a:prstGeom prst="rect">
            <a:avLst/>
          </a:prstGeom>
          <a:solidFill>
            <a:srgbClr val="FFF4D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0" y="1508760"/>
            <a:ext cx="2103120" cy="2103120"/>
          </a:xfrm>
          <a:prstGeom prst="rect">
            <a:avLst/>
          </a:prstGeom>
          <a:solidFill>
            <a:srgbClr val="FBE4E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611880"/>
            <a:ext cx="2103120" cy="2103120"/>
          </a:xfrm>
          <a:prstGeom prst="rect">
            <a:avLst/>
          </a:prstGeom>
          <a:solidFill>
            <a:srgbClr val="E1F3E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3611880"/>
            <a:ext cx="2103120" cy="2103120"/>
          </a:xfrm>
          <a:prstGeom prst="rect">
            <a:avLst/>
          </a:prstGeom>
          <a:solidFill>
            <a:srgbClr val="FFF4D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760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→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 rot="16200000">
            <a:off x="-1463040" y="3474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29507" y="2075688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29507" y="20756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156509" y="3968496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56509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10512" y="249631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10512" y="24963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020824" y="4178808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020824" y="4178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577840" y="1463040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806440" y="1554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Speech-to-text drops the negation completely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192024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for irreversible actions, low confidence on a short word, or a missing word where one is expected, sends the call to CONFIRM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577840" y="2633472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806440" y="27249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The plug-in adds latency or friction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806440" y="3090672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fast offline path (&lt; 5 ms), LLM only when unclear, and questions only for risky actions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577840" y="3803904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806440" y="389534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Dialects and spellings (vendaam, venaam, matt)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806440" y="426110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lexicon plus LLM fallback, and every human override is added to the training set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577840" y="4974336"/>
            <a:ext cx="608076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5806440" y="50657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Assumption: callers accept a read-back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806440" y="543153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their own language. We validate with pilot CSAT, and an English read-back is the fallback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FreshVoice ActionGuard · The Great Agent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1488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“Don't cancel” should mean don't cancel.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plug-in between your AI agent and your APIs. It understands mixed-language callers, confirms when unsure, and audits every action.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31520" y="425196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4709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Freshworks sandbox with Freddy AI Agent + Freshcaller for a 3-brand pilot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217920" y="425196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F3057"/>
          </a:solidFill>
          <a:ln w="12700">
            <a:solidFill>
              <a:srgbClr val="1F305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47091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codemix-skill.vercel.app: the Round-1 engine that ActionGuard builds on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Ramanathan &amp; Sadhana  ·  Thank you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FreshVoice ActionGuard — Business Case</dc:title>
  <dc:subject>PptxGenJS Presentation</dc:subject>
  <dc:creator>Team Ramanathan &amp; Sadhana</dc:creator>
  <cp:lastModifiedBy>Team Ramanathan &amp; Sadhana</cp:lastModifiedBy>
  <cp:revision>1</cp:revision>
  <dcterms:created xsi:type="dcterms:W3CDTF">2026-09-25T18:24:09Z</dcterms:created>
  <dcterms:modified xsi:type="dcterms:W3CDTF">2026-09-25T18:24:09Z</dcterms:modified>
</cp:coreProperties>
</file>