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4213D"/>
                </a:solidFill>
                <a:latin typeface="Calibri"/>
              </a:rPr>
              <a:t>Target mix of guarded actions (%)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Target decision 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8A63"/>
              </a:solidFill>
              <a:effectLst/>
            </c:spPr>
          </c:dPt>
          <c:dPt>
            <c:idx val="1"/>
            <c:bubble3D val="0"/>
            <c:spPr>
              <a:solidFill>
                <a:srgbClr val="F4A300"/>
              </a:solidFill>
              <a:effectLst/>
            </c:spPr>
          </c:dPt>
          <c:dPt>
            <c:idx val="2"/>
            <c:bubble3D val="0"/>
            <c:spPr>
              <a:solidFill>
                <a:srgbClr val="C8283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ALLOW</c:v>
                </c:pt>
                <c:pt idx="1">
                  <c:v>CONFIRM</c:v>
                </c:pt>
                <c:pt idx="2">
                  <c:v>BLOCK / re-route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80</c:v>
                </c:pt>
                <c:pt idx="1">
                  <c:v>15</c:v>
                </c:pt>
                <c:pt idx="2">
                  <c:v>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93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sentence. It means 'don't cancel the order, just change the address'. Today an AI agent can hear 'cancel' and do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Name, owner, and the core idea: every irreversible tool call passes through a gate with three outcomes.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 has it: every brand putting an AI agent with write-access in front of Indian callers. Why it hurts: the mistake is a transaction, not a bad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Path B is reproducible today: run analyseOffline() on the Hindi sentence in codemix.js and it returns cancellation_refund. The Tamil sentence comes back as damaged_item, which also ignores 'vendam'.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Steps 1-2 already exist in FreshVoice Round 1. Steps 3-6 are new. Highlighted lexicon chips (Hindi, Tamil) are MVP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checks, in order: how risky the action is, whether the caller negated it, and how confident we are in the transcript. Only the last branch adds a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Chip colors: blue = English, grey = Hindi or Tamil, red = negation. The Tamil example shows the confidence branch: the word is probably 'vendam', but it's too low-confidence to issue money without asking.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irreversible or money-moving tool calls count as guarded actions, so the price tracks the risk removed. The free monitor mode is the upsell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metric is measurable today, because our Round-1 engine gives us a baseline on the negation set. The decision mix is a design target, not a measurement.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GREAT AGENT HACKATHON 2026  ·  ROUND 2 BUSINESS CASE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FreshVoice ActionGuard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377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negation-aware safety gate for AI agents that take real actions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3429000"/>
            <a:ext cx="384048" cy="384048"/>
          </a:xfrm>
          <a:prstGeom prst="ellipse">
            <a:avLst/>
          </a:prstGeom>
          <a:solidFill>
            <a:srgbClr val="1F8A63"/>
          </a:solidFill>
          <a:ln w="12700">
            <a:solidFill>
              <a:srgbClr val="1F8A6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07008" y="34290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834640" y="3429000"/>
            <a:ext cx="384048" cy="38404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10128" y="34290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937760" y="3429000"/>
            <a:ext cx="384048" cy="384048"/>
          </a:xfrm>
          <a:prstGeom prst="ellipse">
            <a:avLst/>
          </a:prstGeom>
          <a:solidFill>
            <a:srgbClr val="C8283C"/>
          </a:solidFill>
          <a:ln w="12700">
            <a:solidFill>
              <a:srgbClr val="C828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13248" y="34290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343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“Order cancel </a:t>
            </a:r>
            <a:pPr indent="0" marL="0">
              <a:buNone/>
            </a:pPr>
            <a:r>
              <a:rPr lang="en-US" sz="2200" b="1" i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</a:t>
            </a:r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karo, bas address change karna hai.”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800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small word. One irreversible action. We check it before the agent acts.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Ramanathan &amp; Sadhana  ·  Track 1: Customer &amp; Employee Experience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84048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Initiative Overview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1206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5727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84708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FreshVoice ActionGuard: a safety gate that sits between an AI support agent and its irreversible tools.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51206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77240" y="3035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31012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Ramanathan &amp; Sadhana, builders of FreshVoice (Round 1)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389120"/>
            <a:ext cx="51206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77240" y="449884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77316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FreshVoice code-mix engine + MCP server, live at codemix-skill.vercel.app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14630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205740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E9EDF3"/>
          </a:solidFill>
          <a:ln w="12700">
            <a:solidFill>
              <a:srgbClr val="E9EDF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wants to call a tool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cancel_order(48211)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412480" y="2514600"/>
            <a:ext cx="502920" cy="914"/>
          </a:xfrm>
          <a:prstGeom prst="line">
            <a:avLst/>
          </a:prstGeom>
          <a:noFill/>
          <a:ln w="2540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8915400" y="192024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14213D"/>
          </a:solidFill>
          <a:ln w="12700">
            <a:solidFill>
              <a:srgbClr val="14213D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ActionGuard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negation, confidence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action risk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 flipH="1">
            <a:off x="7132320" y="3108960"/>
            <a:ext cx="3108960" cy="777240"/>
          </a:xfrm>
          <a:prstGeom prst="line">
            <a:avLst/>
          </a:prstGeom>
          <a:noFill/>
          <a:ln w="19050">
            <a:solidFill>
              <a:srgbClr val="B8C2D0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6309360" y="3931920"/>
            <a:ext cx="1645920" cy="1188720"/>
          </a:xfrm>
          <a:prstGeom prst="roundRect">
            <a:avLst>
              <a:gd name="adj" fmla="val 6154"/>
            </a:avLst>
          </a:prstGeom>
          <a:solidFill>
            <a:srgbClr val="E1F3EC"/>
          </a:solidFill>
          <a:ln w="12700">
            <a:solidFill>
              <a:srgbClr val="1F8A6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3977640"/>
            <a:ext cx="155448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and log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 flipH="1">
            <a:off x="8961120" y="3108960"/>
            <a:ext cx="1280160" cy="777240"/>
          </a:xfrm>
          <a:prstGeom prst="line">
            <a:avLst/>
          </a:prstGeom>
          <a:noFill/>
          <a:ln w="19050">
            <a:solidFill>
              <a:srgbClr val="B8C2D0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8138160" y="3931920"/>
            <a:ext cx="1645920" cy="1188720"/>
          </a:xfrm>
          <a:prstGeom prst="roundRect">
            <a:avLst>
              <a:gd name="adj" fmla="val 6154"/>
            </a:avLst>
          </a:prstGeom>
          <a:solidFill>
            <a:srgbClr val="FFF4DA"/>
          </a:solidFill>
          <a:ln w="12700">
            <a:solidFill>
              <a:srgbClr val="F4A300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183880" y="3977640"/>
            <a:ext cx="155448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back in caller's language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0241280" y="3108960"/>
            <a:ext cx="548640" cy="777240"/>
          </a:xfrm>
          <a:prstGeom prst="line">
            <a:avLst/>
          </a:prstGeom>
          <a:noFill/>
          <a:ln w="19050">
            <a:solidFill>
              <a:srgbClr val="B8C2D0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9966960" y="3931920"/>
            <a:ext cx="1645920" cy="1188720"/>
          </a:xfrm>
          <a:prstGeom prst="roundRect">
            <a:avLst>
              <a:gd name="adj" fmla="val 6154"/>
            </a:avLst>
          </a:prstGeom>
          <a:solidFill>
            <a:srgbClr val="FBE4E7"/>
          </a:solidFill>
          <a:ln w="12700">
            <a:solidFill>
              <a:srgbClr val="C8283C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012680" y="3977640"/>
            <a:ext cx="155448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and re-route / hand off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309360" y="534924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actions go straight through. We only ask a question when the action is irreversible and we aren't sure.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FreshVoice ActionGuard · The Great Agent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84048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04241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support agents now do things, and code-mixed speech is where they will get it wrong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5212080" cy="420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support agents no longer just answer questions. They cancel orders, issue refunds and change addresses on their own.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callers mix languages mid-sentence, and the meaning often hangs on one small negation word: mat, nahi, vendam, vaddu.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phone audio, that short word is exactly what speech-to-text mishears or drops.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then takes the opposite action. It can't be undone, and it costs refunds, reshipping and customer trust.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4406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46520" y="16916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NEGATION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961120" y="169164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order cancelled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1965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cancel </a:t>
            </a:r>
            <a:pPr indent="0" marL="0">
              <a:buNone/>
            </a:pPr>
            <a:r>
              <a:rPr lang="en-US" sz="1700" b="1" i="1" u="sng" dirty="0">
                <a:solidFill>
                  <a:srgbClr val="C8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</a:t>
            </a:r>
            <a:pPr indent="0" marL="0">
              <a:buNone/>
            </a:pPr>
            <a:r>
              <a:rPr lang="en-US" sz="1700" i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karo, bas address change karna hai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4414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Meaning: don't cancel, just change the address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3081528"/>
            <a:ext cx="54406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46520" y="31729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NEGATION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0" y="31729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refund issued, no replacement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44728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Refund </a:t>
            </a:r>
            <a:pPr indent="0" marL="0">
              <a:buNone/>
            </a:pPr>
            <a:r>
              <a:rPr lang="en-US" sz="1700" b="1" i="1" u="sng" dirty="0">
                <a:solidFill>
                  <a:srgbClr val="C8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vendam</a:t>
            </a:r>
            <a:pPr indent="0" marL="0">
              <a:buNone/>
            </a:pPr>
            <a:r>
              <a:rPr lang="en-US" sz="1700" i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replacement anuppunga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392277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Meaning: I don't want a refund, send a replacement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4562856"/>
            <a:ext cx="54406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446520" y="46542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DROP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961120" y="465429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confident wrong action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492861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Heard: “Order cancel </a:t>
            </a:r>
            <a:pPr indent="0" marL="0">
              <a:buNone/>
            </a:pPr>
            <a:r>
              <a:rPr lang="en-US" sz="1700" b="1" i="1" u="sng" dirty="0">
                <a:solidFill>
                  <a:srgbClr val="C8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___</a:t>
            </a:r>
            <a:pPr indent="0" marL="0">
              <a:buNone/>
            </a:pPr>
            <a:r>
              <a:rPr lang="en-US" sz="1700" i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karo…”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540410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negation is lost on a noisy line, so the sentence now means the opposite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FreshVoice ActionGuard · The Great Agent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84048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Breaks Today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04241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the same sentence becomes the wrong action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399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A: speech-to-text drops the negation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78308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E9EDF3"/>
          </a:solidFill>
          <a:ln w="12700">
            <a:solidFill>
              <a:srgbClr val="E9EDF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 says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“Order cancel mat karo, bas address change karna hai”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468880" y="2400300"/>
            <a:ext cx="420624" cy="914"/>
          </a:xfrm>
          <a:prstGeom prst="line">
            <a:avLst/>
          </a:prstGeom>
          <a:noFill/>
          <a:ln w="2540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2889504" y="178308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FF4DA"/>
          </a:solidFill>
          <a:ln w="12700">
            <a:solidFill>
              <a:srgbClr val="F4A300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“Order cancel ___ karo, bas address change…”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64024" y="2400300"/>
            <a:ext cx="420624" cy="914"/>
          </a:xfrm>
          <a:prstGeom prst="line">
            <a:avLst/>
          </a:prstGeom>
          <a:noFill/>
          <a:ln w="2540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5184648" y="178308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E9EDF3"/>
          </a:solidFill>
          <a:ln w="12700">
            <a:solidFill>
              <a:srgbClr val="E9EDF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model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cancel_order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(high confidence)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059168" y="2400300"/>
            <a:ext cx="420624" cy="914"/>
          </a:xfrm>
          <a:prstGeom prst="line">
            <a:avLst/>
          </a:prstGeom>
          <a:noFill/>
          <a:ln w="2540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7479792" y="178308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E9EDF3"/>
          </a:solidFill>
          <a:ln w="12700">
            <a:solidFill>
              <a:srgbClr val="E9EDF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calls tool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cancel_order(48211)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354312" y="2400300"/>
            <a:ext cx="420624" cy="914"/>
          </a:xfrm>
          <a:prstGeom prst="line">
            <a:avLst/>
          </a:prstGeom>
          <a:noFill/>
          <a:ln w="2540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9774936" y="178308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BE4E7"/>
          </a:solidFill>
          <a:ln w="12700">
            <a:solidFill>
              <a:srgbClr val="C8283C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cancelled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be undone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341071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B: transcript is right, but the model ignores “mat”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379476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E9EDF3"/>
          </a:solidFill>
          <a:ln w="12700">
            <a:solidFill>
              <a:srgbClr val="E9EDF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 says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“Order cancel mat karo, bas address change karna hai”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468880" y="4411980"/>
            <a:ext cx="420624" cy="914"/>
          </a:xfrm>
          <a:prstGeom prst="line">
            <a:avLst/>
          </a:prstGeom>
          <a:noFill/>
          <a:ln w="2540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2889504" y="379476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E9EDF3"/>
          </a:solidFill>
          <a:ln w="12700">
            <a:solidFill>
              <a:srgbClr val="E9EDF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transcript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64024" y="4411980"/>
            <a:ext cx="420624" cy="914"/>
          </a:xfrm>
          <a:prstGeom prst="line">
            <a:avLst/>
          </a:prstGeom>
          <a:noFill/>
          <a:ln w="2540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5184648" y="379476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E9EDF3"/>
          </a:solidFill>
          <a:ln w="12700">
            <a:solidFill>
              <a:srgbClr val="E9EDF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intent model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“order” + “cancel”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cancellation_refund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059168" y="4411980"/>
            <a:ext cx="420624" cy="914"/>
          </a:xfrm>
          <a:prstGeom prst="line">
            <a:avLst/>
          </a:prstGeom>
          <a:noFill/>
          <a:ln w="2540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7479792" y="379476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E9EDF3"/>
          </a:solidFill>
          <a:ln w="12700">
            <a:solidFill>
              <a:srgbClr val="E9EDF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calls tool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cancel_order(48211)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354312" y="4411980"/>
            <a:ext cx="420624" cy="914"/>
          </a:xfrm>
          <a:prstGeom prst="line">
            <a:avLst/>
          </a:prstGeom>
          <a:noFill/>
          <a:ln w="2540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9774936" y="379476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BE4E7"/>
          </a:solidFill>
          <a:ln w="12700">
            <a:solidFill>
              <a:srgbClr val="C8283C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cancelled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be undone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94360" y="5440680"/>
            <a:ext cx="11018520" cy="731520"/>
          </a:xfrm>
          <a:prstGeom prst="roundRect">
            <a:avLst>
              <a:gd name="adj" fmla="val 12500"/>
            </a:avLst>
          </a:prstGeom>
          <a:solidFill>
            <a:srgbClr val="14213D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822960" y="54406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Measured, not hypothetical: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Round-1 FreshVoice engine classifies “Order cancel mat karo, bas address change karna hai” as cancellation_refund.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FreshVoice ActionGuard · The Great Agent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84048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3474720" cy="429768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83080"/>
            <a:ext cx="822960" cy="822960"/>
          </a:xfrm>
          <a:prstGeom prst="ellipse">
            <a:avLst/>
          </a:prstGeom>
          <a:solidFill>
            <a:srgbClr val="FFF4DA"/>
          </a:solidFill>
          <a:ln w="12700">
            <a:solidFill>
              <a:srgbClr val="FFF4D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9888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27889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 now have write access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56616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agents, tool calling and MCP let a bot cancel, refund or re-address an order directly. A misunderstanding used to produce a bad answer. Now it produces a bad transaction.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297680" y="1508760"/>
            <a:ext cx="3474720" cy="429768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1783080"/>
            <a:ext cx="822960" cy="822960"/>
          </a:xfrm>
          <a:prstGeom prst="ellipse">
            <a:avLst/>
          </a:prstGeom>
          <a:solidFill>
            <a:srgbClr val="FFF4DA"/>
          </a:solidFill>
          <a:ln w="12700">
            <a:solidFill>
              <a:srgbClr val="FFF4D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740" y="19888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72000" y="27889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Code-mixed voice is normal in India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356616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Hinglish and Tanglish callers switch language inside a sentence. FreshVoice already handles the switching, and negation is the gap we measured in our own engine.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046720" y="1508760"/>
            <a:ext cx="3474720" cy="429768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21040" y="1783080"/>
            <a:ext cx="822960" cy="822960"/>
          </a:xfrm>
          <a:prstGeom prst="ellipse">
            <a:avLst/>
          </a:prstGeom>
          <a:solidFill>
            <a:srgbClr val="FFF4DA"/>
          </a:solidFill>
          <a:ln w="12700">
            <a:solidFill>
              <a:srgbClr val="FFF4D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6780" y="198882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21040" y="27889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signals are finally cheap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8321040" y="356616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now returns word-level confidence (ElevenLabs Scribe), and fast LLMs (Gemini Flash) can check one action inside a live call. Checking every action is now affordable.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FreshVoice ActionGuard · The Great Agent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84048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Competitive Landscape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051560" y="1554480"/>
            <a:ext cx="4206240" cy="4206240"/>
          </a:xfrm>
          <a:prstGeom prst="rect">
            <a:avLst/>
          </a:prstGeom>
          <a:solidFill>
            <a:srgbClr val="F7F9FB"/>
          </a:solidFill>
          <a:ln w="12700">
            <a:solidFill>
              <a:srgbClr val="B8C2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54680" y="1554480"/>
            <a:ext cx="2103120" cy="2103120"/>
          </a:xfrm>
          <a:prstGeom prst="rect">
            <a:avLst/>
          </a:prstGeom>
          <a:solidFill>
            <a:srgbClr val="E1F3EC"/>
          </a:solidFill>
          <a:ln w="12700">
            <a:solidFill>
              <a:srgbClr val="B8C2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3657600"/>
            <a:ext cx="4206240" cy="0"/>
          </a:xfrm>
          <a:prstGeom prst="line">
            <a:avLst/>
          </a:prstGeom>
          <a:noFill/>
          <a:ln w="12700">
            <a:solidFill>
              <a:srgbClr val="B8C2D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3154680" y="1554480"/>
            <a:ext cx="0" cy="4206240"/>
          </a:xfrm>
          <a:prstGeom prst="line">
            <a:avLst/>
          </a:prstGeom>
          <a:noFill/>
          <a:ln w="12700">
            <a:solidFill>
              <a:srgbClr val="B8C2D0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1051560" y="58338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code-mixed negation →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 rot="16200000">
            <a:off x="-1325880" y="35204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checks to action risk →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446581" y="5146243"/>
            <a:ext cx="219456" cy="219456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739189" y="5109667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nothing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530706" y="3421685"/>
            <a:ext cx="219456" cy="219456"/>
          </a:xfrm>
          <a:prstGeom prst="ellipse">
            <a:avLst/>
          </a:prstGeom>
          <a:solidFill>
            <a:srgbClr val="2A5C8A"/>
          </a:solidFill>
          <a:ln w="12700">
            <a:solidFill>
              <a:srgbClr val="2A5C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823314" y="3385109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Confirm-everything IVR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119579" y="2706624"/>
            <a:ext cx="219456" cy="219456"/>
          </a:xfrm>
          <a:prstGeom prst="ellipse">
            <a:avLst/>
          </a:prstGeom>
          <a:solidFill>
            <a:srgbClr val="2A5C8A"/>
          </a:solidFill>
          <a:ln w="12700">
            <a:solidFill>
              <a:srgbClr val="2A5C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412187" y="26700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LLM guardrails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22699" y="4809744"/>
            <a:ext cx="219456" cy="219456"/>
          </a:xfrm>
          <a:prstGeom prst="ellipse">
            <a:avLst/>
          </a:prstGeom>
          <a:solidFill>
            <a:srgbClr val="2A5C8A"/>
          </a:solidFill>
          <a:ln w="12700">
            <a:solidFill>
              <a:srgbClr val="2A5C8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485339" y="477316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 voice bots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61104" y="2072030"/>
            <a:ext cx="310896" cy="310896"/>
          </a:xfrm>
          <a:prstGeom prst="ellipse">
            <a:avLst/>
          </a:prstGeom>
          <a:solidFill>
            <a:srgbClr val="F4A300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523744" y="208117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ActionGuard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897880" y="1463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818120" y="14630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692640" y="1463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06440" y="1828800"/>
            <a:ext cx="5897880" cy="758952"/>
          </a:xfrm>
          <a:prstGeom prst="roundRect">
            <a:avLst>
              <a:gd name="adj" fmla="val 7229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897880" y="1828800"/>
            <a:ext cx="18288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LLM guardrails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7818120" y="1828800"/>
            <a:ext cx="17830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at policy, toxicity and PII filters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692640" y="1828800"/>
            <a:ext cx="20116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tell that “mat” flips “cancel”, and ignores speech-to-text confidence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806440" y="2679192"/>
            <a:ext cx="5897880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897880" y="2679192"/>
            <a:ext cx="18288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Confirm-everything IVR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7818120" y="2679192"/>
            <a:ext cx="17830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Safe: “press 1 to confirm”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692640" y="2679192"/>
            <a:ext cx="20116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friction to every action, so callers drop off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806440" y="3529584"/>
            <a:ext cx="5897880" cy="758952"/>
          </a:xfrm>
          <a:prstGeom prst="roundRect">
            <a:avLst>
              <a:gd name="adj" fmla="val 7229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897880" y="3529584"/>
            <a:ext cx="18288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 voice-bot platforms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7818120" y="3529584"/>
            <a:ext cx="17830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Indian-language speech recognition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9692640" y="3529584"/>
            <a:ext cx="20116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safety isn't their layer. Tool calls fire unchecked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806440" y="4379976"/>
            <a:ext cx="5897880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897880" y="4379976"/>
            <a:ext cx="18288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nothing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7818120" y="4379976"/>
            <a:ext cx="17830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effort and zero latency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9692640" y="4379976"/>
            <a:ext cx="20116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refunds and cancellations, and customers lose trust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806440" y="5303520"/>
            <a:ext cx="5897880" cy="777240"/>
          </a:xfrm>
          <a:prstGeom prst="roundRect">
            <a:avLst>
              <a:gd name="adj" fmla="val 11765"/>
            </a:avLst>
          </a:prstGeom>
          <a:solidFill>
            <a:srgbClr val="14213D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5989320" y="530352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edge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understand negation in each language, and only irreversible, uncertain actions get a question. It runs natively in Freshworks' own agent tool path.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FreshVoice ActionGuard · The Great Agent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84048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Solution: the ActionGuard Pipeline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04241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 agent does something it can't undo, we double-check what the caller said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2918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18470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LISTEN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7627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returns the transcript with a confidence score for each word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1737360"/>
            <a:ext cx="32918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63440" y="18470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TAG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17627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FreshVoice labels each word's language and finds where the caller switches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321040" y="1737360"/>
            <a:ext cx="32918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549640" y="18470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FIND POLARITY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549640" y="217627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Spots negation words for each language and which verb each one applies to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32918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77240" y="37673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ACT &amp; LOG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09651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Freshdesk tool call and writes an English audit note on the ticket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434840" y="3657600"/>
            <a:ext cx="3291840" cy="1234440"/>
          </a:xfrm>
          <a:prstGeom prst="roundRect">
            <a:avLst>
              <a:gd name="adj" fmla="val 7407"/>
            </a:avLst>
          </a:prstGeom>
          <a:solidFill>
            <a:srgbClr val="14213D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4663440" y="37673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GATE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409651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ALLOW, CONFIRM or BLOCK. Blocked requests go to the intent the caller actually stated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321040" y="3657600"/>
            <a:ext cx="32918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549640" y="37673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SCORE RISK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549640" y="409651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Irreversible? Moves money? Low confidence on the negation word?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840480" y="2354580"/>
            <a:ext cx="594360" cy="914"/>
          </a:xfrm>
          <a:prstGeom prst="line">
            <a:avLst/>
          </a:prstGeom>
          <a:noFill/>
          <a:ln w="3175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726680" y="2354580"/>
            <a:ext cx="594360" cy="914"/>
          </a:xfrm>
          <a:prstGeom prst="line">
            <a:avLst/>
          </a:prstGeom>
          <a:noFill/>
          <a:ln w="3175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966960" y="2971800"/>
            <a:ext cx="914" cy="685800"/>
          </a:xfrm>
          <a:prstGeom prst="line">
            <a:avLst/>
          </a:prstGeom>
          <a:noFill/>
          <a:ln w="3175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H="1">
            <a:off x="7726680" y="4274820"/>
            <a:ext cx="594360" cy="914"/>
          </a:xfrm>
          <a:prstGeom prst="line">
            <a:avLst/>
          </a:prstGeom>
          <a:noFill/>
          <a:ln w="3175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 flipH="1">
            <a:off x="3840480" y="4274820"/>
            <a:ext cx="594360" cy="914"/>
          </a:xfrm>
          <a:prstGeom prst="line">
            <a:avLst/>
          </a:prstGeom>
          <a:noFill/>
          <a:ln w="3175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548640" y="5166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 LEXICON (MVP → PHASE 2)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486400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FFF4DA"/>
          </a:solidFill>
          <a:ln w="12700">
            <a:solidFill>
              <a:srgbClr val="F4A300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5486400"/>
            <a:ext cx="173736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 · nahi · na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2423160" y="5486400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FFF4DA"/>
          </a:solidFill>
          <a:ln w="12700">
            <a:solidFill>
              <a:srgbClr val="F4A300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2423160" y="5486400"/>
            <a:ext cx="173736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vendam · venaam · illa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297680" y="5486400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E9EDF3"/>
          </a:solidFill>
          <a:ln w="12700">
            <a:solidFill>
              <a:srgbClr val="E9EDF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4297680" y="5486400"/>
            <a:ext cx="173736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Telugu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vaddu · ledu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172200" y="5486400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E9EDF3"/>
          </a:solidFill>
          <a:ln w="12700">
            <a:solidFill>
              <a:srgbClr val="E9EDF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172200" y="5486400"/>
            <a:ext cx="173736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Kannada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beda · illa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8046720" y="5486400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E9EDF3"/>
          </a:solidFill>
          <a:ln w="12700">
            <a:solidFill>
              <a:srgbClr val="E9EDF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8046720" y="5486400"/>
            <a:ext cx="173736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· korben na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9921240" y="5486400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E9EDF3"/>
          </a:solidFill>
          <a:ln w="12700">
            <a:solidFill>
              <a:srgbClr val="E9EDF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9921240" y="5486400"/>
            <a:ext cx="173736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Marathi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nako · nahi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FreshVoice ActionGuard · The Great Agent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84048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Gate Decides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04241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risky, uncertain branch adds friction for the caller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2880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E9EDF3"/>
          </a:solidFill>
          <a:ln w="12700">
            <a:solidFill>
              <a:srgbClr val="E9EDF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proposes an action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cancel_order(48211)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68880" y="2331720"/>
            <a:ext cx="365760" cy="914"/>
          </a:xfrm>
          <a:prstGeom prst="line">
            <a:avLst/>
          </a:prstGeom>
          <a:noFill/>
          <a:ln w="2540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2834640" y="1600200"/>
            <a:ext cx="2286000" cy="1463040"/>
          </a:xfrm>
          <a:prstGeom prst="diamond">
            <a:avLst/>
          </a:prstGeom>
          <a:solidFill>
            <a:srgbClr val="14213D"/>
          </a:solidFill>
          <a:ln>
            <a:solidFill>
              <a:srgbClr val="14213D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Irreversible 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money?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120640" y="2331720"/>
            <a:ext cx="411480" cy="914"/>
          </a:xfrm>
          <a:prstGeom prst="line">
            <a:avLst/>
          </a:prstGeom>
          <a:noFill/>
          <a:ln w="2540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5074920" y="20116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532120" y="1600200"/>
            <a:ext cx="2286000" cy="1463040"/>
          </a:xfrm>
          <a:prstGeom prst="diamond">
            <a:avLst/>
          </a:prstGeom>
          <a:solidFill>
            <a:srgbClr val="14213D"/>
          </a:solidFill>
          <a:ln>
            <a:solidFill>
              <a:srgbClr val="14213D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 applies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action verb?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18120" y="2331720"/>
            <a:ext cx="411480" cy="914"/>
          </a:xfrm>
          <a:prstGeom prst="line">
            <a:avLst/>
          </a:prstGeom>
          <a:noFill/>
          <a:ln w="2540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7772400" y="20116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1600200"/>
            <a:ext cx="2286000" cy="1463040"/>
          </a:xfrm>
          <a:prstGeom prst="diamond">
            <a:avLst/>
          </a:prstGeom>
          <a:solidFill>
            <a:srgbClr val="14213D"/>
          </a:solidFill>
          <a:ln>
            <a:solidFill>
              <a:srgbClr val="14213D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about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that set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or no?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515600" y="2331720"/>
            <a:ext cx="320040" cy="914"/>
          </a:xfrm>
          <a:prstGeom prst="line">
            <a:avLst/>
          </a:prstGeom>
          <a:noFill/>
          <a:ln w="2540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10469880" y="20116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0835640" y="18745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1F8A63"/>
          </a:solidFill>
          <a:ln w="12700">
            <a:solidFill>
              <a:srgbClr val="1F8A6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977640" y="3063240"/>
            <a:ext cx="914" cy="640080"/>
          </a:xfrm>
          <a:prstGeom prst="line">
            <a:avLst/>
          </a:prstGeom>
          <a:noFill/>
          <a:ln w="2540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4023360" y="3200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834640" y="370332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E1F3EC"/>
          </a:solidFill>
          <a:ln w="12700">
            <a:solidFill>
              <a:srgbClr val="1F8A6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and log it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track order)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675120" y="3063240"/>
            <a:ext cx="914" cy="640080"/>
          </a:xfrm>
          <a:prstGeom prst="line">
            <a:avLst/>
          </a:prstGeom>
          <a:noFill/>
          <a:ln w="2540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6720840" y="3200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532120" y="370332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BE4E7"/>
          </a:solidFill>
          <a:ln w="12700">
            <a:solidFill>
              <a:srgbClr val="C8283C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run it; switch 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update_address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372600" y="3063240"/>
            <a:ext cx="914" cy="640080"/>
          </a:xfrm>
          <a:prstGeom prst="line">
            <a:avLst/>
          </a:prstGeom>
          <a:noFill/>
          <a:ln w="2540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9418320" y="3200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370332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FF4DA"/>
          </a:solidFill>
          <a:ln w="12700">
            <a:solidFill>
              <a:srgbClr val="F4A300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9A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back in the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9A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caller's language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 flipH="1">
            <a:off x="8503920" y="4709160"/>
            <a:ext cx="457200" cy="457200"/>
          </a:xfrm>
          <a:prstGeom prst="line">
            <a:avLst/>
          </a:prstGeom>
          <a:noFill/>
          <a:ln w="2540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784080" y="4709160"/>
            <a:ext cx="548640" cy="457200"/>
          </a:xfrm>
          <a:prstGeom prst="line">
            <a:avLst/>
          </a:prstGeom>
          <a:noFill/>
          <a:ln w="2540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7635240" y="516636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E1F3EC"/>
          </a:solidFill>
          <a:ln w="12700">
            <a:solidFill>
              <a:srgbClr val="1F8A6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“Haan” / “Aamaa”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run it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9509760" y="5166360"/>
            <a:ext cx="2240280" cy="868680"/>
          </a:xfrm>
          <a:prstGeom prst="roundRect">
            <a:avLst>
              <a:gd name="adj" fmla="val 8421"/>
            </a:avLst>
          </a:prstGeom>
          <a:solidFill>
            <a:srgbClr val="E9EDF3"/>
          </a:solidFill>
          <a:ln w="12700">
            <a:solidFill>
              <a:srgbClr val="E9EDF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“Nahi” / silence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hand to a person with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Freshdesk note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983480"/>
            <a:ext cx="4663440" cy="1097280"/>
          </a:xfrm>
          <a:prstGeom prst="roundRect">
            <a:avLst>
              <a:gd name="adj" fmla="val 8333"/>
            </a:avLst>
          </a:prstGeom>
          <a:solidFill>
            <a:srgbClr val="14213D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685800" y="498348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Read-back example (Hindi)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“Aap order cancel karna chahte hain, ya sirf address change? Haan ya nahi?”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FreshVoice ActionGuard · The Great Agent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84048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Calls Traced Through the Gate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554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CALL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1965960"/>
            <a:ext cx="754380" cy="603504"/>
          </a:xfrm>
          <a:prstGeom prst="roundRect">
            <a:avLst>
              <a:gd name="adj" fmla="val 9091"/>
            </a:avLst>
          </a:prstGeom>
          <a:solidFill>
            <a:srgbClr val="E4EDF6"/>
          </a:solidFill>
          <a:ln w="15875">
            <a:solidFill>
              <a:srgbClr val="E4ED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965960"/>
            <a:ext cx="7543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650492" y="1965960"/>
            <a:ext cx="850392" cy="603504"/>
          </a:xfrm>
          <a:prstGeom prst="roundRect">
            <a:avLst>
              <a:gd name="adj" fmla="val 9091"/>
            </a:avLst>
          </a:prstGeom>
          <a:solidFill>
            <a:srgbClr val="E4EDF6"/>
          </a:solidFill>
          <a:ln w="15875">
            <a:solidFill>
              <a:srgbClr val="E4ED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650492" y="1965960"/>
            <a:ext cx="850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74036" y="1965960"/>
            <a:ext cx="685800" cy="603504"/>
          </a:xfrm>
          <a:prstGeom prst="roundRect">
            <a:avLst>
              <a:gd name="adj" fmla="val 9091"/>
            </a:avLst>
          </a:prstGeom>
          <a:solidFill>
            <a:srgbClr val="FBE4E7"/>
          </a:solidFill>
          <a:ln w="15875">
            <a:solidFill>
              <a:srgbClr val="C828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574036" y="1965960"/>
            <a:ext cx="685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32988" y="1965960"/>
            <a:ext cx="754380" cy="603504"/>
          </a:xfrm>
          <a:prstGeom prst="roundRect">
            <a:avLst>
              <a:gd name="adj" fmla="val 9091"/>
            </a:avLst>
          </a:prstGeom>
          <a:solidFill>
            <a:srgbClr val="E9EDF3"/>
          </a:solidFill>
          <a:ln w="15875">
            <a:solidFill>
              <a:srgbClr val="E9EDF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32988" y="1965960"/>
            <a:ext cx="7543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karo,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60520" y="1965960"/>
            <a:ext cx="685800" cy="603504"/>
          </a:xfrm>
          <a:prstGeom prst="roundRect">
            <a:avLst>
              <a:gd name="adj" fmla="val 9091"/>
            </a:avLst>
          </a:prstGeom>
          <a:solidFill>
            <a:srgbClr val="E9EDF3"/>
          </a:solidFill>
          <a:ln w="15875">
            <a:solidFill>
              <a:srgbClr val="E9EDF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60520" y="1965960"/>
            <a:ext cx="685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2679192"/>
            <a:ext cx="946404" cy="603504"/>
          </a:xfrm>
          <a:prstGeom prst="roundRect">
            <a:avLst>
              <a:gd name="adj" fmla="val 9091"/>
            </a:avLst>
          </a:prstGeom>
          <a:solidFill>
            <a:srgbClr val="E4EDF6"/>
          </a:solidFill>
          <a:ln w="15875">
            <a:solidFill>
              <a:srgbClr val="E4ED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2679192"/>
            <a:ext cx="9464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842516" y="2679192"/>
            <a:ext cx="850392" cy="603504"/>
          </a:xfrm>
          <a:prstGeom prst="roundRect">
            <a:avLst>
              <a:gd name="adj" fmla="val 9091"/>
            </a:avLst>
          </a:prstGeom>
          <a:solidFill>
            <a:srgbClr val="E4EDF6"/>
          </a:solidFill>
          <a:ln w="15875">
            <a:solidFill>
              <a:srgbClr val="E4ED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842516" y="2679192"/>
            <a:ext cx="850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66060" y="2679192"/>
            <a:ext cx="1138428" cy="603504"/>
          </a:xfrm>
          <a:prstGeom prst="roundRect">
            <a:avLst>
              <a:gd name="adj" fmla="val 9091"/>
            </a:avLst>
          </a:prstGeom>
          <a:solidFill>
            <a:srgbClr val="E9EDF3"/>
          </a:solidFill>
          <a:ln w="15875">
            <a:solidFill>
              <a:srgbClr val="E9EDF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766060" y="2679192"/>
            <a:ext cx="11384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 hai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34290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342900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“mat” applies to “cancel karo”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414223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action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331720" y="4142232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cancel_order: irreversible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246120" y="4828032"/>
            <a:ext cx="914" cy="219456"/>
          </a:xfrm>
          <a:prstGeom prst="line">
            <a:avLst/>
          </a:prstGeom>
          <a:noFill/>
          <a:ln w="25400">
            <a:solidFill>
              <a:srgbClr val="C8283C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822960" y="5074920"/>
            <a:ext cx="4846320" cy="868680"/>
          </a:xfrm>
          <a:prstGeom prst="roundRect">
            <a:avLst>
              <a:gd name="adj" fmla="val 8421"/>
            </a:avLst>
          </a:prstGeom>
          <a:solidFill>
            <a:srgbClr val="FBE4E7"/>
          </a:solidFill>
          <a:ln w="12700">
            <a:solidFill>
              <a:srgbClr val="C8283C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cancel_order → run update_address instead (reversible → ALLOW)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63640" y="141732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6537960" y="1554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CALL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537960" y="1965960"/>
            <a:ext cx="850392" cy="603504"/>
          </a:xfrm>
          <a:prstGeom prst="roundRect">
            <a:avLst>
              <a:gd name="adj" fmla="val 9091"/>
            </a:avLst>
          </a:prstGeom>
          <a:solidFill>
            <a:srgbClr val="E4EDF6"/>
          </a:solidFill>
          <a:ln w="15875">
            <a:solidFill>
              <a:srgbClr val="E4EDF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537960" y="1965960"/>
            <a:ext cx="850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461504" y="1965960"/>
            <a:ext cx="946404" cy="603504"/>
          </a:xfrm>
          <a:prstGeom prst="roundRect">
            <a:avLst>
              <a:gd name="adj" fmla="val 9091"/>
            </a:avLst>
          </a:prstGeom>
          <a:solidFill>
            <a:srgbClr val="FBE4E7"/>
          </a:solidFill>
          <a:ln w="15875">
            <a:solidFill>
              <a:srgbClr val="C8283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461504" y="1965960"/>
            <a:ext cx="9464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vendam,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481060" y="1965960"/>
            <a:ext cx="1330452" cy="603504"/>
          </a:xfrm>
          <a:prstGeom prst="roundRect">
            <a:avLst>
              <a:gd name="adj" fmla="val 9091"/>
            </a:avLst>
          </a:prstGeom>
          <a:solidFill>
            <a:srgbClr val="E4EDF6"/>
          </a:solidFill>
          <a:ln w="15875">
            <a:solidFill>
              <a:srgbClr val="E4EDF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481060" y="1965960"/>
            <a:ext cx="13304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884664" y="1965960"/>
            <a:ext cx="1138428" cy="603504"/>
          </a:xfrm>
          <a:prstGeom prst="roundRect">
            <a:avLst>
              <a:gd name="adj" fmla="val 9091"/>
            </a:avLst>
          </a:prstGeom>
          <a:solidFill>
            <a:srgbClr val="E9EDF3"/>
          </a:solidFill>
          <a:ln w="15875">
            <a:solidFill>
              <a:srgbClr val="E9EDF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884664" y="1965960"/>
            <a:ext cx="11384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anuppunga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537960" y="34290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8046720" y="342900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“vendam” applies to “refund”. Speech-to-text confidence on it is only 0.58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537960" y="414223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action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8046720" y="4142232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issue_refund: moves money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8961120" y="4828032"/>
            <a:ext cx="914" cy="219456"/>
          </a:xfrm>
          <a:prstGeom prst="line">
            <a:avLst/>
          </a:prstGeom>
          <a:noFill/>
          <a:ln w="2540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44" name="Text 42"/>
          <p:cNvSpPr txBox="1"/>
          <p:nvPr/>
        </p:nvSpPr>
        <p:spPr>
          <a:xfrm>
            <a:off x="6537960" y="5074920"/>
            <a:ext cx="4846320" cy="868680"/>
          </a:xfrm>
          <a:prstGeom prst="roundRect">
            <a:avLst>
              <a:gd name="adj" fmla="val 8421"/>
            </a:avLst>
          </a:prstGeom>
          <a:solidFill>
            <a:srgbClr val="FFF4DA"/>
          </a:solidFill>
          <a:ln w="12700">
            <a:solidFill>
              <a:srgbClr val="F4A300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issue_refund. CONFIRM the replacement: “Replacement anuppalaamaa?”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FreshVoice ActionGuard · The Great Agent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84048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Scope: MVP vs Later Phases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3611880" cy="731520"/>
          </a:xfrm>
          <a:prstGeom prst="chevron">
            <a:avLst/>
          </a:prstGeom>
          <a:solidFill>
            <a:srgbClr val="14213D"/>
          </a:solidFill>
          <a:ln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MVP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945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0–3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60320"/>
            <a:ext cx="3291840" cy="1554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+ Tamil + English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guarded actions: cancel, refund, address change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/ CONFIRM / BLOCK + re-route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audit note on every ticket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1417320"/>
            <a:ext cx="3611880" cy="731520"/>
          </a:xfrm>
          <a:prstGeom prst="chevron">
            <a:avLst/>
          </a:prstGeom>
          <a:solidFill>
            <a:srgbClr val="E9EDF3"/>
          </a:solidFill>
          <a:ln>
            <a:solidFill>
              <a:srgbClr val="E9ED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21945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4–6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560320"/>
            <a:ext cx="3291840" cy="1554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Telugu, Kannada, Bengali, Marathi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speech-to-text engine's alternative transcripts, not just its top guess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human agents' overrides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046720" y="1417320"/>
            <a:ext cx="3611880" cy="731520"/>
          </a:xfrm>
          <a:prstGeom prst="chevron">
            <a:avLst/>
          </a:prstGeom>
          <a:solidFill>
            <a:srgbClr val="E9EDF3"/>
          </a:solidFill>
          <a:ln>
            <a:solidFill>
              <a:srgbClr val="E9ED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0" y="21945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7–12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2560320"/>
            <a:ext cx="3291840" cy="1554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policy editor for each action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and WhatsApp channels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Wrong-action analytics dashboard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F4F6F9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526280"/>
            <a:ext cx="640080" cy="6400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4686300"/>
            <a:ext cx="320040" cy="32004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554480" y="4526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&amp; agentic design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554480" y="4892040"/>
            <a:ext cx="4251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plans the tool calls. ActionGuard is a second, independent agent that checks each irreversible call. It combines rule-based checks per language with an LLM that works out what a negation applies to, and falls back to rules alone when offline.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217920" y="434340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F4F6F9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446520" y="4526280"/>
            <a:ext cx="640080" cy="640080"/>
          </a:xfrm>
          <a:prstGeom prst="ellipse">
            <a:avLst/>
          </a:prstGeom>
          <a:solidFill>
            <a:srgbClr val="2A5C8A"/>
          </a:solidFill>
          <a:ln w="12700">
            <a:solidFill>
              <a:srgbClr val="2A5C8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540" y="4686300"/>
            <a:ext cx="320040" cy="32004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7223760" y="4526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Already built (Round 1)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7223760" y="4892040"/>
            <a:ext cx="4251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Code-mix tagging engine, intent scoring, MCP server, Freshdesk ticket API, and a live demo on Vercel. ActionGuard adds the checks and the gate on top.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FreshVoice ActionGuard · The Great Agent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84048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Fits Into Freshworks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04241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 a tool gate inside the Freddy AI Agent → Freshdesk action path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83080"/>
            <a:ext cx="1417320" cy="1143000"/>
          </a:xfrm>
          <a:prstGeom prst="roundRect">
            <a:avLst>
              <a:gd name="adj" fmla="val 6400"/>
            </a:avLst>
          </a:prstGeom>
          <a:solidFill>
            <a:srgbClr val="E9EDF3"/>
          </a:solidFill>
          <a:ln w="12700">
            <a:solidFill>
              <a:srgbClr val="E9EDF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/ app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874520" y="2354580"/>
            <a:ext cx="365760" cy="914"/>
          </a:xfrm>
          <a:prstGeom prst="line">
            <a:avLst/>
          </a:prstGeom>
          <a:noFill/>
          <a:ln w="2540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2240280" y="1783080"/>
            <a:ext cx="1600200" cy="1143000"/>
          </a:xfrm>
          <a:prstGeom prst="roundRect">
            <a:avLst>
              <a:gd name="adj" fmla="val 6400"/>
            </a:avLst>
          </a:prstGeom>
          <a:solidFill>
            <a:srgbClr val="E9EDF3"/>
          </a:solidFill>
          <a:ln w="12700">
            <a:solidFill>
              <a:srgbClr val="E9EDF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Freshcaller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channel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840480" y="2354580"/>
            <a:ext cx="365760" cy="914"/>
          </a:xfrm>
          <a:prstGeom prst="line">
            <a:avLst/>
          </a:prstGeom>
          <a:noFill/>
          <a:ln w="2540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4206240" y="1783080"/>
            <a:ext cx="1600200" cy="1143000"/>
          </a:xfrm>
          <a:prstGeom prst="roundRect">
            <a:avLst>
              <a:gd name="adj" fmla="val 6400"/>
            </a:avLst>
          </a:prstGeom>
          <a:solidFill>
            <a:srgbClr val="E9EDF3"/>
          </a:solidFill>
          <a:ln w="12700">
            <a:solidFill>
              <a:srgbClr val="E9EDF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word confidence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806440" y="2354580"/>
            <a:ext cx="365760" cy="914"/>
          </a:xfrm>
          <a:prstGeom prst="line">
            <a:avLst/>
          </a:prstGeom>
          <a:noFill/>
          <a:ln w="2540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6172200" y="1783080"/>
            <a:ext cx="1600200" cy="1143000"/>
          </a:xfrm>
          <a:prstGeom prst="roundRect">
            <a:avLst>
              <a:gd name="adj" fmla="val 6400"/>
            </a:avLst>
          </a:prstGeom>
          <a:solidFill>
            <a:srgbClr val="E4EDF6"/>
          </a:solidFill>
          <a:ln w="12700">
            <a:solidFill>
              <a:srgbClr val="E4EDF6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Freddy AI Agent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tool call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0" y="2354580"/>
            <a:ext cx="365760" cy="914"/>
          </a:xfrm>
          <a:prstGeom prst="line">
            <a:avLst/>
          </a:prstGeom>
          <a:noFill/>
          <a:ln w="2540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8138160" y="1783080"/>
            <a:ext cx="1691640" cy="1143000"/>
          </a:xfrm>
          <a:prstGeom prst="roundRect">
            <a:avLst>
              <a:gd name="adj" fmla="val 6400"/>
            </a:avLst>
          </a:prstGeom>
          <a:solidFill>
            <a:srgbClr val="14213D"/>
          </a:solidFill>
          <a:ln w="31750">
            <a:solidFill>
              <a:srgbClr val="F4A300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ActionGuard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guard_action()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829800" y="2354580"/>
            <a:ext cx="365760" cy="914"/>
          </a:xfrm>
          <a:prstGeom prst="line">
            <a:avLst/>
          </a:prstGeom>
          <a:noFill/>
          <a:ln w="2540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10195560" y="1783080"/>
            <a:ext cx="1554480" cy="1143000"/>
          </a:xfrm>
          <a:prstGeom prst="roundRect">
            <a:avLst>
              <a:gd name="adj" fmla="val 6400"/>
            </a:avLst>
          </a:prstGeom>
          <a:solidFill>
            <a:srgbClr val="E1F3EC"/>
          </a:solidFill>
          <a:ln w="12700">
            <a:solidFill>
              <a:srgbClr val="E1F3EC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APIs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· refund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9692640" y="202539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 flipH="1">
            <a:off x="6949440" y="2926080"/>
            <a:ext cx="1645920" cy="731520"/>
          </a:xfrm>
          <a:prstGeom prst="line">
            <a:avLst/>
          </a:prstGeom>
          <a:noFill/>
          <a:ln w="2540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509760" y="2926080"/>
            <a:ext cx="1463040" cy="731520"/>
          </a:xfrm>
          <a:prstGeom prst="line">
            <a:avLst/>
          </a:prstGeom>
          <a:noFill/>
          <a:ln w="25400">
            <a:solidFill>
              <a:srgbClr val="C8283C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6035040" y="365760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FF4DA"/>
          </a:solidFill>
          <a:ln w="12700">
            <a:solidFill>
              <a:srgbClr val="F4A300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A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9A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Freddy reads it back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9A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caller's language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0012680" y="365760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BE4E7"/>
          </a:solidFill>
          <a:ln w="12700">
            <a:solidFill>
              <a:srgbClr val="C8283C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/ ESCALATE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agent in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Freshdesk Omni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 flipV="1">
            <a:off x="7178040" y="2926080"/>
            <a:ext cx="914" cy="731520"/>
          </a:xfrm>
          <a:prstGeom prst="line">
            <a:avLst/>
          </a:prstGeom>
          <a:noFill/>
          <a:ln w="2540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7223760" y="3063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120640"/>
            <a:ext cx="11292840" cy="960120"/>
          </a:xfrm>
          <a:prstGeom prst="roundRect">
            <a:avLst>
              <a:gd name="adj" fmla="val 9524"/>
            </a:avLst>
          </a:prstGeom>
          <a:solidFill>
            <a:srgbClr val="14213D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85800" y="512064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logged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an English private note on the Freshdesk ticket, with the utterance, language tags, negation, confidence, verdict and reason. Supervisors can audit it and it can be used for retraining.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374904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as a Freshworks Marketplace app plus an MCP tool (guard_action) that any agent can call before it acts.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FreshVoice ActionGuard · The Great Agent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84048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Customers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66751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83080"/>
            <a:ext cx="914400" cy="9144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0116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011680" y="1737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2011680" y="20116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D2C, e-commerce &amp; fintech brands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2011680" y="246888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brands with 20 to 500 support seats, on Freshdesk and Freshcaller, starting to let AI agents cancel, refund and re-address orders for Hindi- and Tamil-speaking callers.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3794760"/>
            <a:ext cx="66751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22960" y="4114800"/>
            <a:ext cx="914400" cy="914400"/>
          </a:xfrm>
          <a:prstGeom prst="ellipse">
            <a:avLst/>
          </a:prstGeom>
          <a:solidFill>
            <a:srgbClr val="2A5C8A"/>
          </a:solidFill>
          <a:ln w="12700">
            <a:solidFill>
              <a:srgbClr val="2A5C8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434340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011680" y="4069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2011680" y="43434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BPOs and support outsourcers</a:t>
            </a:r>
            <a:endParaRPr lang="en-US" sz="1900" dirty="0"/>
          </a:p>
        </p:txBody>
      </p:sp>
      <p:sp>
        <p:nvSpPr>
          <p:cNvPr id="16" name="Text 12"/>
          <p:cNvSpPr txBox="1"/>
          <p:nvPr/>
        </p:nvSpPr>
        <p:spPr>
          <a:xfrm>
            <a:off x="2011680" y="480060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run Freshworks for several Indian brands, and one wrong refund costs them a client. They want one policy layer across all their accounts.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7680960" y="1463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Actions guarded in the MVP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7680960" y="2011680"/>
            <a:ext cx="731520" cy="731520"/>
          </a:xfrm>
          <a:prstGeom prst="ellipse">
            <a:avLst/>
          </a:prstGeom>
          <a:solidFill>
            <a:srgbClr val="C8283C"/>
          </a:solidFill>
          <a:ln w="12700">
            <a:solidFill>
              <a:srgbClr val="C8283C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219456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595360" y="20116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order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8595360" y="235915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be undone once the order leaves the warehouse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7680960" y="3291840"/>
            <a:ext cx="731520" cy="731520"/>
          </a:xfrm>
          <a:prstGeom prst="ellipse">
            <a:avLst/>
          </a:prstGeom>
          <a:solidFill>
            <a:srgbClr val="C8283C"/>
          </a:solidFill>
          <a:ln w="12700">
            <a:solidFill>
              <a:srgbClr val="C8283C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347472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595360" y="32918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refund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8595360" y="363931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money, and reversing it is costly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7680960" y="4572000"/>
            <a:ext cx="731520" cy="73152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4754880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8595360" y="45720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address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8595360" y="491947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Reversible, but a wrong one means a failed delivery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FreshVoice ActionGuard · The Great Agent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84048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Proposition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109960" cy="1143000"/>
          </a:xfrm>
          <a:prstGeom prst="roundRect">
            <a:avLst>
              <a:gd name="adj" fmla="val 8000"/>
            </a:avLst>
          </a:prstGeom>
          <a:solidFill>
            <a:srgbClr val="14213D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41732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 your AI agent take real actions for Indian callers without cancelling or refunding when the caller said “don't”. Only the calls that need it get a question.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5440680" cy="3291840"/>
          </a:xfrm>
          <a:prstGeom prst="roundRect">
            <a:avLst>
              <a:gd name="adj" fmla="val 2778"/>
            </a:avLst>
          </a:prstGeom>
          <a:solidFill>
            <a:srgbClr val="FBE4E7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017520"/>
            <a:ext cx="411480" cy="411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71600" y="29992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8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ActionGuard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611880"/>
            <a:ext cx="4937760" cy="2377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acts on its first guess at the intent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dropped “mat” leads to a cancelled order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safe fallback is confirming every action, so callers get annoyed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 of why the bot acted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217920" y="2834640"/>
            <a:ext cx="5440680" cy="3291840"/>
          </a:xfrm>
          <a:prstGeom prst="roundRect">
            <a:avLst>
              <a:gd name="adj" fmla="val 2778"/>
            </a:avLst>
          </a:prstGeom>
          <a:solidFill>
            <a:srgbClr val="E1F3EC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0175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040880" y="29992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8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ActionGuard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6492240" y="3611880"/>
            <a:ext cx="4937760" cy="2377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negation in every language before any irreversible action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requests go to the action the caller actually asked for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only when the action is risky and we're unsure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audit note on every Freshdesk ticket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FreshVoice ActionGuard · The Great Agent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84048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 &amp; Packaging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04241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Proposed. We only charge for the actions we actually guard.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3291840" cy="4023360"/>
          </a:xfrm>
          <a:prstGeom prst="roundRect">
            <a:avLst>
              <a:gd name="adj" fmla="val 2778"/>
            </a:avLst>
          </a:prstGeom>
          <a:solidFill>
            <a:srgbClr val="E9EDF3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09728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4231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Freddy AI Agent customer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3657600"/>
            <a:ext cx="2788920" cy="201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mode: flags risky actions, never blocks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+ English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wrong-action report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80560" y="1554480"/>
            <a:ext cx="3291840" cy="4434840"/>
          </a:xfrm>
          <a:prstGeom prst="roundRect">
            <a:avLst>
              <a:gd name="adj" fmla="val 2778"/>
            </a:avLst>
          </a:prstGeom>
          <a:solidFill>
            <a:srgbClr val="14213D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754880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ActionGuard Add-on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21945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2971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1,000 guarded actions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3429000"/>
            <a:ext cx="2788920" cy="2423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ALLOW / CONFIRM / BLOCK gate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MVP languages + re-route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notes on every ticket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30 days free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38160" y="1783080"/>
            <a:ext cx="3291840" cy="4023360"/>
          </a:xfrm>
          <a:prstGeom prst="roundRect">
            <a:avLst>
              <a:gd name="adj" fmla="val 2778"/>
            </a:avLst>
          </a:prstGeom>
          <a:solidFill>
            <a:srgbClr val="E9EDF3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1248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24231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</a:t>
            </a:r>
            <a:endParaRPr lang="en-US" sz="44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contract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3657600"/>
            <a:ext cx="2788920" cy="201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policies for each action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language packs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+ data residency in India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FreshVoice ActionGuard · The Great Agent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84048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Go-to-Market Plan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097280" y="2148840"/>
            <a:ext cx="10012680" cy="0"/>
          </a:xfrm>
          <a:prstGeom prst="line">
            <a:avLst/>
          </a:prstGeom>
          <a:noFill/>
          <a:ln w="38100">
            <a:solidFill>
              <a:srgbClr val="B8C2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14213D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463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77240" y="2926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partners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38328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Indian D2C brands already on Freshdesk + Freshcaller run a free pilot in monitor mode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0" y="1828800"/>
            <a:ext cx="640080" cy="640080"/>
          </a:xfrm>
          <a:prstGeom prst="ellipse">
            <a:avLst/>
          </a:prstGeom>
          <a:solidFill>
            <a:srgbClr val="14213D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5760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1463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Q1–Q2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83280" y="274320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3611880" y="2926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611880" y="338328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wrong-action numbers from the pilot, plus a 60-second Hinglish + Tanglish demo video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92240" y="1828800"/>
            <a:ext cx="640080" cy="640080"/>
          </a:xfrm>
          <a:prstGeom prst="ellipse">
            <a:avLst/>
          </a:prstGeom>
          <a:solidFill>
            <a:srgbClr val="F4A30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9224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1463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274320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446520" y="2926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338328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Freshworks Marketplace listing, in-app banner for Freddy AI Agent voice admins, and email with a 30-day trial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326880" y="1828800"/>
            <a:ext cx="640080" cy="640080"/>
          </a:xfrm>
          <a:prstGeom prst="ellipse">
            <a:avLst/>
          </a:prstGeom>
          <a:solidFill>
            <a:srgbClr val="14213D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32688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098280" y="1463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Q3+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052560" y="274320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9281160" y="2926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9281160" y="338328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alongside Freddy AI Agent deals in India and SEA, with a BPO partner program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monitor mode shows each customer their own wrong-action count, and that report is what sells the paid add-on.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FreshVoice ActionGuard · The Great Agent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84048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Costs &amp; Resources Needed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685800" cy="6858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" y="1634490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48132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engineers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18105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engine + Freshworks app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423160"/>
            <a:ext cx="685800" cy="6858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90" y="259461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71600" y="24414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linguist / data annotator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371600" y="27706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+ Tamil negation set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383280"/>
            <a:ext cx="685800" cy="6858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3554730"/>
            <a:ext cx="342900" cy="3429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371600" y="34015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Part-time PM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371600" y="37307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pilots + pricing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48640" y="4617720"/>
            <a:ext cx="4114800" cy="1508760"/>
          </a:xfrm>
          <a:prstGeom prst="roundRect">
            <a:avLst>
              <a:gd name="adj" fmla="val 6061"/>
            </a:avLst>
          </a:prstGeom>
          <a:solidFill>
            <a:srgbClr val="14213D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777240" y="46634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~$70K</a:t>
            </a:r>
            <a:endParaRPr lang="en-US" sz="4000" dirty="0"/>
          </a:p>
        </p:txBody>
      </p:sp>
      <p:sp>
        <p:nvSpPr>
          <p:cNvPr id="19" name="Text 14"/>
          <p:cNvSpPr txBox="1"/>
          <p:nvPr/>
        </p:nvSpPr>
        <p:spPr>
          <a:xfrm>
            <a:off x="777240" y="53492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MVP in 3 months: salaries, speech-to-text and LLM usage, and labelling ~5,000 negation utterances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521208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timeline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7589520" y="1920240"/>
            <a:ext cx="134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8930640" y="1920240"/>
            <a:ext cx="134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10271760" y="1920240"/>
            <a:ext cx="134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5212080" y="2203704"/>
            <a:ext cx="6400800" cy="475488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5303520" y="224028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 dataset + lexicon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7589520" y="2304288"/>
            <a:ext cx="1609344" cy="274320"/>
          </a:xfrm>
          <a:prstGeom prst="roundRect">
            <a:avLst>
              <a:gd name="adj" fmla="val 26667"/>
            </a:avLst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212080" y="2660904"/>
            <a:ext cx="6400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5303520" y="269748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Polarity + risk engine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8260080" y="2761488"/>
            <a:ext cx="2011680" cy="274320"/>
          </a:xfrm>
          <a:prstGeom prst="roundRect">
            <a:avLst>
              <a:gd name="adj" fmla="val 2666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5212080" y="3118104"/>
            <a:ext cx="6400800" cy="475488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5303520" y="315468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confidence wiring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8930640" y="3218688"/>
            <a:ext cx="1341120" cy="274320"/>
          </a:xfrm>
          <a:prstGeom prst="roundRect">
            <a:avLst>
              <a:gd name="adj" fmla="val 2666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5212080" y="3575304"/>
            <a:ext cx="6400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5303520" y="361188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Freshdesk / Freddy integration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9332976" y="3675888"/>
            <a:ext cx="2011680" cy="274320"/>
          </a:xfrm>
          <a:prstGeom prst="roundRect">
            <a:avLst>
              <a:gd name="adj" fmla="val 26667"/>
            </a:avLst>
          </a:prstGeom>
          <a:solidFill>
            <a:srgbClr val="2A5C8A"/>
          </a:solidFill>
          <a:ln w="12700">
            <a:solidFill>
              <a:srgbClr val="2A5C8A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5212080" y="4032504"/>
            <a:ext cx="6400800" cy="475488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5303520" y="406908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Design-partner pilot + tuning</a:t>
            </a:r>
            <a:endParaRPr lang="en-US" sz="1200" dirty="0"/>
          </a:p>
        </p:txBody>
      </p:sp>
      <p:sp>
        <p:nvSpPr>
          <p:cNvPr id="38" name="Shape 33"/>
          <p:cNvSpPr/>
          <p:nvPr/>
        </p:nvSpPr>
        <p:spPr>
          <a:xfrm>
            <a:off x="10271760" y="4133088"/>
            <a:ext cx="1341120" cy="274320"/>
          </a:xfrm>
          <a:prstGeom prst="roundRect">
            <a:avLst>
              <a:gd name="adj" fmla="val 26667"/>
            </a:avLst>
          </a:prstGeom>
          <a:solidFill>
            <a:srgbClr val="1F8A63"/>
          </a:solidFill>
          <a:ln w="12700">
            <a:solidFill>
              <a:srgbClr val="1F8A63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5212080" y="4617720"/>
            <a:ext cx="6400800" cy="1508760"/>
          </a:xfrm>
          <a:prstGeom prst="roundRect">
            <a:avLst>
              <a:gd name="adj" fmla="val 6061"/>
            </a:avLst>
          </a:prstGeom>
          <a:solidFill>
            <a:srgbClr val="F4F6F9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Text 35"/>
          <p:cNvSpPr txBox="1"/>
          <p:nvPr/>
        </p:nvSpPr>
        <p:spPr>
          <a:xfrm>
            <a:off x="5440680" y="4663440"/>
            <a:ext cx="5943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ARR estimate (assumption-based)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paying customers × 20,000 guarded actions / month × $5 per 1,000 = $10K MRR, or about </a:t>
            </a:r>
            <a:pPr indent="0" marL="0">
              <a:buNone/>
            </a:pPr>
            <a:r>
              <a:rPr lang="en-US" sz="130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$120K ARR in Year 1</a:t>
            </a:r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Every number here is an assumption to test in the pilot.</a:t>
            </a:r>
            <a:endParaRPr lang="en-US" sz="1300" dirty="0"/>
          </a:p>
        </p:txBody>
      </p:sp>
      <p:sp>
        <p:nvSpPr>
          <p:cNvPr id="41" name="Text 3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FreshVoice ActionGuard · The Great Agent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84048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Benefits &amp; Success Metrics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0632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6002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8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0.5%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774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actions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974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irreversible actions taken on a held-out set of negated Hindi + Tamil requests (today our engine misroutes them)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94760" y="1463040"/>
            <a:ext cx="30632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023360" y="16002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15%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23774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rate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26974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budget: at most 15% of guarded actions trigger a read-back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30632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77240" y="39776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8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−30%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754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Reversal tickets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50749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refund or cancellation reversal tickets at pilot customers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94760" y="3840480"/>
            <a:ext cx="30632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023360" y="39776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A5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3800" dirty="0"/>
          </a:p>
        </p:txBody>
      </p:sp>
      <p:sp>
        <p:nvSpPr>
          <p:cNvPr id="19" name="Text 17"/>
          <p:cNvSpPr txBox="1"/>
          <p:nvPr/>
        </p:nvSpPr>
        <p:spPr>
          <a:xfrm>
            <a:off x="4023360" y="4754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023360" y="50749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eligible Freddy AI Agent voice customers turn it on within 2 quarters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269480" y="1463040"/>
            <a:ext cx="4389120" cy="452628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22" name="Chart 0" descr=""/>
          <p:cNvGraphicFramePr/>
          <p:nvPr/>
        </p:nvGraphicFramePr>
        <p:xfrm>
          <a:off x="7406640" y="1554480"/>
          <a:ext cx="411480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Text 2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FreshVoice ActionGuard · The Great Agent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84048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&amp; Assumptions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1508760"/>
            <a:ext cx="2103120" cy="2103120"/>
          </a:xfrm>
          <a:prstGeom prst="rect">
            <a:avLst/>
          </a:prstGeom>
          <a:solidFill>
            <a:srgbClr val="FFF4D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0" y="1508760"/>
            <a:ext cx="2103120" cy="2103120"/>
          </a:xfrm>
          <a:prstGeom prst="rect">
            <a:avLst/>
          </a:prstGeom>
          <a:solidFill>
            <a:srgbClr val="FBE4E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611880"/>
            <a:ext cx="2103120" cy="2103120"/>
          </a:xfrm>
          <a:prstGeom prst="rect">
            <a:avLst/>
          </a:prstGeom>
          <a:solidFill>
            <a:srgbClr val="E1F3E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3611880"/>
            <a:ext cx="2103120" cy="2103120"/>
          </a:xfrm>
          <a:prstGeom prst="rect">
            <a:avLst/>
          </a:prstGeom>
          <a:solidFill>
            <a:srgbClr val="FFF4D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5760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→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 rot="16200000">
            <a:off x="-1463040" y="3474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→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29507" y="2075688"/>
            <a:ext cx="548640" cy="548640"/>
          </a:xfrm>
          <a:prstGeom prst="ellipse">
            <a:avLst/>
          </a:prstGeom>
          <a:solidFill>
            <a:srgbClr val="1421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29507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156509" y="3968496"/>
            <a:ext cx="548640" cy="548640"/>
          </a:xfrm>
          <a:prstGeom prst="ellipse">
            <a:avLst/>
          </a:prstGeom>
          <a:solidFill>
            <a:srgbClr val="1421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156509" y="39684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810512" y="2496312"/>
            <a:ext cx="548640" cy="548640"/>
          </a:xfrm>
          <a:prstGeom prst="ellipse">
            <a:avLst/>
          </a:prstGeom>
          <a:solidFill>
            <a:srgbClr val="1421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810512" y="24963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020824" y="4178808"/>
            <a:ext cx="548640" cy="548640"/>
          </a:xfrm>
          <a:prstGeom prst="ellipse">
            <a:avLst/>
          </a:prstGeom>
          <a:solidFill>
            <a:srgbClr val="1421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020824" y="4178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577840" y="1463040"/>
            <a:ext cx="6080760" cy="1033272"/>
          </a:xfrm>
          <a:prstGeom prst="roundRect">
            <a:avLst>
              <a:gd name="adj" fmla="val 8850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806440" y="15544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· Speech-to-text drops the negation completely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806440" y="1920240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for irreversible actions, low confidence on a short word, or a missing word where one is expected, sends the call to CONFIRM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77840" y="2633472"/>
            <a:ext cx="6080760" cy="1033272"/>
          </a:xfrm>
          <a:prstGeom prst="roundRect">
            <a:avLst>
              <a:gd name="adj" fmla="val 8850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5806440" y="272491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· Too many confirmations annoy callers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806440" y="3090672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15% friction budget, and only irreversible actions are guarded. We tune the threshold in the pilot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577840" y="3803904"/>
            <a:ext cx="6080760" cy="1033272"/>
          </a:xfrm>
          <a:prstGeom prst="roundRect">
            <a:avLst>
              <a:gd name="adj" fmla="val 8850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5806440" y="389534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· Dialects and spellings (vendaam, venaam, matt)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806440" y="4261104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lexicon plus LLM fallback, and every human override is added to the training set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577840" y="4974336"/>
            <a:ext cx="6080760" cy="1033272"/>
          </a:xfrm>
          <a:prstGeom prst="roundRect">
            <a:avLst>
              <a:gd name="adj" fmla="val 8850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5806440" y="506577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 · Assumption: callers accept a read-back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806440" y="5431536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their own language. We validate with pilot CSAT, and an English read-back is the fallback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FreshVoice ActionGuard · The Great Agent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914400"/>
            <a:ext cx="1005840" cy="1005840"/>
          </a:xfrm>
          <a:prstGeom prst="ellipse">
            <a:avLst/>
          </a:prstGeom>
          <a:solidFill>
            <a:srgbClr val="1F3057"/>
          </a:solidFill>
          <a:ln w="12700">
            <a:solidFill>
              <a:srgbClr val="1F305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165860"/>
            <a:ext cx="502920" cy="502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1488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“Don't cancel” should mean don't cancel.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108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ActionGuard lets AI agents act for India's code-mixed callers and stops them acting on a word they misheard.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731520" y="4251960"/>
            <a:ext cx="5120640" cy="1280160"/>
          </a:xfrm>
          <a:prstGeom prst="roundRect">
            <a:avLst>
              <a:gd name="adj" fmla="val 7143"/>
            </a:avLst>
          </a:prstGeom>
          <a:solidFill>
            <a:srgbClr val="1F3057"/>
          </a:solidFill>
          <a:ln w="12700">
            <a:solidFill>
              <a:srgbClr val="1F305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05840" y="4389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ASK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47091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Freshworks sandbox with Freddy AI Agent + Freshcaller for a 3-brand pilot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217920" y="4251960"/>
            <a:ext cx="5120640" cy="1280160"/>
          </a:xfrm>
          <a:prstGeom prst="roundRect">
            <a:avLst>
              <a:gd name="adj" fmla="val 7143"/>
            </a:avLst>
          </a:prstGeom>
          <a:solidFill>
            <a:srgbClr val="1F3057"/>
          </a:solidFill>
          <a:ln w="12700">
            <a:solidFill>
              <a:srgbClr val="1F305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92240" y="4389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TODAY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492240" y="47091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codemix-skill.vercel.app: the Round-1 engine that ActionGuard builds on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Ramanathan &amp; Sadhana  ·  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FreshVoice ActionGuard — Business Case</dc:title>
  <dc:subject>PptxGenJS Presentation</dc:subject>
  <dc:creator>Team Ramanathan &amp; Sadhana</dc:creator>
  <cp:lastModifiedBy>Team Ramanathan &amp; Sadhana</cp:lastModifiedBy>
  <cp:revision>1</cp:revision>
  <dcterms:created xsi:type="dcterms:W3CDTF">2026-09-25T17:58:59Z</dcterms:created>
  <dcterms:modified xsi:type="dcterms:W3CDTF">2026-09-25T17:58:59Z</dcterms:modified>
</cp:coreProperties>
</file>