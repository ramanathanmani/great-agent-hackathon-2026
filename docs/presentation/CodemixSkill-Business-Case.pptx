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2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Calibri"/>
              </a:rPr>
              <a:t>Target budget per stage (ms)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 ms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Speech-to-text (Sarvam AI)</c:v>
                  </c:pt>
                  <c:pt idx="1">
                    <c:v>Language tagging (our engine)</c:v>
                  </c:pt>
                  <c:pt idx="2">
                    <c:v>Intent + negation (Claude)</c:v>
                  </c:pt>
                  <c:pt idx="3">
                    <c:v>Safety-gate decision</c:v>
                  </c:pt>
                  <c:pt idx="4">
                    <c:v>Voice reply (ElevenLabs)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250</c:v>
                </c:pt>
                <c:pt idx="1">
                  <c:v>5</c:v>
                </c:pt>
                <c:pt idx="2">
                  <c:v>400</c:v>
                </c:pt>
                <c:pt idx="3">
                  <c:v>10</c:v>
                </c:pt>
                <c:pt idx="4">
                  <c:v>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8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Calibri"/>
              </a:rPr>
              <a:t>Target mix of guarded actions (%)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Target decision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8A63"/>
              </a:solidFill>
              <a:effectLst/>
            </c:spPr>
          </c:dPt>
          <c:dPt>
            <c:idx val="1"/>
            <c:bubble3D val="0"/>
            <c:spPr>
              <a:solidFill>
                <a:srgbClr val="F4A300"/>
              </a:solidFill>
              <a:effectLst/>
            </c:spPr>
          </c:dPt>
          <c:dPt>
            <c:idx val="2"/>
            <c:bubble3D val="0"/>
            <c:spPr>
              <a:solidFill>
                <a:srgbClr val="C8283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ALLOW</c:v>
                </c:pt>
                <c:pt idx="1">
                  <c:v>CONFIRM</c:v>
                </c:pt>
                <c:pt idx="2">
                  <c:v>BLOCK / re-route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80</c:v>
                </c:pt>
                <c:pt idx="1">
                  <c:v>15</c:v>
                </c:pt>
                <c:pt idx="2">
                  <c:v>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sentence. It means 'don't cancel the order, just change the address'. Today an AI agent can hear 'cancel' and do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Name, owner, and the core idea: every irreversible tool call passes through a gate with three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has it: every brand putting an AI agent with write-access in front of Indian callers. Why it hurts: the mistake is a transaction, not a bad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Path B is reproducible today: run analyseOffline() on the Hindi sentence in codemix.js and it returns cancellation_refund. The Tamil sentence comes back as damaged_item, which also ignores 'vendam'.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flow left to right: VoBiz takes the call, Sarvam transcribes code-mixed speech, Claude validates intent and negation, the safety gate decides. Only YES reaches Dodo Payments. NO or angry callers become a Freshworks ticket. ElevenLabs speaks every reply.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Plus our own Codemix Skill engine: it tags each word's language and spots negation words in under 5 ms, before Claude is called.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Freshdesk integration is real code in the repo (api/create-ticket.js): it posts to /api/v2/tickets with an English subject, summary, recommended action, the reply in the caller's mix, the original transcript, priority mapped from P1-P3, source Phone, and language tags. The safety-gate verdict field is the Round 2 addition.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checks, in order: how risky the action is, whether the caller negated it, and how confident we are in the transcript. Only the last branch adds a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Chip colors: blue = English, grey = Hindi or Tamil, red = negation. The Tamil example shows the confidence branch: the word is probably 'vendam', but it's too low-confidence to issue money without asking.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design targets, not measurements. The offline engine already runs in microseconds (register metrics measured at ~546 ns per call in decision-policy/), so the plug-in's own checks are a small part of the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irreversible or money-moving tool calls count as guarded actions, so the price tracks the risk removed. The free monitor mode is the upsell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wrong-action metric is measurable today: our Round-1 engine gives a baseline on the negation set. Latency, confirmation rate and decision mix are design targets.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GREAT AGENT HACKATHON 2026  ·  ROUND 2 BUSINESS CASE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Codemix Skill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377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intent-validation safety gate for AI voice agents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429000"/>
            <a:ext cx="384048" cy="384048"/>
          </a:xfrm>
          <a:prstGeom prst="ellipse">
            <a:avLst/>
          </a:prstGeom>
          <a:solidFill>
            <a:srgbClr val="1F8A63"/>
          </a:solidFill>
          <a:ln w="12700">
            <a:solidFill>
              <a:srgbClr val="1F8A6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07008" y="3429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34640" y="3429000"/>
            <a:ext cx="384048" cy="38404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10128" y="3429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37760" y="3429000"/>
            <a:ext cx="384048" cy="384048"/>
          </a:xfrm>
          <a:prstGeom prst="ellipse">
            <a:avLst/>
          </a:prstGeom>
          <a:solidFill>
            <a:srgbClr val="C8283C"/>
          </a:solidFill>
          <a:ln w="12700">
            <a:solidFill>
              <a:srgbClr val="C828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13248" y="3429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“Order cancel </a:t>
            </a:r>
            <a:pPr indent="0" marL="0">
              <a:buNone/>
            </a:pPr>
            <a:r>
              <a:rPr lang="en-US" sz="2200" b="1" i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</a:t>
            </a:r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karo, bas address change karna hai.”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800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sit between what the voice agent hears and what it is allowed to do.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Ramanathan &amp; Sadhana  ·  Track 1: Customer &amp; Employee Experience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Initiative Overview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5727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4708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safety gate between what an AI voice agent hears and what it is allowed to do, for code-mixed Indian callers.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3035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31012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Ramanathan &amp; Sadhana, builders of Codemix Skill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389120"/>
            <a:ext cx="51206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44988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7731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Round-1 code-mix engine + MCP server, live at codemix-skill.vercel.app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463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05740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agent wants to act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refund(order 48211)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0" y="2514600"/>
            <a:ext cx="502920" cy="914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8915400" y="19202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4213D"/>
          </a:solidFill>
          <a:ln w="12700">
            <a:solidFill>
              <a:srgbClr val="14213D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safety gate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checks intent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negation first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flipH="1">
            <a:off x="7132320" y="3108960"/>
            <a:ext cx="3108960" cy="777240"/>
          </a:xfrm>
          <a:prstGeom prst="line">
            <a:avLst/>
          </a:prstGeom>
          <a:noFill/>
          <a:ln w="19050">
            <a:solidFill>
              <a:srgbClr val="B8C2D0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6309360" y="3931920"/>
            <a:ext cx="1645920" cy="1188720"/>
          </a:xfrm>
          <a:prstGeom prst="roundRect">
            <a:avLst>
              <a:gd name="adj" fmla="val 6154"/>
            </a:avLst>
          </a:prstGeom>
          <a:solidFill>
            <a:srgbClr val="E1F3EC"/>
          </a:solidFill>
          <a:ln w="12700">
            <a:solidFill>
              <a:srgbClr val="1F8A6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3977640"/>
            <a:ext cx="155448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and log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 flipH="1">
            <a:off x="8961120" y="3108960"/>
            <a:ext cx="1280160" cy="777240"/>
          </a:xfrm>
          <a:prstGeom prst="line">
            <a:avLst/>
          </a:prstGeom>
          <a:noFill/>
          <a:ln w="19050">
            <a:solidFill>
              <a:srgbClr val="B8C2D0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8138160" y="3931920"/>
            <a:ext cx="1645920" cy="1188720"/>
          </a:xfrm>
          <a:prstGeom prst="roundRect">
            <a:avLst>
              <a:gd name="adj" fmla="val 6154"/>
            </a:avLst>
          </a:prstGeom>
          <a:solidFill>
            <a:srgbClr val="FFF4DA"/>
          </a:solidFill>
          <a:ln w="12700">
            <a:solidFill>
              <a:srgbClr val="F4A3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183880" y="3977640"/>
            <a:ext cx="155448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back in caller's language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241280" y="3108960"/>
            <a:ext cx="548640" cy="777240"/>
          </a:xfrm>
          <a:prstGeom prst="line">
            <a:avLst/>
          </a:prstGeom>
          <a:noFill/>
          <a:ln w="19050">
            <a:solidFill>
              <a:srgbClr val="B8C2D0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9966960" y="3931920"/>
            <a:ext cx="1645920" cy="1188720"/>
          </a:xfrm>
          <a:prstGeom prst="roundRect">
            <a:avLst>
              <a:gd name="adj" fmla="val 6154"/>
            </a:avLst>
          </a:prstGeom>
          <a:solidFill>
            <a:srgbClr val="FBE4E7"/>
          </a:solidFill>
          <a:ln w="12700">
            <a:solidFill>
              <a:srgbClr val="C8283C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012680" y="3977640"/>
            <a:ext cx="155448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Stop; confirm or open a Freshworks ticket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53492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actions go straight through. We only ask a question when the action is irreversible and we aren't sure.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4241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 agents now do things, and code-mixed speech is where they will get it wrong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5212080" cy="420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 agents no longer just answer questions. They cancel orders, issue refunds and change addresses on their own.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callers mix languages mid-sentence, and the meaning often hangs on one small negation word: mat, nahi, vendam, vaddu.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phone audio, that short word is exactly what speech-to-text mishears or drops.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then takes the opposite action. It can't be undone, and it costs refunds, reshipping and customer trust.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46520" y="1691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NEGATION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961120" y="16916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order cancelled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cancel </a:t>
            </a:r>
            <a:pPr indent="0" marL="0">
              <a:buNone/>
            </a:pPr>
            <a:r>
              <a:rPr lang="en-US" sz="1700" b="1" i="1" u="sng" dirty="0">
                <a:solidFill>
                  <a:srgbClr val="C8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</a:t>
            </a:r>
            <a:pPr indent="0" marL="0">
              <a:buNone/>
            </a:pPr>
            <a:r>
              <a:rPr lang="en-US" sz="1700" i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karo, bas address change karna hai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4414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don't cancel, just change the address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3081528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46520" y="3172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NEGATION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0" y="31729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refund issued, no replacement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4472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Refund </a:t>
            </a:r>
            <a:pPr indent="0" marL="0">
              <a:buNone/>
            </a:pPr>
            <a:r>
              <a:rPr lang="en-US" sz="1700" b="1" i="1" u="sng" dirty="0">
                <a:solidFill>
                  <a:srgbClr val="C8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vendam</a:t>
            </a:r>
            <a:pPr indent="0" marL="0">
              <a:buNone/>
            </a:pPr>
            <a:r>
              <a:rPr lang="en-US" sz="1700" i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replacement anuppunga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9227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I don't want a refund, send a replacement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4562856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46520" y="46542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DROP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0" y="46542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confident wrong action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92861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Heard: “Order cancel </a:t>
            </a:r>
            <a:pPr indent="0" marL="0">
              <a:buNone/>
            </a:pPr>
            <a:r>
              <a:rPr lang="en-US" sz="1700" b="1" i="1" u="sng" dirty="0">
                <a:solidFill>
                  <a:srgbClr val="C8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___</a:t>
            </a:r>
            <a:pPr indent="0" marL="0">
              <a:buNone/>
            </a:pPr>
            <a:r>
              <a:rPr lang="en-US" sz="1700" i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karo…”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54041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negation is lost on a noisy line, so the sentence now means the opposite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Breaks Today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4241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the same sentence becomes the wrong action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9903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A: speech-to-text drops the negation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8308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says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“Order cancel mat karo, bas address change karna hai”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468880" y="2400300"/>
            <a:ext cx="420624" cy="914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2889504" y="178308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4DA"/>
          </a:solidFill>
          <a:ln w="12700">
            <a:solidFill>
              <a:srgbClr val="F4A3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“Order cancel ___ karo, bas address change…”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64024" y="2400300"/>
            <a:ext cx="420624" cy="914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5184648" y="178308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model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cancel_order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 confidence)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59168" y="2400300"/>
            <a:ext cx="420624" cy="914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7479792" y="178308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 tool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cancel_order(48211)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354312" y="2400300"/>
            <a:ext cx="420624" cy="914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9774936" y="178308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BE4E7"/>
          </a:solidFill>
          <a:ln w="12700">
            <a:solidFill>
              <a:srgbClr val="C8283C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cancelled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be undone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41071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B: transcript is right, but the model ignores “mat”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37947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says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“Order cancel mat karo, bas address change karna hai”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468880" y="4411980"/>
            <a:ext cx="420624" cy="914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2889504" y="37947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transcript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64024" y="4411980"/>
            <a:ext cx="420624" cy="914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5184648" y="37947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intent model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“order” + “cancel”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cancellation_refund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059168" y="4411980"/>
            <a:ext cx="420624" cy="914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7479792" y="37947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 tool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cancel_order(48211)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354312" y="4411980"/>
            <a:ext cx="420624" cy="914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9774936" y="37947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BE4E7"/>
          </a:solidFill>
          <a:ln w="12700">
            <a:solidFill>
              <a:srgbClr val="C8283C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cancelled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be undone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4360" y="5440680"/>
            <a:ext cx="11018520" cy="731520"/>
          </a:xfrm>
          <a:prstGeom prst="roundRect">
            <a:avLst>
              <a:gd name="adj" fmla="val 12500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22960" y="5440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hypothetical: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Round-1 Codemix Skill engine classifies “Order cancel mat karo, bas address change karna hai” as cancellation_refund.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474720" cy="42976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83080"/>
            <a:ext cx="822960" cy="822960"/>
          </a:xfrm>
          <a:prstGeom prst="ellipse">
            <a:avLst/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9888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2788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now have write access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56616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agents, tool calling and MCP let a bot cancel, refund or re-address an order directly. A misunderstanding used to produce a bad answer. Now it produces a bad transaction.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97680" y="1508760"/>
            <a:ext cx="3474720" cy="42976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1783080"/>
            <a:ext cx="822960" cy="822960"/>
          </a:xfrm>
          <a:prstGeom prst="ellipse">
            <a:avLst/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19888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0" y="2788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Code-mixed voice is normal in India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56616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Hinglish and Tanglish callers switch language inside a sentence. Codemix Skill already handles the switching, and negation is the gap we measured in our own engine.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046720" y="1508760"/>
            <a:ext cx="3474720" cy="42976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21040" y="1783080"/>
            <a:ext cx="822960" cy="822960"/>
          </a:xfrm>
          <a:prstGeom prst="ellipse">
            <a:avLst/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780" y="19888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21040" y="2788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Indian voice stack is ready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356616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AI transcribes code-mixed Indian speech, Claude can reason about intent and negation in real time, and ElevenLabs speaks naturally in the caller's mix. Checking every sensitive action is now affordable.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Landscape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51560" y="1554480"/>
            <a:ext cx="4206240" cy="4206240"/>
          </a:xfrm>
          <a:prstGeom prst="rect">
            <a:avLst/>
          </a:prstGeom>
          <a:solidFill>
            <a:srgbClr val="F7F9FB"/>
          </a:solidFill>
          <a:ln w="12700">
            <a:solidFill>
              <a:srgbClr val="B8C2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54680" y="1554480"/>
            <a:ext cx="2103120" cy="2103120"/>
          </a:xfrm>
          <a:prstGeom prst="rect">
            <a:avLst/>
          </a:prstGeom>
          <a:solidFill>
            <a:srgbClr val="E1F3EC"/>
          </a:solidFill>
          <a:ln w="12700">
            <a:solidFill>
              <a:srgbClr val="B8C2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3657600"/>
            <a:ext cx="4206240" cy="0"/>
          </a:xfrm>
          <a:prstGeom prst="line">
            <a:avLst/>
          </a:prstGeom>
          <a:noFill/>
          <a:ln w="12700">
            <a:solidFill>
              <a:srgbClr val="B8C2D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154680" y="1554480"/>
            <a:ext cx="0" cy="4206240"/>
          </a:xfrm>
          <a:prstGeom prst="line">
            <a:avLst/>
          </a:prstGeom>
          <a:noFill/>
          <a:ln w="12700">
            <a:solidFill>
              <a:srgbClr val="B8C2D0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1051560" y="58338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code-mixed negation →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 rot="16200000">
            <a:off x="-1325880" y="3520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checks to action risk 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46581" y="5146243"/>
            <a:ext cx="219456" cy="21945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39189" y="5109667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nothing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530706" y="3421685"/>
            <a:ext cx="219456" cy="219456"/>
          </a:xfrm>
          <a:prstGeom prst="ellipse">
            <a:avLst/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23314" y="3385109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Confirm-everything IVR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19579" y="2706624"/>
            <a:ext cx="219456" cy="219456"/>
          </a:xfrm>
          <a:prstGeom prst="ellipse">
            <a:avLst/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12187" y="26700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LLM guardrails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22699" y="4809744"/>
            <a:ext cx="219456" cy="219456"/>
          </a:xfrm>
          <a:prstGeom prst="ellipse">
            <a:avLst/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85339" y="47731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 voice bots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61104" y="2072030"/>
            <a:ext cx="310896" cy="310896"/>
          </a:xfrm>
          <a:prstGeom prst="ellipse">
            <a:avLst/>
          </a:prstGeom>
          <a:solidFill>
            <a:srgbClr val="F4A300"/>
          </a:solidFill>
          <a:ln w="25400">
            <a:solidFill>
              <a:srgbClr val="1421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23744" y="208117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89788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818120" y="1463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06440" y="1828800"/>
            <a:ext cx="5897880" cy="758952"/>
          </a:xfrm>
          <a:prstGeom prst="roundRect">
            <a:avLst>
              <a:gd name="adj" fmla="val 7229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897880" y="1828800"/>
            <a:ext cx="1828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LLM guardrails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818120" y="1828800"/>
            <a:ext cx="17830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at policy, toxicity and PII filters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692640" y="1828800"/>
            <a:ext cx="2011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tell that “mat” flips “cancel”, and ignores speech-to-text confidence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06440" y="2679192"/>
            <a:ext cx="589788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897880" y="2679192"/>
            <a:ext cx="1828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Confirm-everything IVR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818120" y="2679192"/>
            <a:ext cx="17830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Safe: “press 1 to confirm”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692640" y="2679192"/>
            <a:ext cx="2011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friction to every action, so callers drop off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06440" y="3529584"/>
            <a:ext cx="5897880" cy="758952"/>
          </a:xfrm>
          <a:prstGeom prst="roundRect">
            <a:avLst>
              <a:gd name="adj" fmla="val 7229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897880" y="3529584"/>
            <a:ext cx="1828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 voice-bot platforms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818120" y="3529584"/>
            <a:ext cx="17830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Indian-language speech recognition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9692640" y="3529584"/>
            <a:ext cx="2011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safety isn't their layer. Tool calls fire unchecked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806440" y="4379976"/>
            <a:ext cx="589788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897880" y="4379976"/>
            <a:ext cx="1828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nothing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7818120" y="4379976"/>
            <a:ext cx="17830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effort and zero latency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9692640" y="4379976"/>
            <a:ext cx="2011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refunds and cancellations, and customers lose trust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806440" y="5303520"/>
            <a:ext cx="5897880" cy="777240"/>
          </a:xfrm>
          <a:prstGeom prst="roundRect">
            <a:avLst>
              <a:gd name="adj" fmla="val 11765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5989320" y="530352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edge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intent-validation gate between what the voice agent hears and what it can do, with a Freshworks ticket for anything unsafe.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Solution: the Safety Gate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4241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sensitive action passes a safety check between what the voice agent hears and what it does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8308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57400" y="2286000"/>
            <a:ext cx="365760" cy="914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2423160" y="178308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E4EDF6"/>
          </a:solidFill>
          <a:ln w="12700">
            <a:solidFill>
              <a:srgbClr val="E4EDF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VoBiz 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line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23360" y="2286000"/>
            <a:ext cx="365760" cy="914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4389120" y="178308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E4EDF6"/>
          </a:solidFill>
          <a:ln w="12700">
            <a:solidFill>
              <a:srgbClr val="E4EDF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→ text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9320" y="2286000"/>
            <a:ext cx="365760" cy="914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6355080" y="178308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14213D"/>
          </a:solidFill>
          <a:ln w="12700">
            <a:solidFill>
              <a:srgbClr val="14213D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+ negation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55280" y="2286000"/>
            <a:ext cx="365760" cy="914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8321040" y="1554480"/>
            <a:ext cx="2103120" cy="1463040"/>
          </a:xfrm>
          <a:prstGeom prst="diamond">
            <a:avLst/>
          </a:prstGeom>
          <a:solidFill>
            <a:srgbClr val="F4A300"/>
          </a:solidFill>
          <a:ln>
            <a:solidFill>
              <a:srgbClr val="F4A3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act?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flipH="1">
            <a:off x="6172200" y="3017520"/>
            <a:ext cx="3200400" cy="640080"/>
          </a:xfrm>
          <a:prstGeom prst="line">
            <a:avLst/>
          </a:prstGeom>
          <a:noFill/>
          <a:ln w="25400">
            <a:solidFill>
              <a:srgbClr val="C8283C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5120640" y="365760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FBE4E7"/>
          </a:solidFill>
          <a:ln w="12700">
            <a:solidFill>
              <a:srgbClr val="C8283C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Freshworks ticket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agent takes over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4617720"/>
            <a:ext cx="914" cy="41148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H="1">
            <a:off x="8412480" y="3017520"/>
            <a:ext cx="960120" cy="640080"/>
          </a:xfrm>
          <a:prstGeom prst="line">
            <a:avLst/>
          </a:prstGeom>
          <a:noFill/>
          <a:ln w="2540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7406640" y="365760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FF4DA"/>
          </a:solidFill>
          <a:ln w="12700">
            <a:solidFill>
              <a:srgbClr val="F4A3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with caller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or keypad, then re-check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12480" y="4617720"/>
            <a:ext cx="914" cy="41148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372600" y="3017520"/>
            <a:ext cx="1280160" cy="640080"/>
          </a:xfrm>
          <a:prstGeom prst="line">
            <a:avLst/>
          </a:prstGeom>
          <a:noFill/>
          <a:ln w="25400">
            <a:solidFill>
              <a:srgbClr val="1F8A63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9601200" y="365760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E1F3EC"/>
          </a:solidFill>
          <a:ln w="12700">
            <a:solidFill>
              <a:srgbClr val="1F8A6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Dodo Payments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· return · replacement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652760" y="4617720"/>
            <a:ext cx="914" cy="41148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6675120" y="3200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/ angry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45820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0104120" y="3200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5029200"/>
            <a:ext cx="6583680" cy="731520"/>
          </a:xfrm>
          <a:prstGeom prst="roundRect">
            <a:avLst>
              <a:gd name="adj" fmla="val 10000"/>
            </a:avLst>
          </a:prstGeom>
          <a:solidFill>
            <a:srgbClr val="E4EDF6"/>
          </a:solidFill>
          <a:ln w="12700">
            <a:solidFill>
              <a:srgbClr val="E4EDF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speaks the reply in the caller's own language mix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566160"/>
            <a:ext cx="4343400" cy="2240280"/>
          </a:xfrm>
          <a:prstGeom prst="roundRect">
            <a:avLst>
              <a:gd name="adj" fmla="val 4082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85800" y="3566160"/>
            <a:ext cx="39319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INNOVATION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put an intent-validation safety gate between what the voice agent hears and what it is allowed to do.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irreversible action never runs on an ambiguous transcript.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Each Part Prevents a Wrong Action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4241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is chosen for the role it plays in stopping a misheard request from becoming a transaction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37360"/>
            <a:ext cx="274320" cy="274320"/>
          </a:xfrm>
          <a:prstGeom prst="ellipse">
            <a:avLst/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1645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VoBiz AI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1226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ACCESS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3774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customers a number to call the AI voice agent, and passes keypad (DTMF) presses through.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97180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Prevents: </a:t>
            </a:r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Callers can confirm with a keypress when the line is noisy.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150876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1737360"/>
            <a:ext cx="274320" cy="274320"/>
          </a:xfrm>
          <a:prstGeom prst="ellipse">
            <a:avLst/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1645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Sarvam AI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11226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23774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spoken code-mixed Hindi + English and Tamil + English into text.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297180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Prevents: </a:t>
            </a:r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Indian speech, so a short “mat” or “vendam” is less likely to be lost.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0" y="150876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75320" y="1737360"/>
            <a:ext cx="274320" cy="27432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41080" y="1645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API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11226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&amp; SAFETY VALIDATION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23774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transcript before any sensitive action, finds the real intent and any negation or conflict.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297180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Prevents: </a:t>
            </a:r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safety gate. “Refund vendam” means NO refund.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74904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3977640"/>
            <a:ext cx="274320" cy="274320"/>
          </a:xfrm>
          <a:prstGeom prst="ellipse">
            <a:avLst/>
          </a:prstGeom>
          <a:solidFill>
            <a:srgbClr val="1F8A63"/>
          </a:solidFill>
          <a:ln w="12700">
            <a:solidFill>
              <a:srgbClr val="1F8A6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143000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Dodo Payments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435254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CUSTOMER-SERVICE ACTIONS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46177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refunds, returns and replacements.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521208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Prevents: </a:t>
            </a:r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called after the safety gate says YES.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97680" y="374904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26280" y="3977640"/>
            <a:ext cx="274320" cy="274320"/>
          </a:xfrm>
          <a:prstGeom prst="ellipse">
            <a:avLst/>
          </a:prstGeom>
          <a:solidFill>
            <a:srgbClr val="C8283C"/>
          </a:solidFill>
          <a:ln w="12700">
            <a:solidFill>
              <a:srgbClr val="C8283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92040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Freshworks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4526280" y="435254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CREATION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26280" y="46177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Freshdesk ticket when the case can't be resolved safely by the bot.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4526280" y="521208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Prevents: </a:t>
            </a:r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or unsafe cases go to a human, with full context.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46720" y="374904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75320" y="3977640"/>
            <a:ext cx="274320" cy="2743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641080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ElevenLabs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8275320" y="435254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VOICE REPLY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8275320" y="461772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Speaks the answer back in the caller's own language mix.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8275320" y="5212080"/>
            <a:ext cx="3154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Prevents: </a:t>
            </a:r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back what it understood, so the caller can catch a mistake.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Freshworks Integration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4241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Freshdesk is where every unsafe or unclear case lands, with everything a human agent needs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BE4E7"/>
          </a:solidFill>
          <a:ln w="12700">
            <a:solidFill>
              <a:srgbClr val="FBE4E7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gate says NO, the caller is angry, or confirmation fails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926080" y="2423160"/>
            <a:ext cx="914" cy="246888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548640" y="2670048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14213D"/>
          </a:solidFill>
          <a:ln w="12700">
            <a:solidFill>
              <a:srgbClr val="F4A3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calls the Freshdesk REST API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/api/v2/tickets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926080" y="3538728"/>
            <a:ext cx="914" cy="246888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548640" y="3785616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E1F3EC"/>
          </a:solidFill>
          <a:ln w="12700">
            <a:solidFill>
              <a:srgbClr val="E1F3EC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opens in Freshdesk with an English summary and the full transcript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926080" y="4654296"/>
            <a:ext cx="914" cy="246888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548640" y="4901184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agent resolves it. The bot never guesses on a risky action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760720" y="1554480"/>
            <a:ext cx="589788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60720" y="1554480"/>
            <a:ext cx="5897880" cy="502920"/>
          </a:xfrm>
          <a:prstGeom prst="roundRect">
            <a:avLst>
              <a:gd name="adj" fmla="val 18182"/>
            </a:avLst>
          </a:prstGeom>
          <a:solidFill>
            <a:srgbClr val="12AF97"/>
          </a:solidFill>
          <a:ln w="12700">
            <a:solidFill>
              <a:srgbClr val="12AF9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0" y="155448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Freshdesk ticket #1042 · created by Codemix Skill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2194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680960" y="2194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declines refund, requests replacement (order 48211)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27706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· Source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27706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(from P1–P3) · Phone · Status: Open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3346704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334670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codemix-skill · tamil · english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0" y="392277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(English)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392277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said “Refund vendam, replacement anuppunga”: no refund, send a replacement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44988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Safety-gate verdict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680960" y="449884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refund · confidence on “vendam” 0.58 · caller didn't confirm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0" y="4608576"/>
            <a:ext cx="548640" cy="274320"/>
          </a:xfrm>
          <a:prstGeom prst="roundRect">
            <a:avLst>
              <a:gd name="adj" fmla="val 26667"/>
            </a:avLst>
          </a:prstGeom>
          <a:solidFill>
            <a:srgbClr val="F4A300"/>
          </a:solidFill>
          <a:ln w="12700">
            <a:solidFill>
              <a:srgbClr val="F4A3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0" y="5074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transcript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50749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code-mixed transcript, both sides, timestamps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943600"/>
            <a:ext cx="11109960" cy="457200"/>
          </a:xfrm>
          <a:prstGeom prst="roundRect">
            <a:avLst>
              <a:gd name="adj" fmla="val 20000"/>
            </a:avLst>
          </a:prstGeom>
          <a:solidFill>
            <a:srgbClr val="F4F6F9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731520" y="5943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api/create-ticket.js already creates real Freshdesk tickets.   </a:t>
            </a:r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Freshworks Marketplace app for any Freshdesk customer.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Codemix Skill Does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4241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features in four groups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651760" cy="4663440"/>
          </a:xfrm>
          <a:prstGeom prst="roundRect">
            <a:avLst>
              <a:gd name="adj" fmla="val 3448"/>
            </a:avLst>
          </a:prstGeom>
          <a:solidFill>
            <a:srgbClr val="E9EDF3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1645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377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languages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06624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AI + our engine handle Hinglish and Tanglish, even mid-sentence switches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611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detection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941064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works out what the caller really wants and maps it to the right action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4846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handling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5175504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mat, nahi, vendam, vaddu that flip the meaning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383280" y="1508760"/>
            <a:ext cx="2651760" cy="4663440"/>
          </a:xfrm>
          <a:prstGeom prst="roundRect">
            <a:avLst>
              <a:gd name="adj" fmla="val 3448"/>
            </a:avLst>
          </a:prstGeom>
          <a:solidFill>
            <a:srgbClr val="FFF4DA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566160" y="16459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78308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251960" y="1645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3566160" y="2377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layer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3566160" y="2706624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ALLOW, CONFIRM or BLOCK for every API action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3566160" y="3611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uncertainty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3566160" y="3941064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caller what it's unsure of and confirms before acting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3566160" y="4846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→ human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3566160" y="5175504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 or distressed callers get a Freshworks ticket and a person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217920" y="1508760"/>
            <a:ext cx="2651760" cy="4663440"/>
          </a:xfrm>
          <a:prstGeom prst="roundRect">
            <a:avLst>
              <a:gd name="adj" fmla="val 3448"/>
            </a:avLst>
          </a:prstGeom>
          <a:solidFill>
            <a:srgbClr val="E4EDF6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400800" y="16459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783080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7086600" y="1645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CONVERSE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6400800" y="2377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6400800" y="2706624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offline checks first; Claude runs only before sensitive actions</a:t>
            </a:r>
            <a:endParaRPr lang="en-US" sz="1150" dirty="0"/>
          </a:p>
        </p:txBody>
      </p:sp>
      <p:sp>
        <p:nvSpPr>
          <p:cNvPr id="32" name="Text 27"/>
          <p:cNvSpPr txBox="1"/>
          <p:nvPr/>
        </p:nvSpPr>
        <p:spPr>
          <a:xfrm>
            <a:off x="6400800" y="3611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DTMF &amp; IVR</a:t>
            </a:r>
            <a:endParaRPr lang="en-US" sz="1300" dirty="0"/>
          </a:p>
        </p:txBody>
      </p:sp>
      <p:sp>
        <p:nvSpPr>
          <p:cNvPr id="33" name="Text 28"/>
          <p:cNvSpPr txBox="1"/>
          <p:nvPr/>
        </p:nvSpPr>
        <p:spPr>
          <a:xfrm>
            <a:off x="6400800" y="3941064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VoBiz passes keypad presses: “press 1 to confirm” on any phone</a:t>
            </a:r>
            <a:endParaRPr lang="en-US" sz="1150" dirty="0"/>
          </a:p>
        </p:txBody>
      </p:sp>
      <p:sp>
        <p:nvSpPr>
          <p:cNvPr id="34" name="Text 29"/>
          <p:cNvSpPr txBox="1"/>
          <p:nvPr/>
        </p:nvSpPr>
        <p:spPr>
          <a:xfrm>
            <a:off x="6400800" y="4846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handling</a:t>
            </a:r>
            <a:endParaRPr lang="en-US" sz="1300" dirty="0"/>
          </a:p>
        </p:txBody>
      </p:sp>
      <p:sp>
        <p:nvSpPr>
          <p:cNvPr id="35" name="Text 30"/>
          <p:cNvSpPr txBox="1"/>
          <p:nvPr/>
        </p:nvSpPr>
        <p:spPr>
          <a:xfrm>
            <a:off x="6400800" y="5175504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caller can cut in while the agent speaks, and the agent listens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9052560" y="1508760"/>
            <a:ext cx="2651760" cy="4663440"/>
          </a:xfrm>
          <a:prstGeom prst="roundRect">
            <a:avLst>
              <a:gd name="adj" fmla="val 3448"/>
            </a:avLst>
          </a:prstGeom>
          <a:solidFill>
            <a:srgbClr val="E1F3EC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9235440" y="16459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1783080"/>
            <a:ext cx="274320" cy="274320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9921240" y="1645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500" dirty="0"/>
          </a:p>
        </p:txBody>
      </p:sp>
      <p:sp>
        <p:nvSpPr>
          <p:cNvPr id="40" name="Text 34"/>
          <p:cNvSpPr txBox="1"/>
          <p:nvPr/>
        </p:nvSpPr>
        <p:spPr>
          <a:xfrm>
            <a:off x="9235440" y="2377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SOP-based auditing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9235440" y="2706624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every call against the company's own SOP rules</a:t>
            </a:r>
            <a:endParaRPr lang="en-US" sz="1150" dirty="0"/>
          </a:p>
        </p:txBody>
      </p:sp>
      <p:sp>
        <p:nvSpPr>
          <p:cNvPr id="42" name="Text 36"/>
          <p:cNvSpPr txBox="1"/>
          <p:nvPr/>
        </p:nvSpPr>
        <p:spPr>
          <a:xfrm>
            <a:off x="9235440" y="3611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300" dirty="0"/>
          </a:p>
        </p:txBody>
      </p:sp>
      <p:sp>
        <p:nvSpPr>
          <p:cNvPr id="43" name="Text 37"/>
          <p:cNvSpPr txBox="1"/>
          <p:nvPr/>
        </p:nvSpPr>
        <p:spPr>
          <a:xfrm>
            <a:off x="9235440" y="3941064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transcript, each decision and each API call</a:t>
            </a:r>
            <a:endParaRPr lang="en-US" sz="1150" dirty="0"/>
          </a:p>
        </p:txBody>
      </p:sp>
      <p:sp>
        <p:nvSpPr>
          <p:cNvPr id="44" name="Text 38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Call, End to End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4241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feature acts during a single call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4EDF6"/>
          </a:solidFill>
          <a:ln w="12700">
            <a:solidFill>
              <a:srgbClr val="E4ED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8368" y="169164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Caller speaks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the VoBiz number. If the caller cuts in, the agent stops talking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68880" y="2286000"/>
            <a:ext cx="3657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34640" y="16916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4EDF6"/>
          </a:solidFill>
          <a:ln w="12700">
            <a:solidFill>
              <a:srgbClr val="E4ED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44368" y="169164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Speech-to-text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AI turns code-mixed speech into text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54880" y="2286000"/>
            <a:ext cx="3657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20640" y="16916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9EDF3"/>
          </a:solidFill>
          <a:ln w="12700">
            <a:solidFill>
              <a:srgbClr val="E9ED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230368" y="169164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Language + intent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engine tags languages; Claude finds the real intent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040880" y="2286000"/>
            <a:ext cx="3657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06640" y="16916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9EDF3"/>
          </a:solidFill>
          <a:ln w="12700">
            <a:solidFill>
              <a:srgbClr val="E9ED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516368" y="169164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Negation check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lexicon: does “mat” or “vendam” flip it?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326880" y="2286000"/>
            <a:ext cx="3657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692640" y="16916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802368" y="169164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Sentiment check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 or distressed? Freshworks ticket for a human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652760" y="2880360"/>
            <a:ext cx="914" cy="685800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92640" y="356616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02368" y="356616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Decision layer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ALLOW, CONFIRM or BLOCK the API action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 flipH="1">
            <a:off x="9326880" y="4160520"/>
            <a:ext cx="3657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06640" y="356616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4DA"/>
          </a:solidFill>
          <a:ln w="12700">
            <a:solidFill>
              <a:srgbClr val="FFF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516368" y="356616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Transparent confirm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says what's unsure; reply by voice or keypad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 flipH="1">
            <a:off x="7040880" y="4160520"/>
            <a:ext cx="3657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120640" y="356616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5230368" y="356616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Dodo Payments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refund, return or replacement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 flipH="1">
            <a:off x="4754880" y="4160520"/>
            <a:ext cx="3657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834640" y="356616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1F3EC"/>
          </a:solidFill>
          <a:ln w="12700">
            <a:solidFill>
              <a:srgbClr val="E1F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2944368" y="356616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SOP audit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call against the company's SOP rules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 flipH="1">
            <a:off x="2468880" y="4160520"/>
            <a:ext cx="365760" cy="914"/>
          </a:xfrm>
          <a:prstGeom prst="line">
            <a:avLst/>
          </a:prstGeom>
          <a:noFill/>
          <a:ln w="3175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48640" y="356616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1F3EC"/>
          </a:solidFill>
          <a:ln w="12700">
            <a:solidFill>
              <a:srgbClr val="E1F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58368" y="356616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Transcript stored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Words, decisions and API calls kept for audit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48640" y="525780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E4EDF6"/>
          </a:solidFill>
          <a:ln w="12700">
            <a:solidFill>
              <a:srgbClr val="2A5C8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60120" y="5257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194560" y="525780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E9EDF3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606040" y="5257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840480" y="525780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4DA"/>
          </a:solidFill>
          <a:ln w="12700">
            <a:solidFill>
              <a:srgbClr val="7A500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251960" y="5257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486400" y="525780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1421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897880" y="5257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132320" y="525780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E1F3EC"/>
          </a:solidFill>
          <a:ln w="12700">
            <a:solidFill>
              <a:srgbClr val="1F8A6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543800" y="5257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calls go 1 → 2 → 3 → 4 → 6 → 8 with no question asked. Steps 5 and 7 only kick in when needed.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Gate Decides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4241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risky, uncertain branch adds friction for the caller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proposes an action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cancel_order(48211)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2331720"/>
            <a:ext cx="365760" cy="914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2834640" y="1600200"/>
            <a:ext cx="2286000" cy="1463040"/>
          </a:xfrm>
          <a:prstGeom prst="diamond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Irreversible 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money?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20640" y="2331720"/>
            <a:ext cx="411480" cy="914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5074920" y="20116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1600200"/>
            <a:ext cx="2286000" cy="1463040"/>
          </a:xfrm>
          <a:prstGeom prst="diamond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applies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action verb?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18120" y="2331720"/>
            <a:ext cx="411480" cy="914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7772400" y="20116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1600200"/>
            <a:ext cx="2286000" cy="1463040"/>
          </a:xfrm>
          <a:prstGeom prst="diamond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about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that set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or no?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515600" y="2331720"/>
            <a:ext cx="320040" cy="914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10469880" y="20116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835640" y="1874520"/>
            <a:ext cx="914400" cy="914400"/>
          </a:xfrm>
          <a:prstGeom prst="roundRect">
            <a:avLst>
              <a:gd name="adj" fmla="val 8000"/>
            </a:avLst>
          </a:prstGeom>
          <a:solidFill>
            <a:srgbClr val="1F8A63"/>
          </a:solidFill>
          <a:ln w="12700">
            <a:solidFill>
              <a:srgbClr val="1F8A6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77640" y="3063240"/>
            <a:ext cx="914" cy="640080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4023360" y="3200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834640" y="370332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E1F3EC"/>
          </a:solidFill>
          <a:ln w="12700">
            <a:solidFill>
              <a:srgbClr val="1F8A6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and log 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track order)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675120" y="3063240"/>
            <a:ext cx="914" cy="640080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6720840" y="3200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532120" y="370332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BE4E7"/>
          </a:solidFill>
          <a:ln w="12700">
            <a:solidFill>
              <a:srgbClr val="C8283C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run it; switch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update_address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372600" y="3063240"/>
            <a:ext cx="914" cy="640080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9418320" y="3200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370332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FF4DA"/>
          </a:solidFill>
          <a:ln w="12700">
            <a:solidFill>
              <a:srgbClr val="F4A3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9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what's uncertain,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9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or keypad reply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 flipH="1">
            <a:off x="8503920" y="4709160"/>
            <a:ext cx="457200" cy="457200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784080" y="4709160"/>
            <a:ext cx="548640" cy="457200"/>
          </a:xfrm>
          <a:prstGeom prst="line">
            <a:avLst/>
          </a:prstGeom>
          <a:noFill/>
          <a:ln w="2540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7635240" y="516636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E1F3EC"/>
          </a:solidFill>
          <a:ln w="12700">
            <a:solidFill>
              <a:srgbClr val="1F8A6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“Haan” / press 1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run it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9509760" y="5166360"/>
            <a:ext cx="2240280" cy="868680"/>
          </a:xfrm>
          <a:prstGeom prst="roundRect">
            <a:avLst>
              <a:gd name="adj" fmla="val 8421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“Nahi” / press 2 / silence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Freshworks ticket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human agent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983480"/>
            <a:ext cx="4663440" cy="1097280"/>
          </a:xfrm>
          <a:prstGeom prst="roundRect">
            <a:avLst>
              <a:gd name="adj" fmla="val 8333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85800" y="49834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Read-back example (Hindi)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“Aap order cancel karna chahte hain, ya sirf address change? Haan ya nahi?”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Confirming Before Acting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4241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says what it's unsure of. The caller answers by voice or keypad, and can interrupt at any time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760720" cy="4572000"/>
          </a:xfrm>
          <a:prstGeom prst="roundRect">
            <a:avLst>
              <a:gd name="adj" fmla="val 2000"/>
            </a:avLst>
          </a:prstGeom>
          <a:solidFill>
            <a:srgbClr val="F4F6F9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240280" y="17373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1984248"/>
            <a:ext cx="3840480" cy="548640"/>
          </a:xfrm>
          <a:prstGeom prst="roundRect">
            <a:avLst>
              <a:gd name="adj" fmla="val 20000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“Refund vendam, replacement anuppunga.”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700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· ElevenLabs voice, in Tamil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916936"/>
            <a:ext cx="4572000" cy="1188720"/>
          </a:xfrm>
          <a:prstGeom prst="roundRect">
            <a:avLst>
              <a:gd name="adj" fmla="val 9231"/>
            </a:avLst>
          </a:prstGeom>
          <a:solidFill>
            <a:srgbClr val="14213D"/>
          </a:solidFill>
          <a:ln w="12700">
            <a:solidFill>
              <a:srgbClr val="14213D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don't want a refund, you want a replacement for order 48211. I'm not fully sure I heard ‘vendam’ on this line. Say ‘aamaa’ or press 1 to confirm. Press 2 to talk to a person.”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42428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· keypad via VoBiz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4489704"/>
            <a:ext cx="3840480" cy="548640"/>
          </a:xfrm>
          <a:prstGeom prst="roundRect">
            <a:avLst>
              <a:gd name="adj" fmla="val 20000"/>
            </a:avLst>
          </a:prstGeom>
          <a:solidFill>
            <a:srgbClr val="FFF4DA"/>
          </a:solidFill>
          <a:ln w="12700">
            <a:solidFill>
              <a:srgbClr val="FFF4DA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presses 1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1755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422392"/>
            <a:ext cx="3840480" cy="548640"/>
          </a:xfrm>
          <a:prstGeom prst="roundRect">
            <a:avLst>
              <a:gd name="adj" fmla="val 20000"/>
            </a:avLst>
          </a:prstGeom>
          <a:solidFill>
            <a:srgbClr val="14213D"/>
          </a:solidFill>
          <a:ln w="12700">
            <a:solidFill>
              <a:srgbClr val="14213D"/>
            </a:solidFill>
          </a:ln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“Replacement booked. Reference R-2291.”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29400" y="1554480"/>
            <a:ext cx="5029200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0" y="1755648"/>
            <a:ext cx="292608" cy="29260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69480" y="1691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 uncertainty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214884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the exact word or detail it isn't sure of, and how sure it is. No silent guessing on actions that can't be undone.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29400" y="3127248"/>
            <a:ext cx="5029200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0" y="3328416"/>
            <a:ext cx="292608" cy="292608"/>
          </a:xfrm>
          <a:prstGeom prst="ellipse">
            <a:avLst/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69480" y="32644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DTMF &amp; IVR fallback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372160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keypad works when speech is noisy. VoBiz passes the key press to the agent: press 1 to confirm, 2 for a person.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29400" y="4700016"/>
            <a:ext cx="5029200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0" y="4901184"/>
            <a:ext cx="292608" cy="292608"/>
          </a:xfrm>
          <a:prstGeom prst="ellipse">
            <a:avLst/>
          </a:prstGeom>
          <a:solidFill>
            <a:srgbClr val="1F8A63"/>
          </a:solidFill>
          <a:ln w="12700">
            <a:solidFill>
              <a:srgbClr val="1F8A6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69480" y="483717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Interrupt handling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5294376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caller cuts in while the agent is talking, the agent stops speaking and treats the new words as the answer.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Calls Traced Through the Gate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CALL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1965960"/>
            <a:ext cx="754380" cy="603504"/>
          </a:xfrm>
          <a:prstGeom prst="roundRect">
            <a:avLst>
              <a:gd name="adj" fmla="val 9091"/>
            </a:avLst>
          </a:prstGeom>
          <a:solidFill>
            <a:srgbClr val="E4EDF6"/>
          </a:solidFill>
          <a:ln w="15875">
            <a:solidFill>
              <a:srgbClr val="E4ED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965960"/>
            <a:ext cx="7543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50492" y="1965960"/>
            <a:ext cx="850392" cy="603504"/>
          </a:xfrm>
          <a:prstGeom prst="roundRect">
            <a:avLst>
              <a:gd name="adj" fmla="val 9091"/>
            </a:avLst>
          </a:prstGeom>
          <a:solidFill>
            <a:srgbClr val="E4EDF6"/>
          </a:solidFill>
          <a:ln w="15875">
            <a:solidFill>
              <a:srgbClr val="E4ED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50492" y="1965960"/>
            <a:ext cx="850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74036" y="1965960"/>
            <a:ext cx="685800" cy="603504"/>
          </a:xfrm>
          <a:prstGeom prst="roundRect">
            <a:avLst>
              <a:gd name="adj" fmla="val 9091"/>
            </a:avLst>
          </a:prstGeom>
          <a:solidFill>
            <a:srgbClr val="FBE4E7"/>
          </a:solidFill>
          <a:ln w="15875">
            <a:solidFill>
              <a:srgbClr val="C828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74036" y="1965960"/>
            <a:ext cx="685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2988" y="1965960"/>
            <a:ext cx="754380" cy="603504"/>
          </a:xfrm>
          <a:prstGeom prst="roundRect">
            <a:avLst>
              <a:gd name="adj" fmla="val 9091"/>
            </a:avLst>
          </a:prstGeom>
          <a:solidFill>
            <a:srgbClr val="E9EDF3"/>
          </a:solidFill>
          <a:ln w="15875">
            <a:solidFill>
              <a:srgbClr val="E9ED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32988" y="1965960"/>
            <a:ext cx="7543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karo,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60520" y="1965960"/>
            <a:ext cx="685800" cy="603504"/>
          </a:xfrm>
          <a:prstGeom prst="roundRect">
            <a:avLst>
              <a:gd name="adj" fmla="val 9091"/>
            </a:avLst>
          </a:prstGeom>
          <a:solidFill>
            <a:srgbClr val="E9EDF3"/>
          </a:solidFill>
          <a:ln w="15875">
            <a:solidFill>
              <a:srgbClr val="E9ED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60520" y="1965960"/>
            <a:ext cx="685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2679192"/>
            <a:ext cx="946404" cy="603504"/>
          </a:xfrm>
          <a:prstGeom prst="roundRect">
            <a:avLst>
              <a:gd name="adj" fmla="val 9091"/>
            </a:avLst>
          </a:prstGeom>
          <a:solidFill>
            <a:srgbClr val="E4EDF6"/>
          </a:solidFill>
          <a:ln w="15875">
            <a:solidFill>
              <a:srgbClr val="E4ED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2679192"/>
            <a:ext cx="9464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842516" y="2679192"/>
            <a:ext cx="850392" cy="603504"/>
          </a:xfrm>
          <a:prstGeom prst="roundRect">
            <a:avLst>
              <a:gd name="adj" fmla="val 9091"/>
            </a:avLst>
          </a:prstGeom>
          <a:solidFill>
            <a:srgbClr val="E4EDF6"/>
          </a:solidFill>
          <a:ln w="15875">
            <a:solidFill>
              <a:srgbClr val="E4ED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842516" y="2679192"/>
            <a:ext cx="850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66060" y="2679192"/>
            <a:ext cx="1138428" cy="603504"/>
          </a:xfrm>
          <a:prstGeom prst="roundRect">
            <a:avLst>
              <a:gd name="adj" fmla="val 9091"/>
            </a:avLst>
          </a:prstGeom>
          <a:solidFill>
            <a:srgbClr val="E9EDF3"/>
          </a:solidFill>
          <a:ln w="15875">
            <a:solidFill>
              <a:srgbClr val="E9EDF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766060" y="2679192"/>
            <a:ext cx="11384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 hai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3429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34290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“mat” applies to “cancel karo”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14223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action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331720" y="414223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cancel_order: irreversible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46120" y="4828032"/>
            <a:ext cx="914" cy="219456"/>
          </a:xfrm>
          <a:prstGeom prst="line">
            <a:avLst/>
          </a:prstGeom>
          <a:noFill/>
          <a:ln w="25400">
            <a:solidFill>
              <a:srgbClr val="C8283C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822960" y="507492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FBE4E7"/>
          </a:solidFill>
          <a:ln w="12700">
            <a:solidFill>
              <a:srgbClr val="C8283C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cancel_order → run update_address instead (reversible → ALLOW)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63640" y="141732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53796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CALL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37960" y="1965960"/>
            <a:ext cx="850392" cy="603504"/>
          </a:xfrm>
          <a:prstGeom prst="roundRect">
            <a:avLst>
              <a:gd name="adj" fmla="val 9091"/>
            </a:avLst>
          </a:prstGeom>
          <a:solidFill>
            <a:srgbClr val="E4EDF6"/>
          </a:solidFill>
          <a:ln w="15875">
            <a:solidFill>
              <a:srgbClr val="E4ED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37960" y="1965960"/>
            <a:ext cx="850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461504" y="1965960"/>
            <a:ext cx="946404" cy="603504"/>
          </a:xfrm>
          <a:prstGeom prst="roundRect">
            <a:avLst>
              <a:gd name="adj" fmla="val 9091"/>
            </a:avLst>
          </a:prstGeom>
          <a:solidFill>
            <a:srgbClr val="FBE4E7"/>
          </a:solidFill>
          <a:ln w="15875">
            <a:solidFill>
              <a:srgbClr val="C8283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461504" y="1965960"/>
            <a:ext cx="9464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vendam,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481060" y="1965960"/>
            <a:ext cx="1330452" cy="603504"/>
          </a:xfrm>
          <a:prstGeom prst="roundRect">
            <a:avLst>
              <a:gd name="adj" fmla="val 9091"/>
            </a:avLst>
          </a:prstGeom>
          <a:solidFill>
            <a:srgbClr val="E4EDF6"/>
          </a:solidFill>
          <a:ln w="15875">
            <a:solidFill>
              <a:srgbClr val="E4EDF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481060" y="1965960"/>
            <a:ext cx="13304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2A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884664" y="1965960"/>
            <a:ext cx="1138428" cy="603504"/>
          </a:xfrm>
          <a:prstGeom prst="roundRect">
            <a:avLst>
              <a:gd name="adj" fmla="val 9091"/>
            </a:avLst>
          </a:prstGeom>
          <a:solidFill>
            <a:srgbClr val="E9EDF3"/>
          </a:solidFill>
          <a:ln w="15875">
            <a:solidFill>
              <a:srgbClr val="E9EDF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884664" y="1965960"/>
            <a:ext cx="11384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anuppunga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537960" y="3429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046720" y="34290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“vendam” applies to “refund”. Speech-to-text confidence on it is only 0.58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537960" y="414223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action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046720" y="414223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issue_refund: moves money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961120" y="4828032"/>
            <a:ext cx="914" cy="219456"/>
          </a:xfrm>
          <a:prstGeom prst="line">
            <a:avLst/>
          </a:prstGeom>
          <a:noFill/>
          <a:ln w="2540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6537960" y="507492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FFF4DA"/>
          </a:solidFill>
          <a:ln w="12700">
            <a:solidFill>
              <a:srgbClr val="F4A300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6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the Dodo refund. CONFIRM the replacement: “Replacement anuppalaamaa?”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Latency by Design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4241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time budget from the caller's last word to the agent's reply (proposed targets, in ms)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9494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685800" y="1645920"/>
          <a:ext cx="66751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863840" y="1554480"/>
            <a:ext cx="3794760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092440" y="166420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8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~470 ms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23591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replies: no money-moving action, Claude check skipped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863840" y="3127248"/>
            <a:ext cx="3794760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092440" y="3236976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900 ms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3931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Claude's safety check before a refund or cancellation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863840" y="4700016"/>
            <a:ext cx="3794760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092440" y="4809744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 ms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8092440" y="55046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engine's language tagging, in-process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 Auditing &amp; Full Audit Trail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4241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is checked against the company's SOP, and the complete record is stored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002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word, both sides, timestamps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988820"/>
            <a:ext cx="594360" cy="45720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548640" y="251460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5146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verdict, confidence, reason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flipV="1">
            <a:off x="3291840" y="2446020"/>
            <a:ext cx="594360" cy="45720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548640" y="342900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E9EDF3"/>
          </a:solidFill>
          <a:ln w="12700">
            <a:solidFill>
              <a:srgbClr val="E9EDF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4290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and response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V="1">
            <a:off x="3291840" y="2446020"/>
            <a:ext cx="594360" cy="1371600"/>
          </a:xfrm>
          <a:prstGeom prst="line">
            <a:avLst/>
          </a:prstGeom>
          <a:noFill/>
          <a:ln w="19050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3886200" y="182880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14213D"/>
          </a:solidFill>
          <a:ln w="12700">
            <a:solidFill>
              <a:srgbClr val="14213D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rule checker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every call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 flipV="1">
            <a:off x="6263640" y="1874520"/>
            <a:ext cx="502920" cy="365760"/>
          </a:xfrm>
          <a:prstGeom prst="line">
            <a:avLst/>
          </a:prstGeom>
          <a:noFill/>
          <a:ln w="25400">
            <a:solidFill>
              <a:srgbClr val="1F8A6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63640" y="2651760"/>
            <a:ext cx="502920" cy="365760"/>
          </a:xfrm>
          <a:prstGeom prst="line">
            <a:avLst/>
          </a:prstGeom>
          <a:noFill/>
          <a:ln w="25400">
            <a:solidFill>
              <a:srgbClr val="C8283C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6766560" y="146304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E1F3EC"/>
          </a:solidFill>
          <a:ln w="12700">
            <a:solidFill>
              <a:srgbClr val="1F8A63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with the call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260604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BE4E7"/>
          </a:solidFill>
          <a:ln w="12700">
            <a:solidFill>
              <a:srgbClr val="C8283C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8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a supervisor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464040" y="1463040"/>
            <a:ext cx="2194560" cy="1965960"/>
          </a:xfrm>
          <a:prstGeom prst="roundRect">
            <a:avLst>
              <a:gd name="adj" fmla="val 4651"/>
            </a:avLst>
          </a:prstGeom>
          <a:solidFill>
            <a:srgbClr val="FFF4DA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601200" y="1554480"/>
            <a:ext cx="1965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for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disputes &amp; chargebacks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compliance review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data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526280"/>
            <a:ext cx="5715000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7724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SOP RULES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892040"/>
            <a:ext cx="534924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back the order ID before any cancellation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 above ₹5,000 need an OTP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replacement before a refund for damaged items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 caller → human agent within 2 turns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37960" y="452628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720840" y="45262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C-7781 · order 48211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said:     “Refund vendam, replacement anuppunga”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verdict:  BLOCK issue_refund · CONFIRM replacement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unsure:   “vendam” 0.58 → caller pressed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SOP:      read-back ✓   OTP n/a   handoff n/a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Scope: MVP vs Later Phases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3611880" cy="731520"/>
          </a:xfrm>
          <a:prstGeom prst="chevron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MVP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0–3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329184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VoBiz + Sarvam AI + ElevenLabs voice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gate before Dodo Payments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Freshworks tickets for unsafe cases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Hindi, Tamil, English + audit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1417320"/>
            <a:ext cx="3611880" cy="731520"/>
          </a:xfrm>
          <a:prstGeom prst="chevron">
            <a:avLst/>
          </a:prstGeom>
          <a:solidFill>
            <a:srgbClr val="E9EDF3"/>
          </a:solidFill>
          <a:ln>
            <a:solidFill>
              <a:srgbClr val="E9ED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2194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4–6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560320"/>
            <a:ext cx="329184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Sentiment-based handoff to human agents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handling tuned for phone lines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rule editor + audit reports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Telugu, Kannada, Bengali, Marathi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1417320"/>
            <a:ext cx="3611880" cy="731520"/>
          </a:xfrm>
          <a:prstGeom prst="chevron">
            <a:avLst/>
          </a:prstGeom>
          <a:solidFill>
            <a:srgbClr val="E9EDF3"/>
          </a:solidFill>
          <a:ln>
            <a:solidFill>
              <a:srgbClr val="E9ED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21945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7–12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560320"/>
            <a:ext cx="3291840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Freshworks Marketplace app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Plug-in for any AI agent (MCP / REST)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and WhatsApp channels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709160"/>
            <a:ext cx="640080" cy="64008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4869180"/>
            <a:ext cx="320040" cy="32004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554480" y="46817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agentic design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554480" y="5047488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acts as the safety agent: it validates intent and negation before any sensitive action. The voice agent can only reach Dodo Payments through the gate, and anything unsafe becomes a Freshworks ticket.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217920" y="457200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F4F6F9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46520" y="4709160"/>
            <a:ext cx="640080" cy="640080"/>
          </a:xfrm>
          <a:prstGeom prst="ellipse">
            <a:avLst/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540" y="4869180"/>
            <a:ext cx="320040" cy="32004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223760" y="46817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built (Round 1)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7223760" y="5047488"/>
            <a:ext cx="4251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Code-mix tagging engine, intent scoring, MCP server, a live Freshdesk ticket API, and a demo on Vercel. Round 2 adds the voice path, Claude gate and Dodo actions.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Customers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6751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83080"/>
            <a:ext cx="914400" cy="9144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116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1168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2011680" y="2011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D2C, e-commerce &amp; fintech brands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2011680" y="246888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brands with 20 to 500 support seats, on Freshdesk, starting to let AI voice agents refund, return and replace orders for Hindi- and Tamil-speaking callers.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3794760"/>
            <a:ext cx="66751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" y="4114800"/>
            <a:ext cx="914400" cy="914400"/>
          </a:xfrm>
          <a:prstGeom prst="ellipse">
            <a:avLst/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43434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011680" y="4069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2011680" y="4343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BPOs and support outsourcers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2011680" y="480060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run Freshworks for several Indian brands, and one wrong refund costs them a client. They want one policy layer across all their accounts.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7680960" y="1463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Actions the gate protects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7680960" y="2011680"/>
            <a:ext cx="731520" cy="731520"/>
          </a:xfrm>
          <a:prstGeom prst="ellipse">
            <a:avLst/>
          </a:prstGeom>
          <a:solidFill>
            <a:srgbClr val="C8283C"/>
          </a:solidFill>
          <a:ln w="12700">
            <a:solidFill>
              <a:srgbClr val="C8283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19456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595360" y="20116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595360" y="23591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money through Dodo Payments; costly to reverse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680960" y="3291840"/>
            <a:ext cx="731520" cy="731520"/>
          </a:xfrm>
          <a:prstGeom prst="ellipse">
            <a:avLst/>
          </a:prstGeom>
          <a:solidFill>
            <a:srgbClr val="C8283C"/>
          </a:solidFill>
          <a:ln w="12700">
            <a:solidFill>
              <a:srgbClr val="C8283C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347472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595360" y="32918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/ cancellation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8595360" y="363931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an order the caller may still want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7680960" y="4572000"/>
            <a:ext cx="731520" cy="731520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475488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595360" y="45720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8595360" y="491947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one ships an item twice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Proposition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109960" cy="114300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41732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Plug it in once, and your AI agent can act for mixed-language callers: it gets the intent right, confirms when unsure, hands angry callers to a person and audits every action.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440680" cy="3291840"/>
          </a:xfrm>
          <a:prstGeom prst="roundRect">
            <a:avLst>
              <a:gd name="adj" fmla="val 2778"/>
            </a:avLst>
          </a:prstGeom>
          <a:solidFill>
            <a:srgbClr val="FBE4E7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0175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29992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Codemix Skill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611880"/>
            <a:ext cx="4937760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acts on its first guess at the intent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dropped “mat” leads to a cancelled order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 callers stay stuck talking to a bot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transcript or SOP check to prove what happened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17920" y="2834640"/>
            <a:ext cx="5440680" cy="3291840"/>
          </a:xfrm>
          <a:prstGeom prst="roundRect">
            <a:avLst>
              <a:gd name="adj" fmla="val 2778"/>
            </a:avLst>
          </a:prstGeom>
          <a:solidFill>
            <a:srgbClr val="E1F3EC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0175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40880" y="29992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8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Codemix Skill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492240" y="3611880"/>
            <a:ext cx="4937760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mixed-language callers and runs the right API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negation and confidence before any irreversible call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what it's unsure of; caller confirms by voice or keypad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 callers reach a person; every call is SOP-audited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&amp; Packaging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4241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Proposed. We only charge for the actions we actually guard.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3291840" cy="4023360"/>
          </a:xfrm>
          <a:prstGeom prst="roundRect">
            <a:avLst>
              <a:gd name="adj" fmla="val 2778"/>
            </a:avLst>
          </a:prstGeom>
          <a:solidFill>
            <a:srgbClr val="E9EDF3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9728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4231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Freshdesk customer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657600"/>
            <a:ext cx="278892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mode: flags risky actions, never blocks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+ English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wrong-action report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80560" y="1554480"/>
            <a:ext cx="3291840" cy="4434840"/>
          </a:xfrm>
          <a:prstGeom prst="roundRect">
            <a:avLst>
              <a:gd name="adj" fmla="val 2778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75488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Add-on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1945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1,000 guarded actions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429000"/>
            <a:ext cx="2788920" cy="2423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safety gate, DTMF confirm, interrupts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handoff + SOP audit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MVP languages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30 days free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1783080"/>
            <a:ext cx="3291840" cy="4023360"/>
          </a:xfrm>
          <a:prstGeom prst="roundRect">
            <a:avLst>
              <a:gd name="adj" fmla="val 2778"/>
            </a:avLst>
          </a:prstGeom>
          <a:solidFill>
            <a:srgbClr val="E9EDF3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1248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4231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</a:t>
            </a:r>
            <a:endParaRPr lang="en-US" sz="44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contract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3657600"/>
            <a:ext cx="278892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SOP rule packs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retention + data residency in India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Go-to-Market Plan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97280" y="2148840"/>
            <a:ext cx="10012680" cy="0"/>
          </a:xfrm>
          <a:prstGeom prst="line">
            <a:avLst/>
          </a:prstGeom>
          <a:noFill/>
          <a:ln w="38100">
            <a:solidFill>
              <a:srgbClr val="B8C2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14213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partners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38328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Indian D2C brands already on Freshdesk run a free pilot in monitor mode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0" y="1828800"/>
            <a:ext cx="640080" cy="640080"/>
          </a:xfrm>
          <a:prstGeom prst="ellipse">
            <a:avLst/>
          </a:prstGeom>
          <a:solidFill>
            <a:srgbClr val="14213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83280" y="274320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61188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338328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wrong-action numbers from the pilot, plus a 60-second Hinglish + Tanglish demo video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92240" y="1828800"/>
            <a:ext cx="640080" cy="640080"/>
          </a:xfrm>
          <a:prstGeom prst="ellipse">
            <a:avLst/>
          </a:prstGeom>
          <a:solidFill>
            <a:srgbClr val="F4A30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274320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4652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338328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Freshworks Marketplace listing, in-app banner for Freshdesk admins, and email with a 30-day trial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326880" y="1828800"/>
            <a:ext cx="640080" cy="640080"/>
          </a:xfrm>
          <a:prstGeom prst="ellipse">
            <a:avLst/>
          </a:prstGeom>
          <a:solidFill>
            <a:srgbClr val="14213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268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098280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Q3+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052560" y="274320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281160" y="2926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9281160" y="338328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alongside Freshdesk deals in India and SEA, with a BPO partner program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monitor mode shows each customer their own wrong-action count, and that report is what sells the paid add-on.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Costs &amp; Resources Needed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85800" cy="6858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63449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4813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engineers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8105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path, safety gate, Freshworks app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423160"/>
            <a:ext cx="685800" cy="6858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" y="259461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24414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linguist / data annotator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27706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+ Tamil negation set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383280"/>
            <a:ext cx="685800" cy="6858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3554730"/>
            <a:ext cx="342900" cy="3429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71600" y="34015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Part-time PM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371600" y="37307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 + pricing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461772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14213D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77240" y="46634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~$90K</a:t>
            </a:r>
            <a:endParaRPr lang="en-US" sz="40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5349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MVP in 3 months: salaries, Sarvam / Claude / ElevenLabs / VoBiz usage, and labelling ~5,000 negation utterances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2120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timeline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7589520" y="1920240"/>
            <a:ext cx="134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8930640" y="1920240"/>
            <a:ext cx="134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10271760" y="1920240"/>
            <a:ext cx="134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212080" y="2203704"/>
            <a:ext cx="6400800" cy="47548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303520" y="224028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dataset + lexicon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7589520" y="2304288"/>
            <a:ext cx="1609344" cy="274320"/>
          </a:xfrm>
          <a:prstGeom prst="roundRect">
            <a:avLst>
              <a:gd name="adj" fmla="val 26667"/>
            </a:avLst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212080" y="2660904"/>
            <a:ext cx="6400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303520" y="269748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safety gate + Dodo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8260080" y="2761488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212080" y="3118104"/>
            <a:ext cx="6400800" cy="47548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5303520" y="315468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VoBiz + Sarvam + ElevenLabs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8930640" y="3218688"/>
            <a:ext cx="1609344" cy="274320"/>
          </a:xfrm>
          <a:prstGeom prst="roundRect">
            <a:avLst>
              <a:gd name="adj" fmla="val 26667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5212080" y="3575304"/>
            <a:ext cx="6400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5303520" y="361188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Freshworks tickets + audit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9332976" y="3675888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2A5C8A"/>
          </a:solidFill>
          <a:ln w="12700">
            <a:solidFill>
              <a:srgbClr val="2A5C8A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5212080" y="4032504"/>
            <a:ext cx="6400800" cy="475488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5303520" y="406908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Design-partner pilot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10271760" y="4133088"/>
            <a:ext cx="1341120" cy="274320"/>
          </a:xfrm>
          <a:prstGeom prst="roundRect">
            <a:avLst>
              <a:gd name="adj" fmla="val 26667"/>
            </a:avLst>
          </a:prstGeom>
          <a:solidFill>
            <a:srgbClr val="1F8A63"/>
          </a:solidFill>
          <a:ln w="12700">
            <a:solidFill>
              <a:srgbClr val="1F8A63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5212080" y="4617720"/>
            <a:ext cx="6400800" cy="1508760"/>
          </a:xfrm>
          <a:prstGeom prst="roundRect">
            <a:avLst>
              <a:gd name="adj" fmla="val 6061"/>
            </a:avLst>
          </a:prstGeom>
          <a:solidFill>
            <a:srgbClr val="F4F6F9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Text 35"/>
          <p:cNvSpPr txBox="1"/>
          <p:nvPr/>
        </p:nvSpPr>
        <p:spPr>
          <a:xfrm>
            <a:off x="5440680" y="4663440"/>
            <a:ext cx="5943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ARR estimate (assumption-based)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paying customers × 20,000 guarded actions / month × $5 per 1,000 = $10K MRR, or about </a:t>
            </a:r>
            <a:pPr indent="0" marL="0">
              <a:buNone/>
            </a:pPr>
            <a:r>
              <a:rPr lang="en-US" sz="1300" b="1" dirty="0">
                <a:solidFill>
                  <a:srgbClr val="1F8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$120K ARR in Year 1</a:t>
            </a:r>
            <a:pPr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Every number here is an assumption to test in the pilot.</a:t>
            </a:r>
            <a:endParaRPr lang="en-US" sz="1300" dirty="0"/>
          </a:p>
        </p:txBody>
      </p:sp>
      <p:sp>
        <p:nvSpPr>
          <p:cNvPr id="41" name="Text 3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Benefits &amp; Success Metrics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554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0.5%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actions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irreversible API calls on negated Hindi + Tamil requests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794760" y="1463040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977640" y="1554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900 ms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time (p95)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caller's last word, with the safety check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035808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31520" y="31272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15%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675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rate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9502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guarded actions that ask a question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794760" y="3035808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977640" y="31272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8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3977640" y="3675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coverage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977640" y="39502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actions stored with transcript + SOP result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608576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31520" y="470001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8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−30%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52486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Reversal tickets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5229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/ cancellation reversals at pilot customers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794760" y="4608576"/>
            <a:ext cx="3063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3977640" y="470001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5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2800" dirty="0"/>
          </a:p>
        </p:txBody>
      </p:sp>
      <p:sp>
        <p:nvSpPr>
          <p:cNvPr id="27" name="Text 25"/>
          <p:cNvSpPr txBox="1"/>
          <p:nvPr/>
        </p:nvSpPr>
        <p:spPr>
          <a:xfrm>
            <a:off x="3977640" y="52486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977640" y="55229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eligible voice customers within 2 quarters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269480" y="1463040"/>
            <a:ext cx="4389120" cy="45720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30" name="Chart 0" descr=""/>
          <p:cNvGraphicFramePr/>
          <p:nvPr/>
        </p:nvGraphicFramePr>
        <p:xfrm>
          <a:off x="7406640" y="1554480"/>
          <a:ext cx="41148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Text 28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384048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Assumptions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2103120" cy="2103120"/>
          </a:xfrm>
          <a:prstGeom prst="rect">
            <a:avLst/>
          </a:prstGeom>
          <a:solidFill>
            <a:srgbClr val="FFF4D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1508760"/>
            <a:ext cx="2103120" cy="2103120"/>
          </a:xfrm>
          <a:prstGeom prst="rect">
            <a:avLst/>
          </a:prstGeom>
          <a:solidFill>
            <a:srgbClr val="FBE4E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611880"/>
            <a:ext cx="2103120" cy="2103120"/>
          </a:xfrm>
          <a:prstGeom prst="rect">
            <a:avLst/>
          </a:prstGeom>
          <a:solidFill>
            <a:srgbClr val="E1F3E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3611880"/>
            <a:ext cx="2103120" cy="2103120"/>
          </a:xfrm>
          <a:prstGeom prst="rect">
            <a:avLst/>
          </a:prstGeom>
          <a:solidFill>
            <a:srgbClr val="FFF4D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5760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→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 rot="16200000">
            <a:off x="-1463040" y="34747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→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29507" y="2075688"/>
            <a:ext cx="548640" cy="548640"/>
          </a:xfrm>
          <a:prstGeom prst="ellipse">
            <a:avLst/>
          </a:prstGeom>
          <a:solidFill>
            <a:srgbClr val="1421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29507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56509" y="3968496"/>
            <a:ext cx="548640" cy="548640"/>
          </a:xfrm>
          <a:prstGeom prst="ellipse">
            <a:avLst/>
          </a:prstGeom>
          <a:solidFill>
            <a:srgbClr val="1421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56509" y="3968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810512" y="2496312"/>
            <a:ext cx="548640" cy="548640"/>
          </a:xfrm>
          <a:prstGeom prst="ellipse">
            <a:avLst/>
          </a:prstGeom>
          <a:solidFill>
            <a:srgbClr val="1421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810512" y="2496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020824" y="4178808"/>
            <a:ext cx="548640" cy="548640"/>
          </a:xfrm>
          <a:prstGeom prst="ellipse">
            <a:avLst/>
          </a:prstGeom>
          <a:solidFill>
            <a:srgbClr val="1421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020824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577840" y="1463040"/>
            <a:ext cx="6080760" cy="1033272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806440" y="15544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· Speech-to-text drops the negation completely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806440" y="192024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for irreversible actions, low confidence on a short word, or a missing word where one is expected, sends the call to CONFIRM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7840" y="2633472"/>
            <a:ext cx="6080760" cy="1033272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806440" y="272491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· The safety check adds latency or friction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806440" y="3090672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Claude runs only before sensitive actions; everything else uses the &lt; 5 ms offline path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577840" y="3803904"/>
            <a:ext cx="6080760" cy="1033272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5806440" y="389534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· Dialects and spellings (vendaam, venaam, matt)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806440" y="4261104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lexicon plus LLM fallback, and every human override is added to the training set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577840" y="4974336"/>
            <a:ext cx="6080760" cy="1033272"/>
          </a:xfrm>
          <a:prstGeom prst="roundRect">
            <a:avLst>
              <a:gd name="adj" fmla="val 8850"/>
            </a:avLst>
          </a:prstGeom>
          <a:solidFill>
            <a:srgbClr val="FFFFFF"/>
          </a:solidFill>
          <a:ln w="9525">
            <a:solidFill>
              <a:srgbClr val="DDE3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5806440" y="506577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· Assumption: callers accept a read-back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806440" y="5431536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their own language. We validate with pilot CSAT, and an English read-back is the fallback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 Skill · The Great Agent Hackathon 2026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914400"/>
            <a:ext cx="1005840" cy="1005840"/>
          </a:xfrm>
          <a:prstGeom prst="ellipse">
            <a:avLst/>
          </a:prstGeom>
          <a:solidFill>
            <a:srgbClr val="1F3057"/>
          </a:solidFill>
          <a:ln w="12700">
            <a:solidFill>
              <a:srgbClr val="1F305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1658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1488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“Don't cancel” should mean don't cancel.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108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put an intent-validation safety gate between what the voice agent hears and what it is allowed to do.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31520" y="4251960"/>
            <a:ext cx="5120640" cy="1280160"/>
          </a:xfrm>
          <a:prstGeom prst="roundRect">
            <a:avLst>
              <a:gd name="adj" fmla="val 7143"/>
            </a:avLst>
          </a:prstGeom>
          <a:solidFill>
            <a:srgbClr val="1F3057"/>
          </a:solidFill>
          <a:ln w="12700">
            <a:solidFill>
              <a:srgbClr val="1F305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05840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ASK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47091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Freshdesk sandbox and a Marketplace listing path for a 3-brand pilot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17920" y="4251960"/>
            <a:ext cx="5120640" cy="1280160"/>
          </a:xfrm>
          <a:prstGeom prst="roundRect">
            <a:avLst>
              <a:gd name="adj" fmla="val 7143"/>
            </a:avLst>
          </a:prstGeom>
          <a:solidFill>
            <a:srgbClr val="1F3057"/>
          </a:solidFill>
          <a:ln w="12700">
            <a:solidFill>
              <a:srgbClr val="1F305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47091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codemix-skill.vercel.app: the Round-1 engine this builds on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Ramanathan &amp; Sadhana  ·  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Codemix Skill — Business Case</dc:title>
  <dc:subject>PptxGenJS Presentation</dc:subject>
  <dc:creator>Team Ramanathan &amp; Sadhana</dc:creator>
  <cp:lastModifiedBy>Team Ramanathan &amp; Sadhana</cp:lastModifiedBy>
  <cp:revision>1</cp:revision>
  <dcterms:created xsi:type="dcterms:W3CDTF">2026-09-25T19:44:46Z</dcterms:created>
  <dcterms:modified xsi:type="dcterms:W3CDTF">2026-09-25T19:44:46Z</dcterms:modified>
</cp:coreProperties>
</file>