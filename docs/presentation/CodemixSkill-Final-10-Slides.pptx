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Arial"/>
              </a:rPr>
              <a:t>Wrong refund / cancel on negated requests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Round-1 engine alone</c:v>
                </c:pt>
              </c:strCache>
            </c:strRef>
          </c:tx>
          <c:spPr>
            <a:solidFill>
              <a:srgbClr val="C8283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Negated requests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negation gate v0</c:v>
                </c:pt>
              </c:strCache>
            </c:strRef>
          </c:tx>
          <c:spPr>
            <a:solidFill>
              <a:srgbClr val="1F8A6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Negated requests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48% is reproducible: node decision-policy/negation-benchmark.mjs. It is a small team-written set, so present it as evidence the problem is real, not as a production accuracy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Reproduce: node decision-policy/negation-benchmark.mjs. The same run shows the Round-1 keyword engine recognised only 7 of 20 genuine requests, which is why the MVP uses Claude for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12  ·  INITIATIVE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AGENT HACKATHON 2026  ·  FINAL ROUND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+ decision layer between AI agents and their actions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the agent is allowed to do.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Initiative: Codemix Skill   ·   Owner: Team Ramanathan &amp; Sadhana   ·   Track 1: Customer &amp; Employee Experience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410712"/>
            <a:ext cx="219456" cy="219456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673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 can immediately call a refund, cancellation or replacement API. One missed negation turns the right conversation into the wrong transaction.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3246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3410712"/>
            <a:ext cx="219456" cy="219456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55464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7673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plug-in between the AI agent and its API/tool calls. It validates intent, negation, confidence, sentiment and SOP rules before execution.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3410712"/>
            <a:ext cx="219456" cy="219456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58784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EXTENSION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37673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Unsafe, uncertain or escalated calls become Freshdesk tickets with transcript, decision context and action details for a human agent.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486400"/>
            <a:ext cx="1362456" cy="566928"/>
          </a:xfrm>
          <a:prstGeom prst="homePlate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892808" y="5486400"/>
            <a:ext cx="1362456" cy="566928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145536" y="5486400"/>
            <a:ext cx="1362456" cy="566928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398264" y="5486400"/>
            <a:ext cx="1362456" cy="566928"/>
          </a:xfrm>
          <a:prstGeom prst="chevron">
            <a:avLst/>
          </a:prstGeom>
          <a:solidFill>
            <a:srgbClr val="1F3057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5486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1400" b="1" i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12  ·  PROBLEM STATEMENT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code-mixed voice, one short word can reverse the meaning of an API action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EXAMPLE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84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165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cancel → update address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EXAMPLE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984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“Refund </a:t>
            </a:r>
            <a:pPr indent="0" marL="0">
              <a:buNone/>
            </a:pPr>
            <a:r>
              <a:rPr lang="en-US" sz="165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vendam</a:t>
            </a:r>
            <a:pPr indent="0" marL="0">
              <a:buNone/>
            </a:pPr>
            <a:r>
              <a:rPr lang="en-US" sz="165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replacement anuppunga.”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intent: do NOT refund → send replacement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BREAKS TODAY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 “don't cancel”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364992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drops “mat”, or the intent model ignores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9592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181344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cancel_order()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95944" y="3909060"/>
            <a:ext cx="301752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997696" y="347472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cancelled: money, reshipping, trust lost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4663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6817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negated requests would still trigger a refund / cancel in our own Round-1 engine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11 of 23 team-written test sentences (Hindi, Tamil, English, Telugu, Kannada, Bengali)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46520" y="46634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001000" y="468172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cash-on-delivery orders in India return to origin, so refund / cancel / return calls are high-volume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Shipway ShipNotes report, FY25 (Jul 2025)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3 &amp; 4 OF 12  ·  WHY NOW  ·  COMPETITIVE LANDSCAPE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3·4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&amp; Competitive Landscape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write access, and nobody gates what they are allowed to do on a misheard word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548640" cy="5486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070202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892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act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18541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and MCP let agents trigger refunds, cancellations and returns directly.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48640" cy="5486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856586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26791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Code-mixing is normal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29718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callers switch language mid-sentence; the risk sits in small intent-flipping words.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511296"/>
            <a:ext cx="548640" cy="54864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64297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34655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stack is ready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234440" y="375818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VoBiz, Sarvam, Claude and ElevenLabs make a checked, real-time voice agent possible now.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315968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731520" y="431596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27–70%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2331720" y="431596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word error rate across speech-to-text models.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alone can't be trusted with irreversible actions.</a:t>
            </a:r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Deepgram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1874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7909560" y="1874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55548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72200" y="2176272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F4F6F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263640" y="217627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7909560" y="217627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9555480" y="217627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 run on the first interpretation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172200" y="2962656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F4F6F9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263640" y="296265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Confirm-everything IVR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7909560" y="296265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confirmation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9555480" y="29626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on every action, even low-risk ones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172200" y="374904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F4F6F9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263640" y="374904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guardrails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7909560" y="374904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toxicity, PII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9555480" y="3749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action gate for code-mixed negation + speech confidence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172200" y="4535424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263640" y="453542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150" dirty="0"/>
          </a:p>
        </p:txBody>
      </p:sp>
      <p:sp>
        <p:nvSpPr>
          <p:cNvPr id="41" name="Text 36"/>
          <p:cNvSpPr txBox="1"/>
          <p:nvPr/>
        </p:nvSpPr>
        <p:spPr>
          <a:xfrm>
            <a:off x="7909560" y="453542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intent → risk check → ALLOW / CONFIRM / BLOCK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9555480" y="453542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cases go to Freshworks with full context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548640" y="548640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39"/>
          <p:cNvSpPr txBox="1"/>
          <p:nvPr/>
        </p:nvSpPr>
        <p:spPr>
          <a:xfrm>
            <a:off x="777240" y="5486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timing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voice bot: the layer that decides when an agent may call an API.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6172200" y="548640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1"/>
          <p:cNvSpPr txBox="1"/>
          <p:nvPr/>
        </p:nvSpPr>
        <p:spPr>
          <a:xfrm>
            <a:off x="6400800" y="5486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action gate + human escalation + a full audit record.</a:t>
            </a:r>
            <a:endParaRPr lang="en-US" sz="1150" dirty="0"/>
          </a:p>
        </p:txBody>
      </p:sp>
      <p:sp>
        <p:nvSpPr>
          <p:cNvPr id="47" name="Text 4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the Intent-Validation Safety Gate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what the voice agent hears and what it is allowed to do; each part has one job in preventing a wrong action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98882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65176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AI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98882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75488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98882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858000" y="1600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negation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41080" y="1988820"/>
            <a:ext cx="32004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961120" y="1463040"/>
            <a:ext cx="2697480" cy="105156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 · Codemix Skill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act?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>
            <a:off x="3337560" y="2514600"/>
            <a:ext cx="6972300" cy="411480"/>
          </a:xfrm>
          <a:prstGeom prst="line">
            <a:avLst/>
          </a:prstGeom>
          <a:noFill/>
          <a:ln w="22225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74520" y="29260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 → human agent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angry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3493008"/>
            <a:ext cx="914" cy="164592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6537960" y="2514600"/>
            <a:ext cx="3771900" cy="411480"/>
          </a:xfrm>
          <a:prstGeom prst="line">
            <a:avLst/>
          </a:prstGeom>
          <a:noFill/>
          <a:ln w="22225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074920" y="29260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read-back, voice or DTMF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3493008"/>
            <a:ext cx="914" cy="164592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738360" y="2514600"/>
            <a:ext cx="571500" cy="411480"/>
          </a:xfrm>
          <a:prstGeom prst="line">
            <a:avLst/>
          </a:prstGeom>
          <a:noFill/>
          <a:ln w="22225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75320" y="292608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Payments: refund / return / replace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738360" y="3493008"/>
            <a:ext cx="914" cy="164592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874520" y="3657600"/>
            <a:ext cx="9326880" cy="365760"/>
          </a:xfrm>
          <a:prstGeom prst="roundRect">
            <a:avLst>
              <a:gd name="adj" fmla="val 20000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speaks every reply in the caller's own language mix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PART PREVENTS A WRONG ACTION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4663440"/>
            <a:ext cx="128016" cy="12801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AI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DTMF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confirmation needs no speech recognition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14016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51176" y="4663440"/>
            <a:ext cx="128016" cy="12801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34056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688336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551176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 and Tamil + English transcribed, so the negation reaches the check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79392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16552" y="4663440"/>
            <a:ext cx="128016" cy="12801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99432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553712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SAFETY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4416552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vendam” = NO refund, YES replacement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44768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81928" y="4663440"/>
            <a:ext cx="128016" cy="128016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64808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Payments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419088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API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281928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return / replace only after the gate says YES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10144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47304" y="4663440"/>
            <a:ext cx="128016" cy="128016"/>
          </a:xfrm>
          <a:prstGeom prst="ellipse">
            <a:avLst/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30184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284464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2A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WORKFLOW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147304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resolved safely → Freshdesk ticket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75520" y="4498848"/>
            <a:ext cx="175564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012680" y="4663440"/>
            <a:ext cx="128016" cy="128016"/>
          </a:xfrm>
          <a:prstGeom prst="ellipse">
            <a:avLst/>
          </a:prstGeom>
          <a:solidFill>
            <a:srgbClr val="7A5000"/>
          </a:solidFill>
          <a:ln w="12700">
            <a:solidFill>
              <a:srgbClr val="7A5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95560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0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REPLY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10012680" y="5138928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back what it understood in the caller's mix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End to End — All 11 Features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appears only where it adds value; routine calls take the fast path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682496"/>
            <a:ext cx="365760" cy="3657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speaks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phone line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688336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5C8A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459736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1572768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682496"/>
            <a:ext cx="365760" cy="36576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4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2688336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5C8A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9736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1572768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1682496"/>
            <a:ext cx="365760" cy="3657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0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intent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3036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engine + Claude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88336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53512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459736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06640" y="1572768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16368" y="1682496"/>
            <a:ext cx="365760" cy="3657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16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check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/ vendam / nahi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516368" y="2688336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26880" y="2459736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92640" y="1572768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02368" y="1682496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02368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802368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check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80236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→ human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2688336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human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652760" y="3236976"/>
            <a:ext cx="914" cy="23774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92640" y="3474720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802368" y="3584448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80236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02368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802368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CONFIRM / BLOCK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802368" y="4590288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flipH="1">
            <a:off x="9326880" y="43616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406640" y="3474720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16368" y="3584448"/>
            <a:ext cx="365760" cy="365760"/>
          </a:xfrm>
          <a:prstGeom prst="ellipse">
            <a:avLst/>
          </a:prstGeom>
          <a:solidFill>
            <a:srgbClr val="7A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1636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516368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if unsure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516368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/ keypad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516368" y="4590288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uncertainty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7516368" y="4855464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500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+ IVR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flipH="1">
            <a:off x="7040880" y="43616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120640" y="3474720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230368" y="3584448"/>
            <a:ext cx="365760" cy="36576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23036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5230368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5230368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/ company API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 flipH="1">
            <a:off x="4754880" y="43616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834640" y="3474720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944368" y="3584448"/>
            <a:ext cx="365760" cy="36576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94436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2944368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2944368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rules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2944368" y="4590288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6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 flipH="1">
            <a:off x="2468880" y="4361688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548640" y="3474720"/>
            <a:ext cx="1920240" cy="1664208"/>
          </a:xfrm>
          <a:prstGeom prst="roundRect">
            <a:avLst>
              <a:gd name="adj" fmla="val 4396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58368" y="3584448"/>
            <a:ext cx="365760" cy="36576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8368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4005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4297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API log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590288"/>
            <a:ext cx="17007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8A6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548640" y="5285232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scores caller sentiment every turn; two negative turns or an explicit request for a human → Freshdesk ticket.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offline checks first (1.87 ms measured); Claude runs only before sensitive actions.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audit: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checked against company rules (authorisation, required confirmation, escalation) → PASS / VIOLATION + audit reference; transcript, decisions and API calls are stored.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PROPOSED SOLUTION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Decision &amp; Transparent Confirmation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silently guesses on an irreversible action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refund(order)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560320" y="1508760"/>
            <a:ext cx="2103120" cy="12344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2103120" cy="12344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125980"/>
            <a:ext cx="274320" cy="914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315200" y="1463040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+ safe → execute and log.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359152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on a risky action → say what's unsure → voice or DTMF.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255264"/>
            <a:ext cx="4343400" cy="804672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ROUTE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conflicts with the action, or confirmation fails → stop API + Freshdesk.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6492240" cy="3108960"/>
          </a:xfrm>
          <a:prstGeom prst="roundRect">
            <a:avLst>
              <a:gd name="adj" fmla="val 2941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CONFIRMATION IN PRACTICE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3456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3685032"/>
            <a:ext cx="475488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“Refund… vendam… maybe replacement.”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ElevenLabs, caller's mix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25112"/>
            <a:ext cx="4754880" cy="621792"/>
          </a:xfrm>
          <a:prstGeom prst="roundRect">
            <a:avLst>
              <a:gd name="adj" fmla="val 17647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fully sure whether you want a refund or a replacement. Press 1 for replacement, 2 for a human agent.”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9926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· keypad via VoBiz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5221224"/>
            <a:ext cx="4754880" cy="347472"/>
          </a:xfrm>
          <a:prstGeom prst="roundRect">
            <a:avLst>
              <a:gd name="adj" fmla="val 31579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1  →  no speech-to-text ambiguity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509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Interrupts: VoBiz voice-activity detection stops ElevenLabs playback the moment the caller speaks; the new words become the latest input.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0" y="4206240"/>
            <a:ext cx="4343400" cy="1965960"/>
          </a:xfrm>
          <a:prstGeom prst="roundRect">
            <a:avLst>
              <a:gd name="adj" fmla="val 465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43800" y="420624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OUTCOME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vendam, replacement anuppunga.”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refund  →  confirm replacement  →  if unclear, Freshdesk ticket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FRESHWORKS INTEGRATION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Integration — Human-in-the-Loop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takes the handoff; also works with Freshcaller as the voice channel and alongside Freddy AI Agent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103120"/>
            <a:ext cx="27432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468880" y="1645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254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274320" cy="914"/>
          </a:xfrm>
          <a:prstGeom prst="line">
            <a:avLst/>
          </a:prstGeom>
          <a:noFill/>
          <a:ln w="3175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72000" y="1481328"/>
            <a:ext cx="1645920" cy="1243584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6217920" y="1783080"/>
            <a:ext cx="274320" cy="9144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2331720"/>
            <a:ext cx="274320" cy="18288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92240" y="146304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company API executes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decision and API call are logged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40280"/>
            <a:ext cx="5166360" cy="594360"/>
          </a:xfrm>
          <a:prstGeom prst="roundRect">
            <a:avLst>
              <a:gd name="adj" fmla="val 12308"/>
            </a:avLst>
          </a:prstGeom>
          <a:solidFill>
            <a:srgbClr val="12AF97"/>
          </a:solidFill>
          <a:ln w="12700">
            <a:solidFill>
              <a:srgbClr val="12AF9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Freshdesk REST API  ·  POST /api/v2/tickets  →  human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46634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00400"/>
            <a:ext cx="438912" cy="438912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59" y="3305739"/>
            <a:ext cx="228234" cy="22823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3200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ticket is created when…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703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is unsafe or unclear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doesn't confirm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is angry / distressed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should not guess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1520" y="4846320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4951659"/>
            <a:ext cx="228234" cy="22823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48463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 to Freshdesk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" y="5321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intent validation, action gating, transparent confirmation and structured escalation, on top of ticketing, agent workspace and customer history.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40680" y="3063240"/>
            <a:ext cx="6217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440680" y="3063240"/>
            <a:ext cx="6217920" cy="411480"/>
          </a:xfrm>
          <a:prstGeom prst="roundRect">
            <a:avLst>
              <a:gd name="adj" fmla="val 22222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62356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agent receives in the Freshdesk ticket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57784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57784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ID + timestamp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557784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code-mixed transcript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57784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languages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557784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summary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57784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DTMF source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758952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58952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confidence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58952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detected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58952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verdict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58952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API action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758952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status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960120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9601200" y="3877056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tags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9601200" y="4306824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result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9601200" y="4736592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escalation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9601200" y="5166360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API call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601200" y="5596128"/>
            <a:ext cx="1901952" cy="36576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12700">
            <a:solidFill>
              <a:srgbClr val="F4F6F9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12  ·  AGENTIC / AI DESIGN  ·  MVP SCOPE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Design, MVP Scope &amp; Early Proof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plug-in control point that intercepts the proposed action before the company API is called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DESIGN: THE PLUG-IN CONTROL POINT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74520"/>
            <a:ext cx="2859786" cy="713232"/>
          </a:xfrm>
          <a:prstGeom prst="homePlate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Existing AI agent (Freddy or own) proposes a tool call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98698" y="1874520"/>
            <a:ext cx="2859786" cy="713232"/>
          </a:xfrm>
          <a:prstGeom prst="chevron">
            <a:avLst/>
          </a:prstGeom>
          <a:solidFill>
            <a:srgbClr val="F4A300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Codemix Skill intercepts via MCP / REST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48756" y="1874520"/>
            <a:ext cx="2859786" cy="713232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Claude + gate: ALLOW / CONFIRM / BLOCK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798814" y="1874520"/>
            <a:ext cx="2859786" cy="713232"/>
          </a:xfrm>
          <a:prstGeom prst="chevron">
            <a:avLst/>
          </a:prstGeom>
          <a:solidFill>
            <a:srgbClr val="14213D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Dodo / company API runs, or Freshdesk handoff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F8A63"/>
          </a:solidFill>
          <a:ln>
            <a:solidFill>
              <a:srgbClr val="1F8A6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40280" y="283464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395728" y="28346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 engine + intent scoring · MCP server · live Freshdesk ticket API · negation gate v0 + benchmark · Vercel demo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(3 MONTHS)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393192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395728" y="39319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+ ElevenLabs voice path · Claude safety gate · Dodo action path · Freshdesk escalation · Hindi + Tamil + English · audit trail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A5C8A"/>
          </a:solidFill>
          <a:ln>
            <a:solidFill>
              <a:srgbClr val="2A5C8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40280" y="502920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E4EDF6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395728" y="502920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interrupt tuning · SOP rule editor + reports · more Indian languages · Freshworks Marketplace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834640"/>
            <a:ext cx="4983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03720" y="2926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PROOF (MEASURED)</a:t>
            </a:r>
            <a:endParaRPr lang="en-US" sz="10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812280" y="3154680"/>
          <a:ext cx="47091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903720" y="5166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23 → 0 of 23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actions; 0 of 20 genuine requests blocked. 43 team-written sentences in 6 languages; the pilot measures real calls.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6–9 OF 12  ·  CUSTOMERS  ·  VALUE  ·  PRICING  ·  GO-TO-MARKET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Customers, Value, Pricing &amp; Go-to-Market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AI agents already have permission to act; pilot → proof → Freshworks distribution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1700784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82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057400"/>
            <a:ext cx="5120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D2C, e-commerce and fintech brands on Freshdesk deploying AI voice agents for Indian customers.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BPOs needing one safety / policy layer across many clients.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actions: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returns, replacements, cancellations.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~26% of COD orders return to origin (Shipway FY25), so these calls are high-volume.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572768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700784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30568" y="1682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02996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it in once: the existing agent serves mixed-language callers, and nothing irreversible happens on a misheard word.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816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first guess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“mat” = wrong refund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escalation, no record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Codemix Skill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8163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intent + negation first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when unsure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handoff + audit trail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4059936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41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Packaging (proposed)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407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4407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mode: flags risky actions, never blocks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8097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/ 1,000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4809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actions: full gate, DTMF, Freshdesk, audit · 30 days free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212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SOP rule packs, India data residency, SLA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sensitive actions are metered: one prevented ₹1,000 wrong refund pays for 2,000+ guarded actions.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0488" y="3931920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355080" y="4059936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30568" y="4041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Plan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73368" y="4443984"/>
            <a:ext cx="246888" cy="2468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73368" y="44439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41655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Indian D2C design partners on Freshdesk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73368" y="4773168"/>
            <a:ext cx="246888" cy="2468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73368" y="47731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474573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monitor-mode pilot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73368" y="5102352"/>
            <a:ext cx="246888" cy="2468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73368" y="5102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50749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wrong-action proof + demo video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73368" y="5431536"/>
            <a:ext cx="246888" cy="246888"/>
          </a:xfrm>
          <a:prstGeom prst="ellipse">
            <a:avLst/>
          </a:prstGeom>
          <a:solidFill>
            <a:srgbClr val="12AF9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73368" y="54315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54041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Marketplace listing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73368" y="5760720"/>
            <a:ext cx="246888" cy="24688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73368" y="57607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573328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Freshdesk deals + BPO partners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10972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10–12 OF 12  ·  COSTS  ·  METRICS  ·  RISKS &amp; ASSUMPTIONS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657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Costs, Success Metrics, Risks &amp; The Ask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33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and targets are labelled; two baselines are already measured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1700784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&amp; Resources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~$90K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MVP (estimate)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2743200"/>
            <a:ext cx="1234440" cy="182880"/>
          </a:xfrm>
          <a:prstGeom prst="roundRect">
            <a:avLst>
              <a:gd name="adj" fmla="val 25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266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 + labelling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40280" y="3072384"/>
            <a:ext cx="205740" cy="182880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91740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355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40280" y="3401568"/>
            <a:ext cx="164592" cy="182880"/>
          </a:xfrm>
          <a:prstGeom prst="roundRect">
            <a:avLst>
              <a:gd name="adj" fmla="val 27778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3355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685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+ telephony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3730752"/>
            <a:ext cx="144018" cy="182880"/>
          </a:xfrm>
          <a:prstGeom prst="roundRect">
            <a:avLst>
              <a:gd name="adj" fmla="val 31746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30018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0142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40280" y="4059936"/>
            <a:ext cx="102870" cy="182880"/>
          </a:xfrm>
          <a:prstGeom prst="roundRect">
            <a:avLst>
              <a:gd name="adj" fmla="val 44444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88870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4348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negation data · M2 Claude gate, Dodo, voice path · M3 Freshdesk, audit, pilot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 × 20K actions/mo × $5/1K ≈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(assumption)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61688" y="1572768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26280" y="1700784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2084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084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53128" y="2331720"/>
            <a:ext cx="33375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2628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 on negation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48%*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&lt;0.5%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53128" y="2715768"/>
            <a:ext cx="3337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2628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latency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2715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1.87ms†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059168" y="27157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53128" y="3099816"/>
            <a:ext cx="33375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26280" y="3099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reply (sensitive)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355080" y="30998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059168" y="30998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&lt;900ms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53128" y="3483864"/>
            <a:ext cx="3337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26280" y="3483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355080" y="34838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059168" y="34838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≤15%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53128" y="3867912"/>
            <a:ext cx="33375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26280" y="3867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38679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8679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453128" y="4251960"/>
            <a:ext cx="3337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2628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tickets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355080" y="42519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059168" y="42519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53128" y="4636008"/>
            <a:ext cx="33375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26280" y="4636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(2 qtrs)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6355080" y="46360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059168" y="46360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4498848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Round-1 engine, no gate, 23-sentence test set   † npm test average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92440" y="1572768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8257032" y="1700784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805672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Assumptions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8247888" y="2121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drops the negation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 every risky action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8247888" y="2596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 adds latency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checks only when sensitive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247888" y="3072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/ spelling variation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lexicon + model fallback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8247888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friction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≤15% confirmation budget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8247888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8247888" y="43159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brands expose refund / return APIs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accept a short confirmation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is accurate enough with the fallback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48640" y="5623560"/>
            <a:ext cx="11109960" cy="566928"/>
          </a:xfrm>
          <a:prstGeom prst="roundRect">
            <a:avLst>
              <a:gd name="adj" fmla="val 16129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777240" y="562356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sandbox + Marketplace listing path for a 3-brand pilot. 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cancel” should mean don't cancel.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 •  The Great Agent Hackathon 2026  •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Codemix Skill — Judge-Ready Business Case</dc:title>
  <dc:subject>PptxGenJS Presentation</dc:subject>
  <dc:creator>Team Ramanathan &amp; Sadhana</dc:creator>
  <cp:lastModifiedBy>Team Ramanathan &amp; Sadhana</cp:lastModifiedBy>
  <cp:revision>1</cp:revision>
  <dcterms:created xsi:type="dcterms:W3CDTF">2026-09-26T02:48:28Z</dcterms:created>
  <dcterms:modified xsi:type="dcterms:W3CDTF">2026-09-26T02:48:28Z</dcterms:modified>
</cp:coreProperties>
</file>