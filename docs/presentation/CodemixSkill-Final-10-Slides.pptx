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Arial"/>
              </a:rPr>
              <a:t>Wrong refund / cancel on negated requests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Round-1 engine alone</c:v>
                </c:pt>
              </c:strCache>
            </c:strRef>
          </c:tx>
          <c:spPr>
            <a:solidFill>
              <a:srgbClr val="C8283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negation gate v0</c:v>
                </c:pt>
              </c:strCache>
            </c:strRef>
          </c:tx>
          <c:spPr>
            <a:solidFill>
              <a:srgbClr val="1F8A6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48% is reproducible: node decision-policy/negation-benchmark.mjs. It is a small team-written set, so present it as evidence the problem is real, not as a production accuracy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Reproduce: node decision-policy/negation-benchmark.mjs. The same run shows the Round-1 keyword engine recognised only 7 of 20 genuine requests, which is why the MVP uses Claude for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simply: brands save about ₹3.8 for every ₹1 they pay us, roughly ₹6 crore of wrong refunds avoided in Year 1, and Freshworks earns $349K. Savings: plug-in customer with 20K guarded actions/month, 2% negated, 48% misfire (measured) = 192 wrong ₹1,000 actions prevented = ₹1.92L/month vs ₹51K fee; 25 avg customers x 12 = ₹5.76 Cr; voice brands add ~₹23L. ROI assumptions. Unit costs (Sep 2026 list prices, ₹85/$): VoBiz ₹0.45/min; Sarvam STT ₹30/hr; ElevenLabs Flash $0.05 per 1K chars (~1,500 agent chars per 3-min call); Claude checks ~2 per call, Haiku 4.5 ($1/$5 per M tokens) for routine and Sonnet 5 ($2/$10) for ~20% ambiguous cases, ~2K in / 300 out tokens each; hosting + storage ~$0.005. Voice call cost ~₹10.4 per 3 min (~₹3.5/min) vs ₹8/min price (~56% margin). Plug-in cost ~₹1.1 per guarded action vs $0.03 (₹2.55) price (~55% margin). Dodo Payments fees (4% + $0.15 per INR transaction, $1 per refund) and Freshdesk plans are paid by the customer on their own accounts. Year 1: plug-in ramps to 50 customers (avg 25) at 20K guarded actions/month = $180K; voice ramps to 10 brands (avg 5) at 30K minutes/month = $169K; total $349K revenue, ~$195K gross profit; cumulative gross profit passes the $90K build around month 8. Customer ROI: brand with 20K guarded actions pays $600 (₹51K)/month; if 2% of requests contain a negation and 48% of those misfire (our measured rate), ~192 wrong ₹1,000 actions are prevented = ₹1.92L/month, ~3.8x; break-even at 51 prevented actions = 0.26%.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FINAL ROUND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+ decision layer between AI agents and their actions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an intent-validation safety gate between what the voice agent hears and what the agent is allowed to do.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614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Initiative: Codemix Skill   ·   Owner: Team Ramanathan &amp; Sadhana   ·   Track 1: Customer &amp; Employee Experience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410712"/>
            <a:ext cx="219456" cy="219456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5214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agents can immediately call a refund, cancellation or replacement API. One missed negation turns the right conversation into the wrong transaction.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44568" y="3410712"/>
            <a:ext cx="219456" cy="21945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5546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PRODUCT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between the AI agent and its API/tool calls. It validates intent, negation, confidence, sentiment and SOP rules before execution.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47888" y="3410712"/>
            <a:ext cx="219456" cy="21945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5878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EXTENSION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Unsafe, uncertain or escalated calls become Freshdesk tickets with transcript, decision context and action details for a human agent.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86400"/>
            <a:ext cx="1362456" cy="566928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892808" y="5486400"/>
            <a:ext cx="1362456" cy="566928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145536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989320" y="548640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4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code-mixed voice, one short word can reverse the meaning of an API action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EXAMPLE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cancel → update address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EXAMPLE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“Refund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anuppunga.”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refund → send replacement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1546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BREAKS TODAY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 “don't cancel”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63240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364992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drops “mat”, or the intent model ignores 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79592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181344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cancel_order()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95944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8997696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cancelled: money, reshipping, trust lost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7724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negated requests would still trigger a refund / cancel in our own Round-1 engine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11 of 23 team-written test sentences (Hindi, Tamil, English, Telugu, Kannada, Bengali)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4652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800100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cash-on-delivery orders in India return to origin, so refund / cancel / return calls are high-volume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Shipway ShipNotes report, FY25 (Jul 2025)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3·4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 &amp; Competitive Landscape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have write access, and nobody gates what they are allowed to do on a misheard word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938528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070202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89280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can act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185416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and MCP let agents trigger refunds, cancellations and returns directly.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2724912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856586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4440" y="26791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Code-mixing is normal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1234440" y="297180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switch language mid-sentence; the risk sits in small intent-flipping words.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34655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voice stack is ready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234440" y="375818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VoBiz, Sarvam, Claude and ElevenLabs make a checked, real-time voice agent possible now.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315968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731520" y="4315968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27–70%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2331720" y="4315968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word error rate across speech-to-text models.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 alone can't be trusted with irreversible actions.</a:t>
            </a:r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Deepgram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626364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90956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9555480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172200" y="2176272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6364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90956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effort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9555480" y="217627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actions run on the first interpretation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172200" y="2962656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26364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Confirm-everything IVR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790956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confirmation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9555480" y="296265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on every action, even low-risk ones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172200" y="374904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26364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guardrails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790956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Policy, toxicity, PII</a:t>
            </a:r>
            <a:endParaRPr lang="en-US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9555480" y="374904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action gate for code-mixed negation + speech confidence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172200" y="4535424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19050">
            <a:solidFill>
              <a:srgbClr val="F4A30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26364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790956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→ risk check → ALLOW / CONFIRM / BLOCK</a:t>
            </a:r>
            <a:endParaRPr lang="en-US" sz="1050" dirty="0"/>
          </a:p>
        </p:txBody>
      </p:sp>
      <p:sp>
        <p:nvSpPr>
          <p:cNvPr id="41" name="Text 36"/>
          <p:cNvSpPr txBox="1"/>
          <p:nvPr/>
        </p:nvSpPr>
        <p:spPr>
          <a:xfrm>
            <a:off x="9555480" y="453542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cases go to Freshworks with full context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548640" y="5486400"/>
            <a:ext cx="530352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3" name="Text 38"/>
          <p:cNvSpPr txBox="1"/>
          <p:nvPr/>
        </p:nvSpPr>
        <p:spPr>
          <a:xfrm>
            <a:off x="777240" y="5486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timing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voice bot: the layer that decides when an agent may call an API.</a:t>
            </a:r>
            <a:endParaRPr lang="en-US" sz="1150" dirty="0"/>
          </a:p>
        </p:txBody>
      </p:sp>
      <p:sp>
        <p:nvSpPr>
          <p:cNvPr id="44" name="Shape 39"/>
          <p:cNvSpPr/>
          <p:nvPr/>
        </p:nvSpPr>
        <p:spPr>
          <a:xfrm>
            <a:off x="6172200" y="548640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5" name="Text 40"/>
          <p:cNvSpPr txBox="1"/>
          <p:nvPr/>
        </p:nvSpPr>
        <p:spPr>
          <a:xfrm>
            <a:off x="6400800" y="54864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action gate + human escalation + a full audit record.</a:t>
            </a:r>
            <a:endParaRPr lang="en-US" sz="1150" dirty="0"/>
          </a:p>
        </p:txBody>
      </p:sp>
      <p:sp>
        <p:nvSpPr>
          <p:cNvPr id="46" name="Text 4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Solution: the Intent-Validation Safety Gate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what the voice agent hears and what it is allowed to do; each part has one job in preventing a wrong action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3172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65176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call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75488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3796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85800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4108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8961120" y="1463040"/>
            <a:ext cx="2697480" cy="105156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 · Codemix Skill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act?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flipH="1">
            <a:off x="3337560" y="2514600"/>
            <a:ext cx="6972300" cy="411480"/>
          </a:xfrm>
          <a:prstGeom prst="line">
            <a:avLst/>
          </a:prstGeom>
          <a:noFill/>
          <a:ln w="22225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8745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ticket → human agent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/ angry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375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6537960" y="2514600"/>
            <a:ext cx="3771900" cy="411480"/>
          </a:xfrm>
          <a:prstGeom prst="line">
            <a:avLst/>
          </a:prstGeom>
          <a:noFill/>
          <a:ln w="22225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0749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read-back, voice or DTMF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379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>
            <a:off x="9738360" y="2514600"/>
            <a:ext cx="571500" cy="411480"/>
          </a:xfrm>
          <a:prstGeom prst="line">
            <a:avLst/>
          </a:prstGeom>
          <a:noFill/>
          <a:ln w="22225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82753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Payments: refund / return / replace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96696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383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1874520" y="3657600"/>
            <a:ext cx="9326880" cy="365760"/>
          </a:xfrm>
          <a:prstGeom prst="roundRect">
            <a:avLst>
              <a:gd name="adj" fmla="val 20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speaks every reply in the caller's own language mix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PART PREVENTS A WRONG ACTION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85800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DTMF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Keypad confirmation needs no speech recognition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414016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551176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734056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688336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2551176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English and Tamil + English transcribed, so the negation reaches the check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79392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416552" y="4663440"/>
            <a:ext cx="128016" cy="12801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99432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553712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SAFETY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4416552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vendam” = NO refund, YES replacement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44768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281928" y="4663440"/>
            <a:ext cx="128016" cy="128016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64808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19088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API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6281928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return / replace only after the gate says YES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10144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147304" y="4663440"/>
            <a:ext cx="128016" cy="12801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30184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284464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8147304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resolved safely → Freshdesk ticket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87552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0012680" y="4663440"/>
            <a:ext cx="128016" cy="128016"/>
          </a:xfrm>
          <a:prstGeom prst="ellipse">
            <a:avLst/>
          </a:prstGeom>
          <a:solidFill>
            <a:srgbClr val="7A5000"/>
          </a:solidFill>
          <a:ln w="12700">
            <a:solidFill>
              <a:srgbClr val="7A500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19556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REPLY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1001268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back what it understood in the caller's mix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End to End — All 11 Features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appears only where it adds value; routine calls take the fast path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speaks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phone line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34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944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4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944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944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120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230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30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230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intent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230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engine + Claude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Mixed-language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230368" y="295351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40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06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16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6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check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 / vendam / nahi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326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692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802368" y="1682496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802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802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check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9802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→ human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652760" y="3236976"/>
            <a:ext cx="914" cy="23774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9692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802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802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9802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802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 flipH="1">
            <a:off x="9326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7406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516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16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7516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if unsure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7516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/ keypad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516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7516368" y="4855464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+ IVR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 flipH="1">
            <a:off x="7040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5120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230368" y="3584448"/>
            <a:ext cx="365760" cy="36576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230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5230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61" name="Text 59"/>
          <p:cNvSpPr txBox="1"/>
          <p:nvPr/>
        </p:nvSpPr>
        <p:spPr>
          <a:xfrm>
            <a:off x="5230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/ company API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H="1">
            <a:off x="4754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2834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2944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944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2944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</a:t>
            </a:r>
            <a:endParaRPr lang="en-US" sz="1250" dirty="0"/>
          </a:p>
        </p:txBody>
      </p:sp>
      <p:sp>
        <p:nvSpPr>
          <p:cNvPr id="67" name="Text 65"/>
          <p:cNvSpPr txBox="1"/>
          <p:nvPr/>
        </p:nvSpPr>
        <p:spPr>
          <a:xfrm>
            <a:off x="2944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rules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2944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auditing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 flipH="1">
            <a:off x="2468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48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658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58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73" name="Text 71"/>
          <p:cNvSpPr txBox="1"/>
          <p:nvPr/>
        </p:nvSpPr>
        <p:spPr>
          <a:xfrm>
            <a:off x="658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API log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548640" y="5285232"/>
            <a:ext cx="11109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scores caller sentiment every turn; two negative turns or an explicit request for a human → Freshdesk ticket.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offline checks first (1.87 ms measured); Claude runs only before sensitive actions.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checked against company rules (authorisation, required confirmation, escalation) → PASS / VIOLATION + audit reference; transcript, decisions and API calls are stored.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Decision &amp; Transparent Confirmation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silently guesses on an irreversible action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refund(order)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28600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56032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93776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04088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7315200" y="1463040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 + safe → execute and log.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2359152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on a risky action → say what's unsure → voice or DTMF.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255264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ROUTE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conflicts with the action, or confirmation fails → stop API + Freshdesk.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063240"/>
            <a:ext cx="6492240" cy="3108960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 IN PRACTICE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34564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3685032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“Refund… vendam… maybe replacement.”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09651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ElevenLabs, caller's mix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325112"/>
            <a:ext cx="4754880" cy="621792"/>
          </a:xfrm>
          <a:prstGeom prst="roundRect">
            <a:avLst>
              <a:gd name="adj" fmla="val 17647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not fully sure whether you want a refund or a replacement. Press 1 for replacement, 2 for a human agent.”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057400" y="499262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· keypad via VoBiz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5221224"/>
            <a:ext cx="4754880" cy="347472"/>
          </a:xfrm>
          <a:prstGeom prst="roundRect">
            <a:avLst>
              <a:gd name="adj" fmla="val 31579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1  →  no speech-to-text ambiguity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6509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Interrupts: VoBiz voice-activity detection stops ElevenLabs playback the moment the caller speaks; the new words become the latest input.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0" y="4206240"/>
            <a:ext cx="4343400" cy="1965960"/>
          </a:xfrm>
          <a:prstGeom prst="roundRect">
            <a:avLst>
              <a:gd name="adj" fmla="val 465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543800" y="420624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OUTCOME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refund  →  confirm replacement  →  if unclear, Freshdesk ticket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Human-in-the-Loop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takes the handoff; also works with Freshcaller as the voice channel and alongside Freddy AI Agent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action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9456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468880" y="1645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572000" y="1481328"/>
            <a:ext cx="1645920" cy="1243584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flipV="1">
            <a:off x="6217920" y="1783080"/>
            <a:ext cx="274320" cy="9144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17920" y="2331720"/>
            <a:ext cx="274320" cy="18288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492240" y="146304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 company API executes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decision and API call are logged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24028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 Freshdesk REST API  ·  POST /api/v2/tickets  →  human agent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063240"/>
            <a:ext cx="46634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200400"/>
            <a:ext cx="438912" cy="438912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3305739"/>
            <a:ext cx="228234" cy="22823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8016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ticket is created when…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7033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is unsafe or unclear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doesn't confirm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is angry / distressed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should not guess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31520" y="4846320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9" y="4951659"/>
            <a:ext cx="228234" cy="22823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280160" y="48463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add to Freshdesk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777240" y="532180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validation, action gating, transparent confirmation and structured escalation, on top of ticketing, agent workspace and customer history.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40680" y="3063240"/>
            <a:ext cx="621792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440680" y="3063240"/>
            <a:ext cx="6217920" cy="411480"/>
          </a:xfrm>
          <a:prstGeom prst="roundRect">
            <a:avLst>
              <a:gd name="adj" fmla="val 22222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623560" y="30632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agent receives in the Freshdesk ticket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57784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557784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ID + timestamp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code-mixed transcript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557784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languages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57784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57784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DTMF source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58952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confidence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detected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58952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58952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API action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758952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status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960120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960120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/ tags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960120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960120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escalation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960120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call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960120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Design, MVP Scope &amp; Early Proof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control point that intercepts the proposed action before the company API is called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DESIGN: THE PLUG-IN CONTROL POINT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74520"/>
            <a:ext cx="2859786" cy="713232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Existing AI agent (Freddy or own) proposes a tool call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874520"/>
            <a:ext cx="2859786" cy="713232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Codemix Skill intercepts via MCP / REST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048756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Claude + gate: ALLOW / CONFIRM / BLOCK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798814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Dodo / company API runs, or Freshdesk handoff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3464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F8A63"/>
          </a:solidFill>
          <a:ln>
            <a:solidFill>
              <a:srgbClr val="1F8A6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40280" y="283464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395728" y="283464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 engine + intent scoring · MCP server · live Freshdesk ticket API · negation gate v0 + benchmark · Vercel demo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(3 MONTHS)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40280" y="393192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2395728" y="3931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+ Sarvam + ElevenLabs voice path · Claude safety gate · Dodo action path · Freshdesk escalation · Hindi + Tamil + English · audit trail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292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A5C8A"/>
          </a:solidFill>
          <a:ln>
            <a:solidFill>
              <a:srgbClr val="2A5C8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240280" y="502920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395728" y="502920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+ interrupt tuning · SOP rule editor + reports · more Indian languages · Freshworks Marketplace 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75120" y="2834640"/>
            <a:ext cx="49834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903720" y="2926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PROOF (MEASURED)</a:t>
            </a:r>
            <a:endParaRPr lang="en-US" sz="10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812280" y="3154680"/>
          <a:ext cx="47091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6903720" y="516636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23 → 0 of 23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actions; 0 of 20 genuine requests blocked. 43 team-written sentences in 6 languages; the pilot measures real calls.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Customers, Value, Pricing &amp; Go-to-Market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AI agents already have permission to act; pilot → proof → Freshworks distribution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57400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D2C, e-commerce and fintech brands on Freshdesk deploying AI voice agents for Indian customers.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BPOs needing one safety / policy layer across many clients.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actions: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refunds, returns, replacements, cancellations.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~26% of COD orders return to origin (Shipway FY25), so these calls are high-volume.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0488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55080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30568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Proposition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29968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it in once: the existing agent serves mixed-language callers, and nothing irreversible happens on a misheard word.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on first guess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“mat” = wrong refund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escalation, no record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Codemix Skill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intent + negation first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when unsure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handoff + audit trail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13232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&amp; Packaging (proposed)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4370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20240" y="4370832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mode: flags risky actions, never blocks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7000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$0.03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920240" y="4700016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guarded action: plug-in on the customer's own agent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50292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 / min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920240" y="5029200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voice agent: VoBiz + Sarvam + Claude + ElevenLabs + Freshdesk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35838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920240" y="535838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Enterprise: SOP rule packs, India data residency, SLA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6875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above run cost (~55% gross margin, slide 10). One prevented ₹1,000 wrong refund pays for ~390 guarded actions.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90488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355080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830568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 Plan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373368" y="4443984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73368" y="444398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720840" y="441655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design partners on Freshdesk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73368" y="4773168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73368" y="477316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6720840" y="4745736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monitor-mode pilot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73368" y="5102352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73368" y="510235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720840" y="50749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wrong-action proof + demo video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73368" y="5431536"/>
            <a:ext cx="246888" cy="246888"/>
          </a:xfrm>
          <a:prstGeom prst="ellipse">
            <a:avLst/>
          </a:prstGeom>
          <a:solidFill>
            <a:srgbClr val="12AF9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73368" y="54315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720840" y="540410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73368" y="5760720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373368" y="576072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720840" y="573328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Freshdesk deals + BPO partners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Costs, Savings &amp; Revenue, Metrics &amp; Risks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costs, who gains what, how we measure it, and what could go wrong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&amp; Unit Economics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~$90K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MVP build: M1 data · M2 gate + voice · M3 Freshdesk + pilot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54203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$60K · linguist $10K · PM $8K · APIs $7K · buffer $5K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0779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COST PER 3-MIN VOICE CALL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145536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14553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telephony (₹0.45/min)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31455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₹1.35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58368" y="3383280"/>
            <a:ext cx="3383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3832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STT (₹30/hr)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38328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58368" y="3621024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62102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Flash ($0.05/1K chars)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337560" y="3621024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₹6.40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8368" y="3858768"/>
            <a:ext cx="3383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8587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checks (Haiku 4.5 / Sonnet 5)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337560" y="3858768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58368" y="4096512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40965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+ transcript storage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4096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" y="4334256"/>
            <a:ext cx="3383280" cy="228600"/>
          </a:xfrm>
          <a:prstGeom prst="rect">
            <a:avLst/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33425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≈ ₹3.5/min vs ₹8 price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337560" y="43342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₹10.4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461772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only: ₹1.1 cost vs ₹2.55 price per action. Dodo and Freshdesk fees stay on the customer's own plans.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361688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526280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074920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7059168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53128" y="2304288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26280" y="2304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 on negation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48%*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059168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&lt;0.5%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53128" y="2642616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26280" y="2642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latency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26426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1.87ms†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059168" y="26426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453128" y="2980944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26280" y="29809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reply (sensitive)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63550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&lt;900ms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453128" y="3319272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26280" y="33192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355080" y="33192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192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≤15%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453128" y="3657600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26280" y="3657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355080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7059168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453128" y="3995928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26280" y="3995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tickets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6355080" y="3995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995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−30%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453128" y="4334256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26280" y="4334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(2 qtrs)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355080" y="433425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7059168" y="433425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4498848" y="4663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Round-1 engine, no gate, 23-sentence test set   † npm test average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8092440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82570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88056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Assumptions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8247888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drops the negation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confirm every risky action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8247888" y="25328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check adds latency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deep checks only when sensitive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8247888" y="29626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 / spelling variation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lexicon + model fallback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8247888" y="33924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friction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≤15% confirmation budget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8247888" y="3840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8247888" y="4069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brands expose refund / return APIs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accept a short confirmation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is accurate enough with the fallback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48640" y="5138928"/>
            <a:ext cx="11109960" cy="1243584"/>
          </a:xfrm>
          <a:prstGeom prst="roundRect">
            <a:avLst>
              <a:gd name="adj" fmla="val 735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77240" y="51755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 WHAT IN YEAR 1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4754880" y="5175504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· 48% misfire rate measured, volumes assumed · details in speaker notes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777240" y="5468112"/>
            <a:ext cx="3246120" cy="822960"/>
          </a:xfrm>
          <a:prstGeom prst="roundRect">
            <a:avLst>
              <a:gd name="adj" fmla="val 8889"/>
            </a:avLst>
          </a:prstGeom>
          <a:solidFill>
            <a:srgbClr val="1F3057"/>
          </a:solidFill>
          <a:ln w="15875">
            <a:solidFill>
              <a:srgbClr val="1F8A63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14400" y="55046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 SAVE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914400" y="57332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₹6 Cr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2240280" y="571500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refunds &amp; cancellations avoided · ₹3.8 saved for every ₹1 paid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023360" y="5879592"/>
            <a:ext cx="411480" cy="914"/>
          </a:xfrm>
          <a:prstGeom prst="line">
            <a:avLst/>
          </a:prstGeom>
          <a:noFill/>
          <a:ln w="3175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4434840" y="5468112"/>
            <a:ext cx="3246120" cy="822960"/>
          </a:xfrm>
          <a:prstGeom prst="roundRect">
            <a:avLst>
              <a:gd name="adj" fmla="val 8889"/>
            </a:avLst>
          </a:prstGeom>
          <a:solidFill>
            <a:srgbClr val="1F3057"/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572000" y="55046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EARNS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4572000" y="57332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$349K</a:t>
            </a:r>
            <a:endParaRPr lang="en-US" sz="2200" dirty="0"/>
          </a:p>
        </p:txBody>
      </p:sp>
      <p:sp>
        <p:nvSpPr>
          <p:cNvPr id="86" name="Text 84"/>
          <p:cNvSpPr txBox="1"/>
          <p:nvPr/>
        </p:nvSpPr>
        <p:spPr>
          <a:xfrm>
            <a:off x="5897880" y="571500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$180K + Voice agent $169K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7680960" y="5879592"/>
            <a:ext cx="41148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8092440" y="5468112"/>
            <a:ext cx="3246120" cy="822960"/>
          </a:xfrm>
          <a:prstGeom prst="roundRect">
            <a:avLst>
              <a:gd name="adj" fmla="val 8889"/>
            </a:avLst>
          </a:prstGeom>
          <a:solidFill>
            <a:srgbClr val="1F3057"/>
          </a:solidFill>
          <a:ln w="15875">
            <a:solidFill>
              <a:srgbClr val="12AF97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229600" y="55046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8229600" y="57332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~$195K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9555480" y="571500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$154K run costs · pays back the $90K build in ~8 months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Codemix Skill — Judge-Ready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2026-09-26T04:14:44Z</dcterms:created>
  <dcterms:modified xsi:type="dcterms:W3CDTF">2026-09-26T04:14:44Z</dcterms:modified>
</cp:coreProperties>
</file>