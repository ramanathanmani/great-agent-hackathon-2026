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213D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4213D"/>
                </a:solidFill>
                <a:latin typeface="Arial"/>
              </a:rPr>
              <a:t>Wrong refund / cancel on negated requests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Round-1 engine alone</c:v>
                </c:pt>
              </c:strCache>
            </c:strRef>
          </c:tx>
          <c:spPr>
            <a:solidFill>
              <a:srgbClr val="C8283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negation gate v0</c:v>
                </c:pt>
              </c:strCache>
            </c:strRef>
          </c:tx>
          <c:spPr>
            <a:solidFill>
              <a:srgbClr val="1F8A6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48% is reproducible: node decision-policy/negation-benchmark.mjs. It is a small team-written set, so present it as evidence the problem is real, not as a production accuracy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Reproduce: node decision-policy/negation-benchmark.mjs. The same run shows the Round-1 keyword engine recognised only 7 of 20 genuine requests, which is why the MVP uses Claude for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12  ·  INITIATIVE OVERVIEW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GREAT AGENT HACKATHON 2026  ·  FINAL ROUND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229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+ decision layer between AI agents and their actions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put an intent-validation safety gate between what the voice agent hears and what the agent is allowed to do.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6148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Initiative: Codemix Skill   ·   Owner: Team Ramanathan &amp; Sadhana   ·   Track 1: Customer &amp; Employee Experience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3410712"/>
            <a:ext cx="219456" cy="219456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5214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agents can immediately call a refund, cancellation or replacement API. One missed negation turns the right conversation into the wrong transaction.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4340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44568" y="3410712"/>
            <a:ext cx="219456" cy="21945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5546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PRODUCT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between the AI agent and its API/tool calls. It validates intent, negation, confidence, sentiment and SOP rules before execution.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4672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47888" y="3410712"/>
            <a:ext cx="219456" cy="21945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5878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EXTENSION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24788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Unsafe, uncertain or escalated calls become Freshdesk tickets with transcript, decision context and action details for a human agent.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486400"/>
            <a:ext cx="1362456" cy="566928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892808" y="5486400"/>
            <a:ext cx="1362456" cy="566928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3145536" y="5486400"/>
            <a:ext cx="1362456" cy="566928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398264" y="5486400"/>
            <a:ext cx="1362456" cy="566928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548640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400" b="1" i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12  ·  PROBLEM STATEMENT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code-mixed voice, one short word can reverse the meaning of an API action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EXAMPLE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cancel → update address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9224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EXAMPLE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“Refund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vendam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replacement anuppunga.”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refund → send replacement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1546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BREAKS TODAY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says “don't cancel”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63240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3364992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drops “mat”, or the intent model ignores 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79592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181344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cancel_order()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95944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8997696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cancelled: money, reshipping, trust lost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6634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2331720" y="468172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negated requests would still trigger a refund / cancel in our own Round-1 engine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11 of 23 team-written test sentences (Hindi, Tamil, English, Telugu, Kannada, Bengali)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45720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46520" y="46634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8001000" y="468172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cash-on-delivery orders in India return to origin, so refund / cancel / return calls are high-volume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44652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Shipway ShipNotes report, FY25 (Jul 2025)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3 &amp; 4 OF 12  ·  WHY NOW  ·  COMPETITIVE LANDSCAPE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3·4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 &amp; Competitive Landscape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have write access, and nobody gates what they are allowed to do on a misheard word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938528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07020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89280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can act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185416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and MCP let agents trigger refunds, cancellations and returns directly.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2724912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856586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34440" y="26791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Code-mixing is normal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1234440" y="297180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callers switch language mid-sentence; the risk sits in small intent-flipping words.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511296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364297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34655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voice stack is ready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234440" y="375818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VoBiz, Sarvam, Claude and ElevenLabs make a checked, real-time voice agent possible now.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4315968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731520" y="4315968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27–70%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2331720" y="4315968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word error rate across speech-to-text models.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 alone can't be trusted with irreversible actions.</a:t>
            </a:r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Deepgram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172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263640" y="1874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909560" y="1874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9555480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6172200" y="2176272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263640" y="217627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7909560" y="217627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effort</a:t>
            </a:r>
            <a:endParaRPr lang="en-US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9555480" y="217627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actions run on the first interpretation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6172200" y="2962656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263640" y="2962656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Confirm-everything IVR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7909560" y="2962656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confirmation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9555480" y="296265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on every action, even low-risk ones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6172200" y="374904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263640" y="3749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 guardrails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7909560" y="3749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Policy, toxicity, PII</a:t>
            </a:r>
            <a:endParaRPr lang="en-US" sz="1050" dirty="0"/>
          </a:p>
        </p:txBody>
      </p:sp>
      <p:sp>
        <p:nvSpPr>
          <p:cNvPr id="38" name="Text 33"/>
          <p:cNvSpPr txBox="1"/>
          <p:nvPr/>
        </p:nvSpPr>
        <p:spPr>
          <a:xfrm>
            <a:off x="9555480" y="374904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action gate for code-mixed negation + speech confidence</a:t>
            </a:r>
            <a:endParaRPr lang="en-US" sz="1050" dirty="0"/>
          </a:p>
        </p:txBody>
      </p:sp>
      <p:sp>
        <p:nvSpPr>
          <p:cNvPr id="39" name="Shape 34"/>
          <p:cNvSpPr/>
          <p:nvPr/>
        </p:nvSpPr>
        <p:spPr>
          <a:xfrm>
            <a:off x="6172200" y="4535424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 w="19050">
            <a:solidFill>
              <a:srgbClr val="F4A300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263640" y="4535424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150" dirty="0"/>
          </a:p>
        </p:txBody>
      </p:sp>
      <p:sp>
        <p:nvSpPr>
          <p:cNvPr id="41" name="Text 36"/>
          <p:cNvSpPr txBox="1"/>
          <p:nvPr/>
        </p:nvSpPr>
        <p:spPr>
          <a:xfrm>
            <a:off x="7909560" y="4535424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→ risk check → ALLOW / CONFIRM / BLOCK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9555480" y="453542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cases go to Freshworks with full context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548640" y="5486400"/>
            <a:ext cx="5303520" cy="68580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xt 39"/>
          <p:cNvSpPr txBox="1"/>
          <p:nvPr/>
        </p:nvSpPr>
        <p:spPr>
          <a:xfrm>
            <a:off x="777240" y="5486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timing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voice bot: the layer that decides when an agent may call an API.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172200" y="548640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Text 41"/>
          <p:cNvSpPr txBox="1"/>
          <p:nvPr/>
        </p:nvSpPr>
        <p:spPr>
          <a:xfrm>
            <a:off x="6400800" y="54864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action gate + human escalation + a full audit record.</a:t>
            </a:r>
            <a:endParaRPr lang="en-US" sz="1150" dirty="0"/>
          </a:p>
        </p:txBody>
      </p:sp>
      <p:sp>
        <p:nvSpPr>
          <p:cNvPr id="47" name="Text 4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Solution: the Intent-Validation Safety Gate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what the voice agent hears and what it is allowed to do; each part has one job in preventing a wrong action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3172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65176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the call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75488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85800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negation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4108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8961120" y="1463040"/>
            <a:ext cx="2697480" cy="105156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 · Codemix Skill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act?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 flipH="1">
            <a:off x="3337560" y="2514600"/>
            <a:ext cx="6972300" cy="411480"/>
          </a:xfrm>
          <a:prstGeom prst="line">
            <a:avLst/>
          </a:prstGeom>
          <a:noFill/>
          <a:ln w="22225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8745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ticket → human agent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/ angry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375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6537960" y="2514600"/>
            <a:ext cx="3771900" cy="411480"/>
          </a:xfrm>
          <a:prstGeom prst="line">
            <a:avLst/>
          </a:prstGeom>
          <a:noFill/>
          <a:ln w="22225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0749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read-back, voice or DTMF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5379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738360" y="2514600"/>
            <a:ext cx="571500" cy="411480"/>
          </a:xfrm>
          <a:prstGeom prst="line">
            <a:avLst/>
          </a:prstGeom>
          <a:noFill/>
          <a:ln w="22225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82753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Payments: refund / return / replace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96696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7383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1874520" y="3657600"/>
            <a:ext cx="9326880" cy="365760"/>
          </a:xfrm>
          <a:prstGeom prst="roundRect">
            <a:avLst>
              <a:gd name="adj" fmla="val 20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speaks every reply in the caller's own language mix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187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PART PREVENTS A WRONG ACTION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85800" y="4663440"/>
            <a:ext cx="128016" cy="12801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DTMF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Keypad confirmation needs no speech recognition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414016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551176" y="4663440"/>
            <a:ext cx="128016" cy="12801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734056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688336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2551176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English and Tamil + English transcribed, so the negation reaches the check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79392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416552" y="4663440"/>
            <a:ext cx="128016" cy="12801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99432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553712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SAFETY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4416552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vendam” = NO refund, YES replacement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44768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281928" y="4663440"/>
            <a:ext cx="128016" cy="128016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64808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419088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API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6281928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/ return / replace only after the gate says YES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010144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8147304" y="4663440"/>
            <a:ext cx="128016" cy="12801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30184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84464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WORKFLOW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8147304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resolved safely → Freshdesk ticket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875520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0012680" y="4663440"/>
            <a:ext cx="128016" cy="128016"/>
          </a:xfrm>
          <a:prstGeom prst="ellipse">
            <a:avLst/>
          </a:prstGeom>
          <a:solidFill>
            <a:srgbClr val="7A5000"/>
          </a:solidFill>
          <a:ln w="12700">
            <a:solidFill>
              <a:srgbClr val="7A500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195560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0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REPLY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10012680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back what it understood in the caller's mix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End to End — All 11 Features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appears only where it adds value; routine calls take the fast path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1682496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speaks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phone line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68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34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944368" y="1682496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44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944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944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20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30368" y="1682496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30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230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intent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engine + Claude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230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Mixed-language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230368" y="295351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40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06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516368" y="1682496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16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check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 / vendam / nahi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516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26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692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802368" y="1682496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02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9802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check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9802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→ human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9802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→ human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0652760" y="3236976"/>
            <a:ext cx="914" cy="23774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692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802368" y="35844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802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802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802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 flipH="1">
            <a:off x="9326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7406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516368" y="35844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516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7516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if unsure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7516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/ keypad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7516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uncertainty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7516368" y="4855464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+ IVR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 flipH="1">
            <a:off x="7040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120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5230368" y="3584448"/>
            <a:ext cx="365760" cy="36576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230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5230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62" name="Text 60"/>
          <p:cNvSpPr txBox="1"/>
          <p:nvPr/>
        </p:nvSpPr>
        <p:spPr>
          <a:xfrm>
            <a:off x="5230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/ company API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 flipH="1">
            <a:off x="4754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2834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2944368" y="35844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944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2944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</a:t>
            </a:r>
            <a:endParaRPr lang="en-US" sz="1250" dirty="0"/>
          </a:p>
        </p:txBody>
      </p:sp>
      <p:sp>
        <p:nvSpPr>
          <p:cNvPr id="68" name="Text 66"/>
          <p:cNvSpPr txBox="1"/>
          <p:nvPr/>
        </p:nvSpPr>
        <p:spPr>
          <a:xfrm>
            <a:off x="2944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rules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2944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auditing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 flipH="1">
            <a:off x="2468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48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658368" y="35844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8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API log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5285232"/>
            <a:ext cx="11109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scores caller sentiment every turn; two negative turns or an explicit request for a human → Freshdesk ticket.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offline checks first (1.87 ms measured); Claude runs only before sensitive actions.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checked against company rules (authorisation, required confirmation, escalation) → PASS / VIOLATION + audit reference; transcript, decisions and API calls are stored.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Safety Decision &amp; Transparent Confirmation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silently guesses on an irreversible action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refund(order)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8600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56032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93776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315200" y="1463040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 + safe → execute and log.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359152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on a risky action → say what's unsure → voice or DTMF.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3255264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ROUTE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conflicts with the action, or confirmation fails → stop API + Freshdesk.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6492240" cy="3108960"/>
          </a:xfrm>
          <a:prstGeom prst="roundRect">
            <a:avLst>
              <a:gd name="adj" fmla="val 2941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154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CONFIRMATION IN PRACTICE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34564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3685032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“Refund… vendam… maybe replacement.”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9651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· ElevenLabs, caller's mix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325112"/>
            <a:ext cx="4754880" cy="621792"/>
          </a:xfrm>
          <a:prstGeom prst="roundRect">
            <a:avLst>
              <a:gd name="adj" fmla="val 17647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not fully sure whether you want a refund or a replacement. Press 1 for replacement, 2 for a human agent.”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499262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· keypad via VoBiz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2057400" y="5221224"/>
            <a:ext cx="4754880" cy="347472"/>
          </a:xfrm>
          <a:prstGeom prst="roundRect">
            <a:avLst>
              <a:gd name="adj" fmla="val 31579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1  →  no speech-to-text ambiguity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5099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Interrupts: VoBiz voice-activity detection stops ElevenLabs playback the moment the caller speaks; the new words become the latest input.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4206240"/>
            <a:ext cx="4343400" cy="1965960"/>
          </a:xfrm>
          <a:prstGeom prst="roundRect">
            <a:avLst>
              <a:gd name="adj" fmla="val 465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43800" y="420624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OUTCOME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refund  →  confirm replacement  →  if unclear, Freshdesk ticket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FRESHWORKS INTEGRATION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Integration — Human-in-the-Loop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takes the handoff; also works with Freshcaller as the voice channel and alongside Freddy AI Agent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action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9456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468880" y="16459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572000" y="1481328"/>
            <a:ext cx="1645920" cy="1243584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flipV="1">
            <a:off x="6217920" y="1783080"/>
            <a:ext cx="274320" cy="9144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2331720"/>
            <a:ext cx="274320" cy="18288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6492240" y="146304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→ company API executes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transcript, decision and API call are logged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24028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 Freshdesk REST API  ·  POST /api/v2/tickets  →  human agent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46634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200400"/>
            <a:ext cx="438912" cy="438912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3305739"/>
            <a:ext cx="228234" cy="22823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80160" y="32004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ticket is created when…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7033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is unsafe or unclear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doesn't confirm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is angry / distressed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should not guess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31520" y="4846320"/>
            <a:ext cx="438912" cy="43891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9" y="4951659"/>
            <a:ext cx="228234" cy="22823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280160" y="48463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add to Freshdesk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777240" y="532180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validation, action gating, transparent confirmation and structured escalation, on top of ticketing, agent workspace and customer history.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440680" y="3063240"/>
            <a:ext cx="621792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5440680" y="3063240"/>
            <a:ext cx="6217920" cy="411480"/>
          </a:xfrm>
          <a:prstGeom prst="roundRect">
            <a:avLst>
              <a:gd name="adj" fmla="val 22222"/>
            </a:avLst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30632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human agent receives in the Freshdesk ticket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557784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ID + timestamp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557784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code-mixed transcript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57784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languages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57784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summary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557784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DTMF source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58952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758952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confidence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758952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detected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58952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758952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API action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758952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status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960120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960120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/ tags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960120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960120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for escalation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960120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API call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960120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reference</a:t>
            </a:r>
            <a:endParaRPr lang="en-US" sz="1000" dirty="0"/>
          </a:p>
        </p:txBody>
      </p:sp>
      <p:sp>
        <p:nvSpPr>
          <p:cNvPr id="46" name="Text 4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AGENTIC / AI DESIGN  ·  MVP SCOPE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Design, MVP Scope &amp; Early Proof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control point that intercepts the proposed action before the company API is called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727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DESIGN: THE PLUG-IN CONTROL POINT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74520"/>
            <a:ext cx="2859786" cy="713232"/>
          </a:xfrm>
          <a:prstGeom prst="homePlate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Existing AI agent (Freddy or own) proposes a tool call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298698" y="1874520"/>
            <a:ext cx="2859786" cy="713232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Codemix Skill intercepts via MCP / REST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048756" y="1874520"/>
            <a:ext cx="2859786" cy="713232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Claude + gate: ALLOW / CONFIRM / BLOCK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798814" y="1874520"/>
            <a:ext cx="2859786" cy="713232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Dodo / company API runs, or Freshdesk handoff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83464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F8A63"/>
          </a:solidFill>
          <a:ln>
            <a:solidFill>
              <a:srgbClr val="1F8A6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TODAY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240280" y="283464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395728" y="283464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 engine + intent scoring · MCP server · live Freshdesk ticket API · negation gate v0 + benchmark · Vercel demo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(3 MONTHS)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240280" y="393192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395728" y="3931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+ Sarvam + ElevenLabs voice path · Claude safety gate · Dodo action path · Freshdesk escalation · Hindi + Tamil + English · audit trail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0292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A5C8A"/>
          </a:solidFill>
          <a:ln>
            <a:solidFill>
              <a:srgbClr val="2A5C8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40280" y="502920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2395728" y="502920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+ interrupt tuning · SOP rule editor + reports · more Indian languages · Freshworks Marketplace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75120" y="2834640"/>
            <a:ext cx="49834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903720" y="2926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PROOF (MEASURED)</a:t>
            </a:r>
            <a:endParaRPr lang="en-US" sz="105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812280" y="3154680"/>
          <a:ext cx="47091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6903720" y="516636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23 → 0 of 23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actions; 0 of 20 genuine requests blocked. 43 team-written sentences in 6 languages; the pilot measures real calls.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6–9 OF 12  ·  CUSTOMERS  ·  VALUE  ·  PRICING  ·  GO-TO-MARKET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Customers, Value, Pricing &amp; Go-to-Market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where AI agents already have permission to act; pilot → proof → Freshworks distribution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1700784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6824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Customers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57400"/>
            <a:ext cx="51206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D2C, e-commerce and fintech brands on Freshdesk deploying AI voice agents for Indian customers.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BPOs needing one safety / policy layer across many clients.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actions: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refunds, returns, replacements, cancellations.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now: ~26% of COD orders return to origin (Shipway FY25), so these calls are high-volume.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157276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55080" y="1700784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830568" y="16824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Proposition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029968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it in once: the existing agent serves mixed-language callers, and nothing irreversible happens on a misheard word.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2816352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on first guess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“mat” = wrong refund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escalation, no record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Codemix Skill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816352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intent + negation first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when unsure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handoff + audit trail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13232" y="4059936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&amp; Packaging (proposed)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40740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965960" y="44074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mode: flags risky actions, never blocks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8097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 / 1,000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965960" y="48097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actions: full gate, DTMF, Freshdesk, audit · 30 days free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2120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965960" y="5212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Enterprise: SOP rule packs, India data residency, SLA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623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sensitive actions are metered: one prevented ₹1,000 wrong refund pays for 2,000+ guarded actions (~2.3× customer ROI, slide 10).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931920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55080" y="4059936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830568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 Plan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6373368" y="4443984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73368" y="444398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720840" y="4416552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Indian D2C design partners on Freshdesk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73368" y="4773168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73368" y="477316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720840" y="4745736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monitor-mode pilot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73368" y="5102352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73368" y="510235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720840" y="507492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wrong-action proof + demo video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373368" y="5431536"/>
            <a:ext cx="246888" cy="246888"/>
          </a:xfrm>
          <a:prstGeom prst="ellipse">
            <a:avLst/>
          </a:prstGeom>
          <a:solidFill>
            <a:srgbClr val="12AF9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373368" y="54315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6720840" y="540410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listing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73368" y="5760720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73368" y="576072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720840" y="5733288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Freshdesk deals + BPO partners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10–12 OF 12  ·  COSTS &amp; ROI  ·  METRICS  ·  RISKS &amp; ASSUMPTIONS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Costs, ROI, Success Metrics &amp; Risks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costs, what it returns, how we measure it, and what could go wrong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&amp; Resources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~$90K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103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MVP (estimate)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974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engineers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40280" y="2743200"/>
            <a:ext cx="1234440" cy="182880"/>
          </a:xfrm>
          <a:prstGeom prst="roundRect">
            <a:avLst>
              <a:gd name="adj" fmla="val 25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0440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$60K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26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 + labelling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40280" y="3072384"/>
            <a:ext cx="205740" cy="182880"/>
          </a:xfrm>
          <a:prstGeom prst="roundRect">
            <a:avLst>
              <a:gd name="adj" fmla="val 25000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491740" y="3026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3558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Part-time PM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40280" y="3401568"/>
            <a:ext cx="164592" cy="182880"/>
          </a:xfrm>
          <a:prstGeom prst="roundRect">
            <a:avLst>
              <a:gd name="adj" fmla="val 27778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3355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$8K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685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+ telephony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40280" y="3730752"/>
            <a:ext cx="144018" cy="182880"/>
          </a:xfrm>
          <a:prstGeom prst="roundRect">
            <a:avLst>
              <a:gd name="adj" fmla="val 31746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30018" y="3685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$7K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01421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240280" y="4059936"/>
            <a:ext cx="102870" cy="182880"/>
          </a:xfrm>
          <a:prstGeom prst="roundRect">
            <a:avLst>
              <a:gd name="adj" fmla="val 44444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88870" y="4014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$5K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3891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Timeline: 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negation data · M2 Claude gate, Dodo, voice path · M3 Freshdesk, audit, pilot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61688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26280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355080" y="2084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084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453128" y="2304288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26280" y="2304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 on negation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355080" y="2304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48%*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059168" y="2304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&lt;0.5%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53128" y="2642616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26280" y="2642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latency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26426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1.87ms†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059168" y="26426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&lt;5ms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453128" y="2980944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26280" y="29809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reply (sensitive)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059168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&lt;900ms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453128" y="3319272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26280" y="33192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6355080" y="33192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33192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≤15%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453128" y="3657600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26280" y="36576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6355080" y="36576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6576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453128" y="3995928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526280" y="3995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tickets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6355080" y="39959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7059168" y="39959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−30%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453128" y="4334256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26280" y="4334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(2 qtrs)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6355080" y="433425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433425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4498848" y="4663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Round-1 engine, no gate, 23-sentence test set   † npm test average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8092440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8257032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8805672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Assumptions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8247888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drops the negation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confirm every risky action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8247888" y="25328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check adds latency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deep checks only when sensitive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8247888" y="29626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 / spelling variation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lexicon + model fallback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8247888" y="339242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Read-back friction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≤15% confirmation budget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8247888" y="3840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247888" y="4069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brands expose refund / return APIs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accept a short confirmation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is accurate enough with the fallback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2" name="Text 70"/>
          <p:cNvSpPr txBox="1"/>
          <p:nvPr/>
        </p:nvSpPr>
        <p:spPr>
          <a:xfrm>
            <a:off x="777240" y="52303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INVESTMENT</a:t>
            </a:r>
            <a:endParaRPr lang="en-US" sz="1050" dirty="0"/>
          </a:p>
        </p:txBody>
      </p:sp>
      <p:sp>
        <p:nvSpPr>
          <p:cNvPr id="73" name="Text 71"/>
          <p:cNvSpPr txBox="1"/>
          <p:nvPr/>
        </p:nvSpPr>
        <p:spPr>
          <a:xfrm>
            <a:off x="3291840" y="52303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· built on the deck's pricing assumptions · validated in the pilot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777240" y="548640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~2.3×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2039112" y="548640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ROI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₹20K saved vs ₹8.5K fee per month</a:t>
            </a:r>
            <a:endParaRPr lang="en-US" sz="950" dirty="0"/>
          </a:p>
        </p:txBody>
      </p:sp>
      <p:sp>
        <p:nvSpPr>
          <p:cNvPr id="76" name="Text 74"/>
          <p:cNvSpPr txBox="1"/>
          <p:nvPr/>
        </p:nvSpPr>
        <p:spPr>
          <a:xfrm>
            <a:off x="3520440" y="548640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4782312" y="548640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₹1,000 refunds prevented per month</a:t>
            </a:r>
            <a:endParaRPr lang="en-US" sz="950" dirty="0"/>
          </a:p>
        </p:txBody>
      </p:sp>
      <p:sp>
        <p:nvSpPr>
          <p:cNvPr id="78" name="Text 76"/>
          <p:cNvSpPr txBox="1"/>
          <p:nvPr/>
        </p:nvSpPr>
        <p:spPr>
          <a:xfrm>
            <a:off x="6263640" y="548640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~1.3×</a:t>
            </a:r>
            <a:endParaRPr lang="en-US" sz="2200" dirty="0"/>
          </a:p>
        </p:txBody>
      </p:sp>
      <p:sp>
        <p:nvSpPr>
          <p:cNvPr id="79" name="Text 77"/>
          <p:cNvSpPr txBox="1"/>
          <p:nvPr/>
        </p:nvSpPr>
        <p:spPr>
          <a:xfrm>
            <a:off x="7525512" y="548640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ROI (Freshworks)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~$120K ARR on a ~$90K build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9006840" y="548640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 mo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10268712" y="548640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~$10K MRR</a:t>
            </a:r>
            <a:endParaRPr lang="en-US" sz="950" dirty="0"/>
          </a:p>
        </p:txBody>
      </p:sp>
      <p:sp>
        <p:nvSpPr>
          <p:cNvPr id="82" name="Text 80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Codemix Skill — Judge-Ready Business Case</dc:title>
  <dc:subject>PptxGenJS Presentation</dc:subject>
  <dc:creator>Team Ramanathan &amp; Sadhana</dc:creator>
  <cp:lastModifiedBy>Team Ramanathan &amp; Sadhana</cp:lastModifiedBy>
  <cp:revision>1</cp:revision>
  <dcterms:created xsi:type="dcterms:W3CDTF">2026-09-26T03:02:57Z</dcterms:created>
  <dcterms:modified xsi:type="dcterms:W3CDTF">2026-09-26T03:02:57Z</dcterms:modified>
</cp:coreProperties>
</file>