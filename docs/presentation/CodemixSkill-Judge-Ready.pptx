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AGENT HACKATHON 2026  ·  ROUND 2 BUSINESS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+ decision layer between AI agents and their actions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cancel </a:t>
            </a:r>
            <a:pPr indent="0" marL="0">
              <a:buNone/>
            </a:pPr>
            <a:r>
              <a:rPr lang="en-US" sz="2200" b="1" i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2002536" cy="685800"/>
          </a:xfrm>
          <a:prstGeom prst="homePlate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624328" y="4160520"/>
            <a:ext cx="2002536" cy="685800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17136" y="4160520"/>
            <a:ext cx="2002536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9944" y="4160520"/>
            <a:ext cx="2002536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an intent-validation safety gate between what the voice agent hears and what the agent is allowed to do.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  •  Track 1: Customer &amp; Employee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12  ·  INITIATIVE OVERVIEW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 Overview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Initiative: Codemix Skill  ·  Owner: Team Ramanathan &amp; Sadhana  ·  a plug-in that makes tool-using AI agents safe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83080"/>
            <a:ext cx="256032" cy="256032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7282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3055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agents can understand a request and immediately call a refund, cancellation or replacement API. A small missed negation can turn the right conversation into the wrong transaction.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355848"/>
            <a:ext cx="256032" cy="25603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300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product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sits between the AI agent and its API/tool calls. It validates intent, negation, confidence, sentiment and SOP rules before execution.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45736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928616"/>
            <a:ext cx="256032" cy="256032"/>
          </a:xfrm>
          <a:prstGeom prst="ellipse">
            <a:avLst/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873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extension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7608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Unsafe, uncertain or emotionally escalated calls become Freshdesk tickets with transcript, decision context and action details for a human agent.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257800" cy="4562856"/>
          </a:xfrm>
          <a:prstGeom prst="roundRect">
            <a:avLst>
              <a:gd name="adj" fmla="val 2004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2860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agent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10312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254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• Decide • Audit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22860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E1F3EC"/>
          </a:solidFill>
          <a:ln w="12700">
            <a:solidFill>
              <a:srgbClr val="E1F3E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APIs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283464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2834640"/>
            <a:ext cx="320040" cy="914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12580" y="3566160"/>
            <a:ext cx="914" cy="777240"/>
          </a:xfrm>
          <a:prstGeom prst="line">
            <a:avLst/>
          </a:prstGeom>
          <a:noFill/>
          <a:ln w="25400">
            <a:solidFill>
              <a:srgbClr val="12AF97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229600" y="43434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DF5F1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/ unsure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5486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 an action. Codemix Skill decides whether it runs, needs confirmation, or goes to a human.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12  ·  PROBLEM STATEMENT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code-mixed voice, one short word can reverse the meaning of an API action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4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Caller: “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cancel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intent: do NOT cancel → update address.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EXAMPLE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57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4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Caller: “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vendam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replacement anuppunga.”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743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intent: do NOT refund → request replacement.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5204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can drop a negation on a noisy line, or an intent model can focus on words like “cancel” or “refund” and ignore the negation. With tool calling, that misunderstanding becomes a real transaction.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refund / cancellation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5440680"/>
            <a:ext cx="41148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389120" y="48463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4DA"/>
          </a:solidFill>
          <a:ln w="12700">
            <a:solidFill>
              <a:srgbClr val="7A5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reshipping, trust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18120" y="5440680"/>
            <a:ext cx="41148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229600" y="48463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layer before action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12  ·  WHY NOW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have write access, so misunderstanding is no longer just a bad answer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15338"/>
            <a:ext cx="404165" cy="40416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can act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004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and MCP let agents trigger refunds, cancellations, returns and other business actions directly.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828800"/>
            <a:ext cx="777240" cy="77724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201533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Code-mixing is normal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2004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callers switch between languages inside a sentence. The risk is concentrated around small intent-flipping words.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600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828800"/>
            <a:ext cx="777240" cy="77724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2015338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stack is ready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2004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provides phone access + DTMF, Sarvam handles Indian speech-to-text, Claude validates intent, and ElevenLabs returns the response.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77240" y="4983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timing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layer is not another voice bot. It is a safety and decision layer that controls when an existing AI agent is allowed to call an API.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12  ·  COMPETITIVE LANDSCAPE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 specifically on the gap between language understanding and action execution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nothing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231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15568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integration effort.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46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5568" y="3200400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actions can execute on the agent's first interpretation.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64992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566160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Confirm-everything IVR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4231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confirmation.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461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31920" y="3200400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friction to every action, even low-risk requests.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81344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382512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LLM guardrails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4231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48272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policy, toxicity and PII.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24612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48272" y="3200400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as an action gate for code-mixed negation + speech confidence.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8997696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9198864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9198864" y="2377440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12700">
            <a:solidFill>
              <a:srgbClr val="1F305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code-mixed intent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10323576" y="2816352"/>
            <a:ext cx="914" cy="164592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9" name="Text 21"/>
          <p:cNvSpPr txBox="1"/>
          <p:nvPr/>
        </p:nvSpPr>
        <p:spPr>
          <a:xfrm>
            <a:off x="9198864" y="2980944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12700">
            <a:solidFill>
              <a:srgbClr val="1F305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action risk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10323576" y="3419856"/>
            <a:ext cx="914" cy="164592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1" name="Text 23"/>
          <p:cNvSpPr txBox="1"/>
          <p:nvPr/>
        </p:nvSpPr>
        <p:spPr>
          <a:xfrm>
            <a:off x="9198864" y="3584448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12700">
            <a:solidFill>
              <a:srgbClr val="1F305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CONFIRM / BLOCK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10323576" y="4023360"/>
            <a:ext cx="914" cy="164592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3" name="Text 25"/>
          <p:cNvSpPr txBox="1"/>
          <p:nvPr/>
        </p:nvSpPr>
        <p:spPr>
          <a:xfrm>
            <a:off x="9198864" y="4187952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2AF97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unsafe cases to Freshworks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on every action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79552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Risk-based: only risky actions get a check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policy-aware action gate with human escalation and an auditable record of what the caller said, what the agent decided, and what API was called.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is the control point between an existing AI agent and its tools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65176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AI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75488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85800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negation check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4108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961120" y="1417320"/>
            <a:ext cx="2697480" cy="1417320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act?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>
            <a:off x="9738360" y="2834640"/>
            <a:ext cx="571500" cy="59436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27532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Payments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return / replacement runs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92124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38360" y="4343400"/>
            <a:ext cx="914" cy="3200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6537960" y="2834640"/>
            <a:ext cx="3771900" cy="59436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07492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caller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read-back, voice or DTMF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4343400"/>
            <a:ext cx="914" cy="3200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337560" y="2834640"/>
            <a:ext cx="6972300" cy="59436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87452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ticket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case for a human agent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angry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4343400"/>
            <a:ext cx="914" cy="3200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874520" y="4663440"/>
            <a:ext cx="9326880" cy="548640"/>
          </a:xfrm>
          <a:prstGeom prst="roundRect">
            <a:avLst>
              <a:gd name="adj" fmla="val 13333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speaks the reply in the caller's own language mix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54406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an intent-validation safety gate between what the voice agent hears and what the agent is allowed to do.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&amp; Integration Stack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sponsor/API has one clear job; Codemix Skill coordinates the handoff and controls action execution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82496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2A5C8A"/>
          </a:solidFill>
          <a:ln w="12700">
            <a:solidFill>
              <a:srgbClr val="2A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1572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VoBiz AI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572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DTMF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5727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customers call. Keypad (DTMF) gives a confirmation that needs no speech recognition.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231136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40864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2A5C8A"/>
          </a:solidFill>
          <a:ln w="12700">
            <a:solidFill>
              <a:srgbClr val="2A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22311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2311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2311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code-mixed Hindi + English and Tamil + English, so the negation reaches the intent check.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999232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28895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2889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SAFETY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8895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sensitive action: finds the real intent. “Refund vendam” = NO refund, YES replacement.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65760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57400" y="35478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SAFETY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5478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gate between what the voice agent hears and what it is allowed to do.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315968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1F8A63"/>
          </a:solidFill>
          <a:ln w="12700">
            <a:solidFill>
              <a:srgbClr val="1F8A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057400" y="4206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Dodo Payments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4206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API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2062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refunds, returns and replacements, but only after the safety gate says YES.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864608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DDF5F1"/>
          </a:solidFill>
          <a:ln w="12700">
            <a:solidFill>
              <a:srgbClr val="DDF5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974336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12AF97"/>
          </a:solidFill>
          <a:ln w="12700">
            <a:solidFill>
              <a:srgbClr val="12AF9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057400" y="4864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/ Freshdesk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48646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WORKFLOW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48646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can't be resolved safely, a Freshdesk ticket hands the case to a human agent.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522976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632704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7A5000"/>
          </a:solidFill>
          <a:ln w="12700">
            <a:solidFill>
              <a:srgbClr val="7A5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057400" y="55229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ElevenLabs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434840" y="55229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55229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reply in the caller's own language mix and reads back what it understood.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Decision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silently guesses on an irreversible action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refund(order)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2286000"/>
            <a:ext cx="41148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063240" y="1554480"/>
            <a:ext cx="246888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32120" y="2286000"/>
            <a:ext cx="41148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943600" y="1554480"/>
            <a:ext cx="246888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286000"/>
            <a:ext cx="41148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823960" y="17830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CONFIRM / BLOCK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2286000" y="2788920"/>
            <a:ext cx="7955280" cy="640080"/>
          </a:xfrm>
          <a:prstGeom prst="line">
            <a:avLst/>
          </a:prstGeom>
          <a:noFill/>
          <a:ln w="22225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+ safe action → execute and log.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flipH="1">
            <a:off x="6035040" y="2788920"/>
            <a:ext cx="4206240" cy="640080"/>
          </a:xfrm>
          <a:prstGeom prst="line">
            <a:avLst/>
          </a:prstGeom>
          <a:noFill/>
          <a:ln w="22225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29768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meaning on a risky action → explain uncertainty → voice / DTMF confirmation.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flipH="1">
            <a:off x="9784080" y="2788920"/>
            <a:ext cx="457200" cy="640080"/>
          </a:xfrm>
          <a:prstGeom prst="line">
            <a:avLst/>
          </a:prstGeom>
          <a:noFill/>
          <a:ln w="22225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04672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ROUTE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conflicts with action, confirmation fails, or human handoff is needed → stop API call + Freshdesk.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504688"/>
            <a:ext cx="2756916" cy="502920"/>
          </a:xfrm>
          <a:prstGeom prst="homePlate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vendam, replacement anuppunga.”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424428" y="5504688"/>
            <a:ext cx="2756916" cy="502920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refund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071616" y="5504688"/>
            <a:ext cx="2756916" cy="50292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replacement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18804" y="5504688"/>
            <a:ext cx="2756916" cy="50292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needed: Freshdesk ticket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 Set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combines understanding, decisioning, conversation control and auditability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4572000"/>
          </a:xfrm>
          <a:prstGeom prst="roundRect">
            <a:avLst>
              <a:gd name="adj" fmla="val 344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2286000" cy="411480"/>
          </a:xfrm>
          <a:prstGeom prst="roundRect">
            <a:avLst>
              <a:gd name="adj" fmla="val 33333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4505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 understanding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895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/ Tanglish, including mid-sentence switching.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685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negation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239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what the caller actually wants; catches mat / nahi / vendam / vaddu.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64992" y="1600200"/>
            <a:ext cx="2651760" cy="4572000"/>
          </a:xfrm>
          <a:prstGeom prst="roundRect">
            <a:avLst>
              <a:gd name="adj" fmla="val 3448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47872" y="1755648"/>
            <a:ext cx="2286000" cy="411480"/>
          </a:xfrm>
          <a:prstGeom prst="roundRect">
            <a:avLst>
              <a:gd name="adj" fmla="val 33333"/>
            </a:avLst>
          </a:prstGeom>
          <a:solidFill>
            <a:srgbClr val="7A5000"/>
          </a:solidFill>
          <a:ln w="12700">
            <a:solidFill>
              <a:srgbClr val="7A50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39312" y="24505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39312" y="28895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CONFIRM or BLOCK for each API action.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02152" y="3611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639312" y="3685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uncertainty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39312" y="41239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what is uncertain and asks before acting.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02152" y="48463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639312" y="4919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→ human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39312" y="53583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or distressed callers are routed to Freshdesk.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1600200"/>
            <a:ext cx="2651760" cy="4572000"/>
          </a:xfrm>
          <a:prstGeom prst="roundRect">
            <a:avLst>
              <a:gd name="adj" fmla="val 3448"/>
            </a:avLst>
          </a:prstGeom>
          <a:solidFill>
            <a:srgbClr val="E4EDF6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364224" y="1755648"/>
            <a:ext cx="2286000" cy="411480"/>
          </a:xfrm>
          <a:prstGeom prst="roundRect">
            <a:avLst>
              <a:gd name="adj" fmla="val 33333"/>
            </a:avLst>
          </a:prstGeom>
          <a:solidFill>
            <a:srgbClr val="2A5C8A"/>
          </a:solidFill>
          <a:ln w="12700">
            <a:solidFill>
              <a:srgbClr val="2A5C8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18504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55664" y="24505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28895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for routine requests; deeper validation only when sensitive.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18504" y="3611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455664" y="3685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DTMF + IVR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55664" y="41239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1 / 2 confirmation fallback on any phone.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18504" y="48463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455664" y="4919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55664" y="53583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can cut in; agent stops speaking and listens.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97696" y="1600200"/>
            <a:ext cx="2651760" cy="4572000"/>
          </a:xfrm>
          <a:prstGeom prst="roundRect">
            <a:avLst>
              <a:gd name="adj" fmla="val 3448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80576" y="1755648"/>
            <a:ext cx="2286000" cy="411480"/>
          </a:xfrm>
          <a:prstGeom prst="roundRect">
            <a:avLst>
              <a:gd name="adj" fmla="val 33333"/>
            </a:avLst>
          </a:prstGeom>
          <a:solidFill>
            <a:srgbClr val="1F8A63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34856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72016" y="24505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SOP-based auditing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272016" y="28895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call against company rules.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34856" y="3611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272016" y="3685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272016" y="41239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decisions + API calls + SOP result.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 — End to End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appears only where it adds value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828800"/>
            <a:ext cx="384048" cy="384048"/>
          </a:xfrm>
          <a:prstGeom prst="ellipse">
            <a:avLst/>
          </a:prstGeom>
          <a:solidFill>
            <a:srgbClr val="2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speaks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426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phone 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1800" y="1828800"/>
            <a:ext cx="384048" cy="384048"/>
          </a:xfrm>
          <a:prstGeom prst="ellipse">
            <a:avLst/>
          </a:prstGeom>
          <a:solidFill>
            <a:srgbClr val="2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6426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57800" y="182880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+ intent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6426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engine + Claude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0" y="182880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438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check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26426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/ vendam / nahi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26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92640" y="1691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29800" y="1828800"/>
            <a:ext cx="384048" cy="384048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298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2240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check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829800" y="26426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route if needed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52760" y="3017520"/>
            <a:ext cx="914" cy="59436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92640" y="3611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829800" y="3749040"/>
            <a:ext cx="384048" cy="384048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298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829800" y="4160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829800" y="45628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CONFIRM / BLOCK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 flipH="1">
            <a:off x="9326880" y="420624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406640" y="3611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43800" y="3749040"/>
            <a:ext cx="384048" cy="384048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438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543800" y="4160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confirmation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543800" y="45628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voice or DTMF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flipH="1">
            <a:off x="7040880" y="420624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120640" y="3611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257800" y="3749040"/>
            <a:ext cx="384048" cy="38404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578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257800" y="4160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257800" y="45628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API / Dodo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 flipH="1">
            <a:off x="4754880" y="420624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834640" y="3611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971800" y="3749040"/>
            <a:ext cx="384048" cy="384048"/>
          </a:xfrm>
          <a:prstGeom prst="ellipse">
            <a:avLst/>
          </a:prstGeom>
          <a:solidFill>
            <a:srgbClr val="1F8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9718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2971800" y="4160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audit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2971800" y="45628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rules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 flipH="1">
            <a:off x="2468880" y="420624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48640" y="3611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5800" y="3749040"/>
            <a:ext cx="384048" cy="384048"/>
          </a:xfrm>
          <a:prstGeom prst="ellipse">
            <a:avLst/>
          </a:prstGeom>
          <a:solidFill>
            <a:srgbClr val="1F8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858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85800" y="4160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85800" y="45628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decisions + API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routine calls take the fast path. Confirmation and Freshworks handoff activate only when risk or uncertainty requires them.</a:t>
            </a:r>
            <a:endParaRPr lang="en-US" sz="135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Before Acting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uncertainty, DTMF / IVR confirmation and interrupt handling in one call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760720" cy="36576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645920" y="17373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· speaks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975104"/>
            <a:ext cx="44805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“Refund… vendam… maybe replacement.”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963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ElevenLabs, in the caller's mix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34056"/>
            <a:ext cx="4480560" cy="777240"/>
          </a:xfrm>
          <a:prstGeom prst="roundRect">
            <a:avLst>
              <a:gd name="adj" fmla="val 14118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fully sure whether you want a refund or a replacement. Press 1 for replacement, 2 for a human agent.”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5753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· keypad via VoBiz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813048"/>
            <a:ext cx="4480560" cy="411480"/>
          </a:xfrm>
          <a:prstGeom prst="roundRect">
            <a:avLst>
              <a:gd name="adj" fmla="val 26667"/>
            </a:avLst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1  →  no speech-to-text ambiguity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885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26280"/>
            <a:ext cx="4480560" cy="502920"/>
          </a:xfrm>
          <a:prstGeom prst="roundRect">
            <a:avLst>
              <a:gd name="adj" fmla="val 21818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can cut in at any time: the agent stops speaking and treats it as the latest input.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32004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629400" y="2697480"/>
            <a:ext cx="1691640" cy="1463040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8321040" y="2148840"/>
            <a:ext cx="228600" cy="128016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549640" y="160020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 (voice or press 1)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may proceed through the company API.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V="1">
            <a:off x="8321040" y="3410712"/>
            <a:ext cx="228600" cy="18288"/>
          </a:xfrm>
          <a:prstGeom prst="line">
            <a:avLst/>
          </a:prstGeom>
          <a:noFill/>
          <a:ln w="25400">
            <a:solidFill>
              <a:srgbClr val="12AF97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549640" y="2862072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DDF5F1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/ NO  (press 2)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→ offer human help via Freshdesk.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21040" y="3429000"/>
            <a:ext cx="228600" cy="1243584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549640" y="4123944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/ STILL RISKY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execute → escalate to a human.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" y="548640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becomes a visible decision point, not a hidden model guess. DTMF gives the safety layer a deterministic input.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SOP-Based Auditing &amp; Full Audit Trail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can be reconstructed after the call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51460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transcript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898648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intent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82696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result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666744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050792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/ handoff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43484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818888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3383280"/>
            <a:ext cx="457200" cy="914"/>
          </a:xfrm>
          <a:prstGeom prst="line">
            <a:avLst/>
          </a:prstGeom>
          <a:noFill/>
          <a:ln w="381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389120" y="160020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178308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191475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3035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251460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SOP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4617720" y="2898648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authorization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3282696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confirmation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3666744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policy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4617720" y="4050792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Sensitive-action rules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772400" y="3383280"/>
            <a:ext cx="457200" cy="914"/>
          </a:xfrm>
          <a:prstGeom prst="line">
            <a:avLst/>
          </a:prstGeom>
          <a:noFill/>
          <a:ln w="381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8229600" y="1600200"/>
            <a:ext cx="3383280" cy="3611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458200" y="1783080"/>
            <a:ext cx="548640" cy="548640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1914754"/>
            <a:ext cx="285293" cy="28529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1440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Produced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8458200" y="251460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E1F3EC"/>
          </a:solidFill>
          <a:ln w="12700">
            <a:solidFill>
              <a:srgbClr val="E1F3EC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VIOLATION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8458200" y="2898648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8458200" y="3282696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flag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458200" y="3666744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context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8458200" y="4050792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trace</a:t>
            </a:r>
            <a:endParaRPr lang="en-US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548640" y="5349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AUDIT CHAIN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5623560"/>
            <a:ext cx="1681190" cy="548640"/>
          </a:xfrm>
          <a:prstGeom prst="homePlat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2120102" y="5623560"/>
            <a:ext cx="1681190" cy="548640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3691563" y="5623560"/>
            <a:ext cx="1681190" cy="548640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decision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5263025" y="5623560"/>
            <a:ext cx="1681190" cy="548640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6834487" y="5623560"/>
            <a:ext cx="1681190" cy="548640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8405949" y="5623560"/>
            <a:ext cx="1681190" cy="548640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result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9977410" y="5623560"/>
            <a:ext cx="1681190" cy="548640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case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FRESHWORKS INTEGRATION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Integration — Human-in-the-Loop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is where the AI hands over when it should not act alone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86000" y="2125980"/>
            <a:ext cx="32004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606040" y="16459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254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17720" y="2125980"/>
            <a:ext cx="32004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937760" y="1463040"/>
            <a:ext cx="1828800" cy="1325880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V="1">
            <a:off x="6766560" y="1783080"/>
            <a:ext cx="411480" cy="13716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675120" y="1463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2331720"/>
            <a:ext cx="411480" cy="18288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675120" y="2560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146304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API executes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decision and API call are logged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224028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12AF97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REST API  →  POST /api/v2/tickets  →  human agent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200400"/>
            <a:ext cx="457200" cy="45720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310128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ticket is created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37490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or unclear action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does not confirm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is angry / distressed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not guess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97680" y="306324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98848" y="320040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3310128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07492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 to Freshdesk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4526280" y="37490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intent validation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gating (ALLOW / CONFIRM / BLOCK)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confirmation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escalation on top of ticketing, agent workspace and history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046720" y="306324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247888" y="3200400"/>
            <a:ext cx="457200" cy="457200"/>
          </a:xfrm>
          <a:prstGeom prst="ellipse">
            <a:avLst/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3310128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8239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human agent gets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8275320" y="37490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summary + full transcript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confidence, safety verdict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API action + reason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ready-to-handle case, not a blind escalation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3333"/>
            </a:avLst>
          </a:prstGeom>
          <a:solidFill>
            <a:srgbClr val="12AF97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777240" y="548640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api/create-ticket.js already creates real Freshdesk tickets. We extend Freshworks at the AI-action boundary; we don't replace Freshdesk or the company's APIs.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FRESHWORKS INTEGRATION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Freshdesk Ticket Payload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preserves the evidence a human needs to continue the conversation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1099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00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ticket  ·  created by Codemix Skill  ·  POST /api/v2/tickets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9572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44168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context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" y="2880360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" y="28803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call ID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3255264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6968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transcript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3630168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6968" y="3630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language / code-mix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" y="4005072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6968" y="4005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summary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7240" y="4379976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86968" y="43799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77240" y="4754880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86968" y="47548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DTMF source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34840" y="2286000"/>
            <a:ext cx="457200" cy="457200"/>
          </a:xfrm>
          <a:prstGeom prst="ellipse">
            <a:avLst/>
          </a:prstGeom>
          <a:solidFill>
            <a:srgbClr val="7A5000"/>
          </a:solidFill>
          <a:ln w="12700">
            <a:solidFill>
              <a:srgbClr val="7A5000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395728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001768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context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4434840" y="2880360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44568" y="28803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intent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434840" y="3255264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44568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434840" y="3630168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544568" y="3630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detected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434840" y="4005072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44568" y="4005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verdict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434840" y="4379976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544568" y="43799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API action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434840" y="4754880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544568" y="47548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status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8092440" y="2286000"/>
            <a:ext cx="457200" cy="457200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395728"/>
            <a:ext cx="237744" cy="237744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659368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context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8092440" y="2880360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202168" y="28803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/ tags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8092440" y="3255264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202168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result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8092440" y="3630168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202168" y="3630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escalation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8092440" y="4005072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202168" y="40050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API call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8092440" y="4379976"/>
            <a:ext cx="333756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8202168" y="43799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 reason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8092440" y="4754880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202168" y="47548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Text 51"/>
          <p:cNvSpPr txBox="1"/>
          <p:nvPr/>
        </p:nvSpPr>
        <p:spPr>
          <a:xfrm>
            <a:off x="777240" y="54406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takeaway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is the system where uncertainty becomes a human workflow, with the evidence needed to act quickly.</a:t>
            </a:r>
            <a:endParaRPr lang="en-US" sz="1350" dirty="0"/>
          </a:p>
        </p:txBody>
      </p:sp>
      <p:sp>
        <p:nvSpPr>
          <p:cNvPr id="57" name="Text 5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AGENTIC / AI DESIGN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Integration — The Plugin Control Point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is middleware, not a replacement AI agent. It intercepts the proposed action before the company API is called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E4EDF6"/>
          </a:solidFill>
          <a:ln w="25400">
            <a:solidFill>
              <a:srgbClr val="E4EDF6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EXISTING AI AGENT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conversation and proposes a tool/API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2441448"/>
            <a:ext cx="914" cy="210312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 w="25400">
            <a:solidFill>
              <a:srgbClr val="F4A300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CODEMIX SKILL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transcript + proposed action → Claude checks intent and negation; the gate checks risk, SOP and confidence.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3493008"/>
            <a:ext cx="914" cy="210312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370332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FF4DA"/>
          </a:solidFill>
          <a:ln w="25400">
            <a:solidFill>
              <a:srgbClr val="FFF4DA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DECISION GATE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→ API call  ·  CONFIRM → customer confirmation  ·  BLOCK → stop action + Freshdesk handoff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4544568"/>
            <a:ext cx="914" cy="210312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E1F3EC"/>
          </a:solidFill>
          <a:ln w="25400">
            <a:solidFill>
              <a:srgbClr val="E1F3EC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COMPANY SYSTEMS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APIs execute only after the gate. Freshdesk receives structured human handoffs.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761488"/>
            <a:ext cx="1005840" cy="457200"/>
          </a:xfrm>
          <a:prstGeom prst="roundRect">
            <a:avLst>
              <a:gd name="adj" fmla="val 40000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1600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interfaces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REST adapter around the agent's tool calls. The company keeps its existing agent and business APIs.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37033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safety + policy layer can sit in front of multiple action APIs without rebuilding the voice agent.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760720"/>
            <a:ext cx="11109960" cy="54864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7607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positioning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between the AI agent and its action tools.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MVP SCOPE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 &amp; What Is Already Built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what is demonstrated today from the intended MVP and future extension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611880" cy="640080"/>
          </a:xfrm>
          <a:prstGeom prst="homePlate">
            <a:avLst/>
          </a:prstGeom>
          <a:solidFill>
            <a:srgbClr val="1F8A63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TODAY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24328"/>
            <a:ext cx="146304" cy="146304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542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Round-1 code-mix tagging engine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026664"/>
            <a:ext cx="146304" cy="146304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scoring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146304" cy="146304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3467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831336"/>
            <a:ext cx="146304" cy="146304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749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Freshdesk ticket API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233672"/>
            <a:ext cx="146304" cy="146304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1513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demo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636008"/>
            <a:ext cx="146304" cy="146304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553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ticket creation flow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1600200"/>
            <a:ext cx="3611880" cy="640080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242316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2624328"/>
            <a:ext cx="146304" cy="1463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542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+ Sarvam + ElevenLabs voice path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26280" y="3026664"/>
            <a:ext cx="146304" cy="1463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safety gate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26280" y="3429000"/>
            <a:ext cx="146304" cy="1463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3467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action path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26280" y="3831336"/>
            <a:ext cx="146304" cy="1463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3749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escalation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4233672"/>
            <a:ext cx="146304" cy="1463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41513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Tamil + English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26280" y="4636008"/>
            <a:ext cx="146304" cy="1463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4553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audit trail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1600200"/>
            <a:ext cx="3611880" cy="640080"/>
          </a:xfrm>
          <a:prstGeom prst="chevron">
            <a:avLst/>
          </a:prstGeom>
          <a:solidFill>
            <a:srgbClr val="2A5C8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46720" y="242316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E4EDF6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2624328"/>
            <a:ext cx="146304" cy="146304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49640" y="2542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handoff tuning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275320" y="3026664"/>
            <a:ext cx="146304" cy="146304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4964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 tuning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275320" y="3429000"/>
            <a:ext cx="146304" cy="146304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49640" y="33467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rule editor + audit reports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275320" y="3831336"/>
            <a:ext cx="146304" cy="146304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49640" y="3749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Indian languages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275320" y="4233672"/>
            <a:ext cx="146304" cy="146304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49640" y="41513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Marketplace app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275320" y="4636008"/>
            <a:ext cx="146304" cy="146304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9640" y="4553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via MCP / REST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48640" y="539496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777240" y="53949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rule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latency, accuracy or adoption number that has not been measured in the demo is presented as a target, not a result.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12  ·  TARGET CUSTOMERS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AI agents already have permission to take customer actions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87452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07203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83080" y="1737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customers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1305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D2C, e-commerce and fintech brands using Freshdesk and deploying AI voice agents for Indian customers.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429000"/>
            <a:ext cx="822960" cy="82296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" y="362651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8308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customers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36850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BPOs and support outsourcers that need one safety / policy layer across multiple client accounts.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983480"/>
            <a:ext cx="822960" cy="82296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5180990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83080" y="4846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actions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783080" y="52395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• returns • replacements • cancellations • other company APIs exposed to the AI agent.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7665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START WITH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766560" y="20574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customers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132320" y="30175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…running AI voice agents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7498080" y="3977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…with Indian, code-mixed callers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7863840" y="49377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…whose agent can refund / return / replace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6766560" y="5806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narrower the funnel, the higher the cost of a wrong action.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OF 12  ·  VALUE PROPOSITION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customer would choose this over doing nothing or a generic guardrail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it in once: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AI agent handles mixed-language customers, and nothing irreversible happens on a misheard word.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BE4E7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Codemix Skill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611880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its first interpretation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dropped “mat” or “vendam” becomes a wrong refund or cancellation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escalation: humans start from zero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the caller said vs. what the agent did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2834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4088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Codemix Skill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3611880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intent and negation before any sensitive action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when uncertain (voice or DTMF)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people to Freshworks with full context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full audit trail: transcript, decision, API call, SOP result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OF 12  ·  PRICING &amp; PACKAGING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Packaging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pricing, validated in the pilot. Only guarded (sensitive) actions are metered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Freshdesk customer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61188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risky actions, never blocks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wrong-action report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value before paying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add-on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148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guarded actions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383280"/>
            <a:ext cx="2788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safety gate: ALLOW / CONFIRM / BLOCK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DTMF confirmation + interrupts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escalation + audit trail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 free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61188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SOP rule packs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retention + data residency in India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tracks the risk removed: routine requests are free; only refunds, returns, replacements and cancellations count.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OF 12  ·  GO-TO-MARKET PLAN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Plan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commercial path: pilot → measurable proof → Freshworks distribution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10332720" cy="0"/>
          </a:xfrm>
          <a:prstGeom prst="line">
            <a:avLst/>
          </a:prstGeom>
          <a:noFill/>
          <a:ln w="38100">
            <a:solidFill>
              <a:srgbClr val="B8C2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Indian D2C design partners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7033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already on Freshdesk with AI voice 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88920" y="2743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953512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monitor-mode pilot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53512" y="37033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wrong actions without blocking anything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2743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193792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wrong-action proof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93792" y="37033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+ Hinglish / Tanglish demo video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0920" y="1828800"/>
            <a:ext cx="640080" cy="640080"/>
          </a:xfrm>
          <a:prstGeom prst="ellipse">
            <a:avLst/>
          </a:prstGeom>
          <a:solidFill>
            <a:srgbClr val="12AF9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69480" y="2743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34072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Marketplace listing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34072" y="37033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install for Freshdesk admins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09760" y="274320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674352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via Freshdesk + BPO partners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37033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alongside Freshdesk deals in India / SEA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30352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12AF97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530352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Freshworks matters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converts an unsafe/uncertain AI decision into an actionable, context-rich human support case, which is what makes the add-on sellable.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OF 12  ·  COSTS &amp; RESOURCES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&amp; Resources Needed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budget for a 3-month MVP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80392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664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9933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path, safety gate, Freshworks app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71832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25786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linguist / data annotator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29077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Tamil negation set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474720"/>
            <a:ext cx="658368" cy="6583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63272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493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PM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822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+ pricing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777240" y="4572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~$90K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5303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MVP budget: salaries, Sarvam / Claude / ElevenLabs / VoBiz usage, negation data labelling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3-month MVP timeline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7635240" y="2011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976360" y="2011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0317480" y="2011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212080" y="2350008"/>
            <a:ext cx="644652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3035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dataset + lexicon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635240" y="2432304"/>
            <a:ext cx="1609344" cy="256032"/>
          </a:xfrm>
          <a:prstGeom prst="roundRect">
            <a:avLst>
              <a:gd name="adj" fmla="val 28571"/>
            </a:avLst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212080" y="2807208"/>
            <a:ext cx="6446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3035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safety gate + Dodo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8305800" y="2889504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212080" y="3264408"/>
            <a:ext cx="644652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3035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+ Sarvam + ElevenLabs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976360" y="3346704"/>
            <a:ext cx="1609344" cy="256032"/>
          </a:xfrm>
          <a:prstGeom prst="roundRect">
            <a:avLst>
              <a:gd name="adj" fmla="val 28571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212080" y="3721608"/>
            <a:ext cx="6446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53035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escalation + audit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9378696" y="3803904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5212080" y="4178808"/>
            <a:ext cx="644652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30352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10317480" y="4261104"/>
            <a:ext cx="1341120" cy="256032"/>
          </a:xfrm>
          <a:prstGeom prst="roundRect">
            <a:avLst>
              <a:gd name="adj" fmla="val 28571"/>
            </a:avLst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212080" y="4846320"/>
            <a:ext cx="6446520" cy="1325880"/>
          </a:xfrm>
          <a:prstGeom prst="roundRect">
            <a:avLst>
              <a:gd name="adj" fmla="val 6897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7"/>
          <p:cNvSpPr txBox="1"/>
          <p:nvPr/>
        </p:nvSpPr>
        <p:spPr>
          <a:xfrm>
            <a:off x="5440680" y="4846320"/>
            <a:ext cx="5989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revenue estimate (assumption-based)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paying customers × 20,000 guarded actions / month × $5 per 1,000 ≈ </a:t>
            </a:r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ARR in Year 1</a:t>
            </a:r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input is an assumption to test in the pilot.</a:t>
            </a:r>
            <a:endParaRPr lang="en-US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OF 12  ·  BENEFITS &amp; SUCCESS METRICS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 &amp; Success Metrics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to validate in the pilot, not measured results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0.5%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negated Hindi + Tamil requests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6002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40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900 ms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reply time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sensitive-action path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rate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041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budget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31089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8404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4041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decision + API + SOP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257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tickets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550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pilot customers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0" y="46177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84048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5257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5550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customers in 2 quarters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1600200"/>
            <a:ext cx="4754880" cy="4389120"/>
          </a:xfrm>
          <a:prstGeom prst="roundRect">
            <a:avLst>
              <a:gd name="adj" fmla="val 2083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13232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LOW LATENCY IS KEPT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2194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66760" y="2560320"/>
            <a:ext cx="18288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549640" y="1965960"/>
            <a:ext cx="1783080" cy="118872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41180" y="3154680"/>
            <a:ext cx="914" cy="27432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9509760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560320"/>
            <a:ext cx="182880" cy="914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0195560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0" y="210312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342900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depth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intent + negation + confirmation only for sensitive / irreversible actions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457200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DDF5F1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DTMF for confirmation · Freshdesk for human handling · transcript retained for audit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OF 12  ·  RISKS &amp; ASSUMPTIONS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Assumptions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how we reduce it, and what we're assuming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 →  MITIGATION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drops the negation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176272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931920" y="1920240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risky action (voice or DTMF)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42032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 adds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798064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931920" y="2542032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checks only for sensitive actions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63824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/ spelling variation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3419856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931920" y="3163824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model fallback, learn from human overrides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85616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feels like friction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4041648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931920" y="3785616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15% confirmation budget, tuned in pilot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6446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brands expose refund / return APIs to their AI agent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accept a short confirmation on risky actions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accuracy on phone audio is good enough with the confirmation fallback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69480" y="1600200"/>
            <a:ext cx="4389120" cy="2926080"/>
          </a:xfrm>
          <a:prstGeom prst="roundRect">
            <a:avLst>
              <a:gd name="adj" fmla="val 3125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438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057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Freshdesk sandbox + Marketplace listing path for a 3-brand pilot.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1089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pilot to measure wrong-action reduction, confirmation rate, latency and adoption.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69480" y="475488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98080" y="47548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principle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silently guess on a sensitive action; expose uncertainty, confirm or route to a human.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Pitch — Why This Is a Freshworks Extension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closing story for the judges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228600" cy="22860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voice + negation can cause an AI agent to misunderstand an action.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28800"/>
            <a:ext cx="228600" cy="22860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intent-validation safety gate between what the voice agent hears and what it is allowed to do: Understand → Decide → Act → Audit.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828800"/>
            <a:ext cx="228600" cy="228600"/>
          </a:xfrm>
          <a:prstGeom prst="ellipse">
            <a:avLst/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FRESHWORKS VALUE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AI should not act, Freshdesk turns uncertainty into a structured human workflow with transcript + decision context.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1681190" cy="685800"/>
          </a:xfrm>
          <a:prstGeom prst="homePlate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20102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91563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63025" y="3977640"/>
            <a:ext cx="1681190" cy="685800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decision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34487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action OR Freshdesk ticket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05949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977410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98348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“Don't cancel” should mean don't cancel</a:t>
            </a:r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Freshworks should know exactly what happened when the AI chooses not to act.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Understand → Decide → Act → Audit  •  Thank you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Codemix Skill — Judge-Ready Business Case</dc:title>
  <dc:subject>PptxGenJS Presentation</dc:subject>
  <dc:creator>Team Ramanathan &amp; Sadhana</dc:creator>
  <cp:lastModifiedBy>Team Ramanathan &amp; Sadhana</cp:lastModifiedBy>
  <cp:revision>1</cp:revision>
  <dcterms:created xsi:type="dcterms:W3CDTF">2026-09-26T02:22:40Z</dcterms:created>
  <dcterms:modified xsi:type="dcterms:W3CDTF">2026-09-26T02:22:40Z</dcterms:modified>
</cp:coreProperties>
</file>