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GREAT AGENT HACKATHON 2026  ·  ROUND 2 BUSINESS CASE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+ decision layer between AI agents and their actions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54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2200" b="1" i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60520"/>
            <a:ext cx="2002536" cy="685800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624328" y="4160520"/>
            <a:ext cx="2002536" cy="68580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17136" y="4160520"/>
            <a:ext cx="2002536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9944" y="4160520"/>
            <a:ext cx="2002536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0749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put an intent-validation safety gate between what the voice agent hears and what the agent is allowed to do.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Ramanathan &amp; Sadhana  •  Track 1: Customer &amp; Employee Experience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Initiative Overview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Initiative: Codemix Skill  ·  Owner: Team Ramanathan &amp; Sadhana  ·  a plug-in that makes tool-using AI agents safe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83080"/>
            <a:ext cx="256032" cy="256032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172821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3055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agents can understand a request and immediately call a refund, cancellation or replacement API. A small missed negation can turn the right conversation into the wrong transaction.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72968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355848"/>
            <a:ext cx="256032" cy="25603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33009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product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70332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sits between the AI agent and its API/tool calls. It validates intent, negation, confidence, sentiment and SOP rules before execution.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745736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928616"/>
            <a:ext cx="256032" cy="256032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4873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extension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76088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Unsafe, uncertain or emotionally escalated calls become Freshdesk tickets with transcript, decision context and action details for a human agent.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1600200"/>
            <a:ext cx="5257800" cy="4562856"/>
          </a:xfrm>
          <a:prstGeom prst="roundRect">
            <a:avLst>
              <a:gd name="adj" fmla="val 2004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62940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SITS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2286000"/>
            <a:ext cx="1417320" cy="1097280"/>
          </a:xfrm>
          <a:prstGeom prst="roundRect">
            <a:avLst>
              <a:gd name="adj" fmla="val 6667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AI Agent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agent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103120"/>
            <a:ext cx="1600200" cy="14630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• Decide • Audit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332720" y="228600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E1F3EC"/>
          </a:solidFill>
          <a:ln w="12700">
            <a:solidFill>
              <a:srgbClr val="E1F3E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APIs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actions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92440" y="283464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012680" y="2834640"/>
            <a:ext cx="320040" cy="914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212580" y="3566160"/>
            <a:ext cx="914" cy="777240"/>
          </a:xfrm>
          <a:prstGeom prst="line">
            <a:avLst/>
          </a:prstGeom>
          <a:noFill/>
          <a:ln w="25400">
            <a:solidFill>
              <a:srgbClr val="12AF97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8229600" y="434340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DDF5F1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handoff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3840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/ unsure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0" y="248716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54864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an action. Codemix Skill decides whether it runs, needs confirmation, or goes to a human.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code-mixed voice, one short word can reverse the meaning of an API action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EXAMPLE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57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B64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Caller: “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cancel </a:t>
            </a:r>
            <a:pPr indent="0" marL="0">
              <a:buNone/>
            </a:pPr>
            <a:r>
              <a:rPr lang="en-US" sz="170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743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cancel → update address.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EXAMPLE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057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B64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Caller: “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Refund </a:t>
            </a:r>
            <a:pPr indent="0" marL="0">
              <a:buNone/>
            </a:pPr>
            <a:r>
              <a:rPr lang="en-US" sz="170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vendam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replacement anuppunga.”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743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refund → request replacement.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35204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 </a:t>
            </a:r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can drop a negation on a noisy line, or an intent model can focus on words like “cancel” or “refund” and ignore the negation. With tool calling, that misunderstanding becomes a real transaction.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refund / cancellation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977640" y="544068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4389120" y="48463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FF4DA"/>
          </a:solidFill>
          <a:ln w="12700">
            <a:solidFill>
              <a:srgbClr val="7A5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Money, reshipping, trust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18120" y="544068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8229600" y="48463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</a:t>
            </a:r>
            <a:endParaRPr lang="en-US" sz="1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layer before action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have write access, so misunderstanding is no longer just a bad answer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828800"/>
            <a:ext cx="777240" cy="7772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015338"/>
            <a:ext cx="404165" cy="4041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can act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2004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and MCP let agents trigger refunds, cancellations, returns and other business actions directly.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97680" y="160020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0" y="1828800"/>
            <a:ext cx="777240" cy="7772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538" y="2015338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7200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Code-mixing is normal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32004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callers switch between languages inside a sentence. The risk is concentrated around small intent-flipping words.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46720" y="160020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21040" y="1828800"/>
            <a:ext cx="777240" cy="7772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578" y="2015338"/>
            <a:ext cx="404165" cy="40416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2104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stack is ready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32004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provides phone access + DTMF, Sarvam handles Indian speech-to-text, Claude validates intent, and ElevenLabs returns the response.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48640" y="498348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777240" y="4983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timing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layer is not another voice bot. It is a safety and decision layer that controls when an existing AI agent is allowed to call an API.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Competitive Landscape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focus specifically on the gap between language understanding and action execution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51760" cy="32461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9808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nothing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4231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7744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integration effort.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461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15568" y="3200400"/>
            <a:ext cx="1883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actions can execute on the agent's first interpretation.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364992" y="1600200"/>
            <a:ext cx="2651760" cy="32461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566160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Confirm-everything IVR</a:t>
            </a:r>
            <a:endParaRPr lang="en-US" sz="16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42316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931920" y="237744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confirmation.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24612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931920" y="3200400"/>
            <a:ext cx="1883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friction to every action, even low-risk requests.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181344" y="1600200"/>
            <a:ext cx="2651760" cy="32461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6382512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LLM guardrails</a:t>
            </a:r>
            <a:endParaRPr lang="en-US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242316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48272" y="237744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policy, toxicity and PII.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3246120"/>
            <a:ext cx="274320" cy="2743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48272" y="3200400"/>
            <a:ext cx="1883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designed as an action gate for code-mixed negation + speech confidence.</a:t>
            </a:r>
            <a:endParaRPr lang="en-US" sz="1200" dirty="0"/>
          </a:p>
        </p:txBody>
      </p:sp>
      <p:sp>
        <p:nvSpPr>
          <p:cNvPr id="24" name="Shape 16"/>
          <p:cNvSpPr/>
          <p:nvPr/>
        </p:nvSpPr>
        <p:spPr>
          <a:xfrm>
            <a:off x="8997696" y="1600200"/>
            <a:ext cx="2651760" cy="3246120"/>
          </a:xfrm>
          <a:prstGeom prst="roundRect">
            <a:avLst>
              <a:gd name="adj" fmla="val 3448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17"/>
          <p:cNvSpPr txBox="1"/>
          <p:nvPr/>
        </p:nvSpPr>
        <p:spPr>
          <a:xfrm>
            <a:off x="9198864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1600" dirty="0"/>
          </a:p>
        </p:txBody>
      </p:sp>
      <p:sp>
        <p:nvSpPr>
          <p:cNvPr id="26" name="Text 18"/>
          <p:cNvSpPr txBox="1"/>
          <p:nvPr/>
        </p:nvSpPr>
        <p:spPr>
          <a:xfrm>
            <a:off x="9198864" y="2377440"/>
            <a:ext cx="2249424" cy="438912"/>
          </a:xfrm>
          <a:prstGeom prst="roundRect">
            <a:avLst>
              <a:gd name="adj" fmla="val 16667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code-mixed intent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10323576" y="2816352"/>
            <a:ext cx="914" cy="164592"/>
          </a:xfrm>
          <a:prstGeom prst="line">
            <a:avLst/>
          </a:prstGeom>
          <a:noFill/>
          <a:ln w="190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8" name="Text 20"/>
          <p:cNvSpPr txBox="1"/>
          <p:nvPr/>
        </p:nvSpPr>
        <p:spPr>
          <a:xfrm>
            <a:off x="9198864" y="2980944"/>
            <a:ext cx="2249424" cy="438912"/>
          </a:xfrm>
          <a:prstGeom prst="roundRect">
            <a:avLst>
              <a:gd name="adj" fmla="val 16667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action risk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10323576" y="3419856"/>
            <a:ext cx="914" cy="164592"/>
          </a:xfrm>
          <a:prstGeom prst="line">
            <a:avLst/>
          </a:prstGeom>
          <a:noFill/>
          <a:ln w="190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9198864" y="3584448"/>
            <a:ext cx="2249424" cy="438912"/>
          </a:xfrm>
          <a:prstGeom prst="roundRect">
            <a:avLst>
              <a:gd name="adj" fmla="val 16667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10323576" y="4023360"/>
            <a:ext cx="914" cy="164592"/>
          </a:xfrm>
          <a:prstGeom prst="line">
            <a:avLst/>
          </a:prstGeom>
          <a:noFill/>
          <a:ln w="190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2" name="Text 24"/>
          <p:cNvSpPr txBox="1"/>
          <p:nvPr/>
        </p:nvSpPr>
        <p:spPr>
          <a:xfrm>
            <a:off x="9198864" y="4187952"/>
            <a:ext cx="2249424" cy="438912"/>
          </a:xfrm>
          <a:prstGeom prst="roundRect">
            <a:avLst>
              <a:gd name="adj" fmla="val 16667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unsafe cases to Freshworks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on every action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795528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Risk-based: only risky actions get a check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77724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policy-aware action gate with human escalation and an auditable record of what the caller said, what the agent decided, and what API was called.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Architecture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is the control point between an existing AI agent and its tools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331720" y="212598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651760" y="164592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the call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212598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754880" y="164592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37960" y="212598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858000" y="164592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negation check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41080" y="212598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8961120" y="1417320"/>
            <a:ext cx="2697480" cy="141732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act?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9738360" y="2834640"/>
            <a:ext cx="571500" cy="59436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275320" y="34290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/ return / replacement runs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21240" y="31089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4343400"/>
            <a:ext cx="914" cy="32004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6537960" y="2834640"/>
            <a:ext cx="3771900" cy="594360"/>
          </a:xfrm>
          <a:prstGeom prst="line">
            <a:avLst/>
          </a:prstGeom>
          <a:noFill/>
          <a:ln w="254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5074920" y="34290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caller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read-back, voice or DTMF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1089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37960" y="4343400"/>
            <a:ext cx="914" cy="32004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H="1">
            <a:off x="3337560" y="2834640"/>
            <a:ext cx="6972300" cy="59436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74520" y="34290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ticket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case for a human agent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337560" y="31089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/ angry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37560" y="4343400"/>
            <a:ext cx="914" cy="32004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1874520" y="4663440"/>
            <a:ext cx="9326880" cy="548640"/>
          </a:xfrm>
          <a:prstGeom prst="roundRect">
            <a:avLst>
              <a:gd name="adj" fmla="val 13333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speaks the reply in the caller's own language mix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11109960" cy="731520"/>
          </a:xfrm>
          <a:prstGeom prst="roundRect">
            <a:avLst>
              <a:gd name="adj" fmla="val 125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544068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innovation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put an intent-validation safety gate between what the voice agent hears and what the agent is allowed to do.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Sponsor &amp; Integration Stack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sponsor/API has one clear job; Codemix Skill coordinates the handoff and controls action execution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82496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2A5C8A"/>
          </a:solidFill>
          <a:ln w="12700">
            <a:solidFill>
              <a:srgbClr val="2A5C8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5727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VoBiz AI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157276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DTMF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157276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customers call. Keypad (DTMF) gives a confirmation that needs no speech recognition.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231136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2A5C8A"/>
          </a:solidFill>
          <a:ln w="12700">
            <a:solidFill>
              <a:srgbClr val="2A5C8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223113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Sarvam AI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23113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2311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Transcribes code-mixed Hindi + English and Tamil + English, so the negation reaches the intent check.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889504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2999232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288950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API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288950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SAFETY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8895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sensitive action: finds the real intent. “Refund vendam” = NO refund, YES replacement.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547872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14213D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657600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057400" y="354787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434840" y="354787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+ SAFETY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35478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gate between what the voice agent hears and what it is allowed to do.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206240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315968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1F8A63"/>
          </a:solidFill>
          <a:ln w="12700">
            <a:solidFill>
              <a:srgbClr val="1F8A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057400" y="42062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Dodo Payments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434840" y="42062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API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42062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refunds, returns and replacements, but only after the safety gate says YES.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864608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DDF5F1"/>
          </a:solidFill>
          <a:ln w="12700">
            <a:solidFill>
              <a:srgbClr val="DDF5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974336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057400" y="486460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/ Freshdesk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4434840" y="486460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WORKFLOW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4864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can't be resolved safely, a Freshdesk ticket hands the case to a human agent.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5522976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7A5000"/>
          </a:solidFill>
          <a:ln w="12700">
            <a:solidFill>
              <a:srgbClr val="7A50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057400" y="552297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ElevenLabs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434840" y="552297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OUTPUT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55229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 the reply in the caller's own language mix and reads back what it understood.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Integration — Human-in-the-Loop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is the operational destination for cases the AI should not resolve alone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4EDF6"/>
          </a:solidFill>
          <a:ln w="254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action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17520" y="205740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3429000" y="160020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254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+ decision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97880" y="205740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6309360" y="160020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FF4DA"/>
          </a:solidFill>
          <a:ln w="25400">
            <a:solidFill>
              <a:srgbClr val="FFF4DA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778240" y="205740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9189720" y="160020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DDF5F1"/>
          </a:solidFill>
          <a:ln w="254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human is needed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926080"/>
            <a:ext cx="502920" cy="50292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304678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17320" y="2926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ticket is created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566160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or unclear action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does not confirm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is angry / distressed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should not guess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97680" y="278892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26280" y="2926080"/>
            <a:ext cx="502920" cy="502920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304678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166360" y="2926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Freshdesk receives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3566160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summary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code-mixed transcript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confidence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API action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/ timestamps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46720" y="278892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275320" y="29260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3046781"/>
            <a:ext cx="261518" cy="26151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915400" y="2926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human gets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36118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ready-to-handle case instead of a blind escalation: context, reasoning and conversation history arrive with the ticket.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5532120"/>
            <a:ext cx="2859786" cy="640080"/>
          </a:xfrm>
          <a:prstGeom prst="homePlate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250" dirty="0"/>
          </a:p>
        </p:txBody>
      </p:sp>
      <p:sp>
        <p:nvSpPr>
          <p:cNvPr id="29" name="Text 24"/>
          <p:cNvSpPr txBox="1"/>
          <p:nvPr/>
        </p:nvSpPr>
        <p:spPr>
          <a:xfrm>
            <a:off x="3298698" y="5532120"/>
            <a:ext cx="2859786" cy="64008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REST API</a:t>
            </a:r>
            <a:endParaRPr lang="en-US" sz="1250" dirty="0"/>
          </a:p>
        </p:txBody>
      </p:sp>
      <p:sp>
        <p:nvSpPr>
          <p:cNvPr id="30" name="Text 25"/>
          <p:cNvSpPr txBox="1"/>
          <p:nvPr/>
        </p:nvSpPr>
        <p:spPr>
          <a:xfrm>
            <a:off x="6048756" y="5532120"/>
            <a:ext cx="2859786" cy="64008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/api/v2/tickets</a:t>
            </a:r>
            <a:endParaRPr lang="en-US" sz="1250" dirty="0"/>
          </a:p>
        </p:txBody>
      </p:sp>
      <p:sp>
        <p:nvSpPr>
          <p:cNvPr id="31" name="Text 26"/>
          <p:cNvSpPr txBox="1"/>
          <p:nvPr/>
        </p:nvSpPr>
        <p:spPr>
          <a:xfrm>
            <a:off x="8798814" y="5532120"/>
            <a:ext cx="2859786" cy="64008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agent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 Set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combines understanding, decisioning, conversation control and auditability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51760" cy="4572000"/>
          </a:xfrm>
          <a:prstGeom prst="roundRect">
            <a:avLst>
              <a:gd name="adj" fmla="val 3448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755648"/>
            <a:ext cx="2286000" cy="411480"/>
          </a:xfrm>
          <a:prstGeom prst="roundRect">
            <a:avLst>
              <a:gd name="adj" fmla="val 33333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37744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45059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Mixed-language understanding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88950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/ Tanglish, including mid-sentence switching.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361188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368503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negation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2394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what the caller actually wants; catches mat / nahi / vendam / vaddu.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64992" y="1600200"/>
            <a:ext cx="2651760" cy="4572000"/>
          </a:xfrm>
          <a:prstGeom prst="roundRect">
            <a:avLst>
              <a:gd name="adj" fmla="val 3448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47872" y="1755648"/>
            <a:ext cx="2286000" cy="411480"/>
          </a:xfrm>
          <a:prstGeom prst="roundRect">
            <a:avLst>
              <a:gd name="adj" fmla="val 33333"/>
            </a:avLst>
          </a:prstGeom>
          <a:solidFill>
            <a:srgbClr val="7A5000"/>
          </a:solidFill>
          <a:ln w="12700">
            <a:solidFill>
              <a:srgbClr val="7A5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502152" y="237744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639312" y="245059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39312" y="288950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ALLOW, CONFIRM or BLOCK for each API action.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502152" y="361188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639312" y="368503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uncertainty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639312" y="412394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what is uncertain and asks before acting.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502152" y="484632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639312" y="49194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→ human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639312" y="5358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distressed callers are routed to Freshdesk.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81344" y="1600200"/>
            <a:ext cx="2651760" cy="4572000"/>
          </a:xfrm>
          <a:prstGeom prst="roundRect">
            <a:avLst>
              <a:gd name="adj" fmla="val 3448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364224" y="1755648"/>
            <a:ext cx="2286000" cy="411480"/>
          </a:xfrm>
          <a:prstGeom prst="roundRect">
            <a:avLst>
              <a:gd name="adj" fmla="val 33333"/>
            </a:avLst>
          </a:prstGeom>
          <a:solidFill>
            <a:srgbClr val="2A5C8A"/>
          </a:solidFill>
          <a:ln w="12700">
            <a:solidFill>
              <a:srgbClr val="2A5C8A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18504" y="237744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55664" y="245059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55664" y="288950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 for routine requests; deeper validation only when sensitive.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318504" y="361188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455664" y="368503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+ IVR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455664" y="412394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1 / 2 confirmation fallback on any phone.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318504" y="484632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455664" y="49194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455664" y="5358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can cut in; agent stops speaking and listens.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997696" y="1600200"/>
            <a:ext cx="2651760" cy="4572000"/>
          </a:xfrm>
          <a:prstGeom prst="roundRect">
            <a:avLst>
              <a:gd name="adj" fmla="val 3448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180576" y="1755648"/>
            <a:ext cx="2286000" cy="411480"/>
          </a:xfrm>
          <a:prstGeom prst="roundRect">
            <a:avLst>
              <a:gd name="adj" fmla="val 33333"/>
            </a:avLst>
          </a:prstGeom>
          <a:solidFill>
            <a:srgbClr val="1F8A63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134856" y="237744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272016" y="245059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SOP-based auditing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272016" y="288950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every call against company rules.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134856" y="361188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9272016" y="368503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72016" y="412394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decisions + API calls + SOP result.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 — End to End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appears only where it adds value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828800"/>
            <a:ext cx="384048" cy="384048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402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speaks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426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phone 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68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34640" y="169164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971800" y="1828800"/>
            <a:ext cx="384048" cy="384048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718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22402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26426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20640" y="169164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57800" y="182880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578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257800" y="22402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intent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26426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engine + Claude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40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06640" y="169164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43800" y="182880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438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43800" y="22402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check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543800" y="26426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 / vendam / nahi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326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692640" y="169164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829800" y="1828800"/>
            <a:ext cx="384048" cy="384048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298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29800" y="22402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check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829800" y="26426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route if needed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652760" y="3017520"/>
            <a:ext cx="914" cy="594360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692640" y="361188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829800" y="3749040"/>
            <a:ext cx="384048" cy="384048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298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829800" y="4160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829800" y="456285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9326880" y="420624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7406640" y="361188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543800" y="3749040"/>
            <a:ext cx="384048" cy="384048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438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543800" y="4160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confirmation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543800" y="456285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voice or DTMF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H="1">
            <a:off x="7040880" y="420624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5120640" y="361188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5257800" y="3749040"/>
            <a:ext cx="384048" cy="38404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2578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257800" y="4160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57800" y="456285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API / Dodo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 flipH="1">
            <a:off x="4754880" y="420624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2834640" y="361188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2971800" y="3749040"/>
            <a:ext cx="384048" cy="384048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9718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2971800" y="4160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2971800" y="456285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rules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H="1">
            <a:off x="2468880" y="420624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548640" y="361188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85800" y="3749040"/>
            <a:ext cx="384048" cy="384048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858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85800" y="4160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685800" y="456285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decisions + API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48640" y="521208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routine calls take the fast path. Confirmation and Freshworks handoff activate only when risk or uncertainty requires them.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Safety Decision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silently guesses on an irreversible action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refund(order)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51760" y="2286000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3063240" y="1554480"/>
            <a:ext cx="2468880" cy="14630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check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32120" y="2286000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5943600" y="1554480"/>
            <a:ext cx="2468880" cy="14630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12480" y="2286000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8823960" y="178308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 flipH="1">
            <a:off x="2286000" y="2788920"/>
            <a:ext cx="7955280" cy="640080"/>
          </a:xfrm>
          <a:prstGeom prst="line">
            <a:avLst/>
          </a:prstGeom>
          <a:noFill/>
          <a:ln w="22225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548640" y="34290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5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 + safe action → execute and log.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 flipH="1">
            <a:off x="6035040" y="2788920"/>
            <a:ext cx="4206240" cy="640080"/>
          </a:xfrm>
          <a:prstGeom prst="line">
            <a:avLst/>
          </a:prstGeom>
          <a:noFill/>
          <a:ln w="22225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297680" y="34290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5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meaning on a risky action → explain uncertainty → voice / DTMF confirmation.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 flipH="1">
            <a:off x="9784080" y="2788920"/>
            <a:ext cx="457200" cy="640080"/>
          </a:xfrm>
          <a:prstGeom prst="line">
            <a:avLst/>
          </a:prstGeom>
          <a:noFill/>
          <a:ln w="22225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8046720" y="34290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ROUTE</a:t>
            </a:r>
            <a:endParaRPr lang="en-US" sz="15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conflicts with action, confirmation fails, or human handoff is needed → stop API call + Freshdesk.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11109960" cy="1005840"/>
          </a:xfrm>
          <a:prstGeom prst="roundRect">
            <a:avLst>
              <a:gd name="adj" fmla="val 909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212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504688"/>
            <a:ext cx="2756916" cy="502920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424428" y="5504688"/>
            <a:ext cx="2756916" cy="50292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refund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071616" y="5504688"/>
            <a:ext cx="2756916" cy="50292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replacement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718804" y="5504688"/>
            <a:ext cx="2756916" cy="50292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needed: Freshdesk ticket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Scope &amp; What Is Already Built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what is demonstrated today from the intended MVP and future extension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3611880" cy="640080"/>
          </a:xfrm>
          <a:prstGeom prst="homePlate">
            <a:avLst/>
          </a:prstGeom>
          <a:solidFill>
            <a:srgbClr val="1F8A63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TODAY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624328"/>
            <a:ext cx="146304" cy="146304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5420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Round-1 code-mix tagging engine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026664"/>
            <a:ext cx="146304" cy="146304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scoring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429000"/>
            <a:ext cx="146304" cy="146304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34670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831336"/>
            <a:ext cx="146304" cy="146304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37490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Freshdesk ticket API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233672"/>
            <a:ext cx="146304" cy="146304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15137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demo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4636008"/>
            <a:ext cx="146304" cy="146304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5537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ticket creation flow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1600200"/>
            <a:ext cx="3611880" cy="64008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SCOPE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242316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26280" y="2624328"/>
            <a:ext cx="146304" cy="14630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25420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+ Sarvam + ElevenLabs voice path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26280" y="3026664"/>
            <a:ext cx="146304" cy="14630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safety gate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26280" y="3429000"/>
            <a:ext cx="146304" cy="14630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0600" y="334670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action path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26280" y="3831336"/>
            <a:ext cx="146304" cy="14630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00600" y="37490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escalation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26280" y="4233672"/>
            <a:ext cx="146304" cy="14630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415137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Tamil + English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526280" y="4636008"/>
            <a:ext cx="146304" cy="14630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45537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audit trail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046720" y="1600200"/>
            <a:ext cx="3611880" cy="640080"/>
          </a:xfrm>
          <a:prstGeom prst="chevron">
            <a:avLst/>
          </a:prstGeom>
          <a:solidFill>
            <a:srgbClr val="2A5C8A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PHASE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46720" y="242316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275320" y="2624328"/>
            <a:ext cx="146304" cy="146304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549640" y="25420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handoff tuning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275320" y="3026664"/>
            <a:ext cx="146304" cy="146304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4964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 tuning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8275320" y="3429000"/>
            <a:ext cx="146304" cy="146304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49640" y="334670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rule editor + audit reports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275320" y="3831336"/>
            <a:ext cx="146304" cy="146304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549640" y="37490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Indian languages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275320" y="4233672"/>
            <a:ext cx="146304" cy="146304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549640" y="415137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app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275320" y="4636008"/>
            <a:ext cx="146304" cy="146304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549640" y="45537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via MCP / REST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48640" y="5394960"/>
            <a:ext cx="11109960" cy="777240"/>
          </a:xfrm>
          <a:prstGeom prst="roundRect">
            <a:avLst>
              <a:gd name="adj" fmla="val 11765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777240" y="539496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rule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latency, accuracy or adoption number that has not been measured in the demo is presented as a target, not a result.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Customers &amp; Value Proposition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where AI agents already have permission to take customer actions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8521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8745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750" y="2072030"/>
            <a:ext cx="427939" cy="42793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83080" y="17373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customers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783080" y="213055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D2C, e-commerce and fintech brands using Freshdesk and deploying AI voice agents for Indian customers.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154680"/>
            <a:ext cx="58521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29000"/>
            <a:ext cx="822960" cy="8229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" y="3626510"/>
            <a:ext cx="427939" cy="4279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783080" y="3291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Secondary customers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783080" y="368503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BPOs and support outsourcers that need one safety / policy layer across multiple client accounts.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4709160"/>
            <a:ext cx="58521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4983480"/>
            <a:ext cx="822960" cy="82296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750" y="518099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83080" y="48463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Protected actions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783080" y="523951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 • returns • replacements • cancellations • other company APIs exposed to the AI agent.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720840" y="1600200"/>
            <a:ext cx="4937760" cy="4480560"/>
          </a:xfrm>
          <a:prstGeom prst="roundRect">
            <a:avLst>
              <a:gd name="adj" fmla="val 204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6995160" y="1783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995160" y="21031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Plug it in once: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6995160" y="25146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AI agent can handle mixed-language customers while Codemix Skill…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7040880" y="3227832"/>
            <a:ext cx="310896" cy="31089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040880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7498080" y="3154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intent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7040880" y="3794760"/>
            <a:ext cx="310896" cy="31089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04088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7498080" y="37216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risky actions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7040880" y="4361688"/>
            <a:ext cx="310896" cy="31089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040880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42885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when uncertain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7040880" y="4928616"/>
            <a:ext cx="310896" cy="31089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040880" y="4928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48554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people to Freshworks when needed</a:t>
            </a:r>
            <a:endParaRPr lang="en-US" sz="1400" dirty="0"/>
          </a:p>
        </p:txBody>
      </p:sp>
      <p:sp>
        <p:nvSpPr>
          <p:cNvPr id="37" name="Shape 32"/>
          <p:cNvSpPr/>
          <p:nvPr/>
        </p:nvSpPr>
        <p:spPr>
          <a:xfrm>
            <a:off x="7040880" y="5495544"/>
            <a:ext cx="310896" cy="31089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040880" y="5495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7498080" y="54223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full audit trail</a:t>
            </a:r>
            <a:endParaRPr lang="en-US" sz="1400" dirty="0"/>
          </a:p>
        </p:txBody>
      </p:sp>
      <p:sp>
        <p:nvSpPr>
          <p:cNvPr id="40" name="Text 3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Model, Go-to-Market &amp; Resources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commercial path: pilot → measurable proof → Freshworks distribution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103120"/>
            <a:ext cx="3063240" cy="731520"/>
          </a:xfrm>
          <a:prstGeom prst="roundRect">
            <a:avLst>
              <a:gd name="adj" fmla="val 10000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1031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210312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mode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971800"/>
            <a:ext cx="3063240" cy="731520"/>
          </a:xfrm>
          <a:prstGeom prst="roundRect">
            <a:avLst>
              <a:gd name="adj" fmla="val 10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9718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29718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guarded actions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3063240" cy="731520"/>
          </a:xfrm>
          <a:prstGeom prst="roundRect">
            <a:avLst>
              <a:gd name="adj" fmla="val 10000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8404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384048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annual contract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754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pricing — validate in pilot.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43400" y="160020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7200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27448" y="2286000"/>
            <a:ext cx="0" cy="2651760"/>
          </a:xfrm>
          <a:prstGeom prst="line">
            <a:avLst/>
          </a:prstGeom>
          <a:noFill/>
          <a:ln w="25400">
            <a:solidFill>
              <a:srgbClr val="B8C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0" y="2130552"/>
            <a:ext cx="310896" cy="310896"/>
          </a:xfrm>
          <a:prstGeom prst="ellipse">
            <a:avLst/>
          </a:prstGeom>
          <a:solidFill>
            <a:srgbClr val="1421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2084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Indian D2C design partners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2715768"/>
            <a:ext cx="310896" cy="310896"/>
          </a:xfrm>
          <a:prstGeom prst="ellipse">
            <a:avLst/>
          </a:prstGeom>
          <a:solidFill>
            <a:srgbClr val="1421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0" y="2715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6700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monitor-mode pilot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0" y="3300984"/>
            <a:ext cx="310896" cy="310896"/>
          </a:xfrm>
          <a:prstGeom prst="ellipse">
            <a:avLst/>
          </a:prstGeom>
          <a:solidFill>
            <a:srgbClr val="1421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0" y="3300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325526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wrong-action proof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0" y="3886200"/>
            <a:ext cx="310896" cy="310896"/>
          </a:xfrm>
          <a:prstGeom prst="ellipse">
            <a:avLst/>
          </a:prstGeom>
          <a:solidFill>
            <a:srgbClr val="12AF9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72000" y="3886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0" y="3840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listing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0" y="4471416"/>
            <a:ext cx="310896" cy="310896"/>
          </a:xfrm>
          <a:prstGeom prst="ellipse">
            <a:avLst/>
          </a:prstGeom>
          <a:solidFill>
            <a:srgbClr val="1421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0" y="4471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442569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through Freshdesk + BPO partners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138160" y="160020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8366760" y="1737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&amp; RESOURCES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366760" y="2011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~$90K</a:t>
            </a:r>
            <a:endParaRPr lang="en-US" sz="3800" dirty="0"/>
          </a:p>
        </p:txBody>
      </p:sp>
      <p:sp>
        <p:nvSpPr>
          <p:cNvPr id="39" name="Text 37"/>
          <p:cNvSpPr txBox="1"/>
          <p:nvPr/>
        </p:nvSpPr>
        <p:spPr>
          <a:xfrm>
            <a:off x="8366760" y="2697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MVP budget · 3-month timeline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366760" y="32004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488" y="3310128"/>
            <a:ext cx="237744" cy="237744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8961120" y="3200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engineers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8366760" y="379476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488" y="3904488"/>
            <a:ext cx="237744" cy="237744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896112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linguist / data annotator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8366760" y="438912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4498848"/>
            <a:ext cx="237744" cy="237744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8961120" y="4389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Part-time PM</a:t>
            </a:r>
            <a:endParaRPr lang="en-US" sz="1300" dirty="0"/>
          </a:p>
        </p:txBody>
      </p:sp>
      <p:sp>
        <p:nvSpPr>
          <p:cNvPr id="49" name="Shape 44"/>
          <p:cNvSpPr/>
          <p:nvPr/>
        </p:nvSpPr>
        <p:spPr>
          <a:xfrm>
            <a:off x="548640" y="5486400"/>
            <a:ext cx="11109960" cy="685800"/>
          </a:xfrm>
          <a:prstGeom prst="roundRect">
            <a:avLst>
              <a:gd name="adj" fmla="val 13333"/>
            </a:avLst>
          </a:prstGeom>
          <a:solidFill>
            <a:srgbClr val="12AF97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0" name="Text 45"/>
          <p:cNvSpPr txBox="1"/>
          <p:nvPr/>
        </p:nvSpPr>
        <p:spPr>
          <a:xfrm>
            <a:off x="777240" y="5486400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Freshworks matters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converts an unsafe/uncertain AI decision into an actionable, context-rich human support case.</a:t>
            </a:r>
            <a:endParaRPr lang="en-US" sz="1300" dirty="0"/>
          </a:p>
        </p:txBody>
      </p:sp>
      <p:sp>
        <p:nvSpPr>
          <p:cNvPr id="51" name="Text 4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Integration — What We Add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becomes the human-in-the-loop destination when Codemix Skill decides the AI should not act alone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14213D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4592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EXTENSION</a:t>
            </a:r>
            <a:endParaRPr lang="en-US" sz="120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code-mixed intent validation, action gating, transparent confirmation and structured escalation.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2971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3383280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DDF5F1"/>
          </a:solidFill>
          <a:ln w="19050">
            <a:solidFill>
              <a:srgbClr val="12AF9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38328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FRESHDESK</a:t>
            </a:r>
            <a:endParaRPr lang="en-US" sz="1200" dirty="0"/>
          </a:p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Ticketing • agent workspace • customer history • human support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3177540"/>
            <a:ext cx="685800" cy="914"/>
          </a:xfrm>
          <a:prstGeom prst="line">
            <a:avLst/>
          </a:prstGeom>
          <a:noFill/>
          <a:ln w="38100">
            <a:solidFill>
              <a:srgbClr val="12AF9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55080" y="1645920"/>
            <a:ext cx="530352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1645920"/>
            <a:ext cx="5303520" cy="457200"/>
          </a:xfrm>
          <a:prstGeom prst="roundRect">
            <a:avLst>
              <a:gd name="adj" fmla="val 20000"/>
            </a:avLst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TICKET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286000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98280" y="2286000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3035808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098280" y="3035808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785616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/ attempted action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3785616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for handoff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83480"/>
            <a:ext cx="2859786" cy="548640"/>
          </a:xfrm>
          <a:prstGeom prst="homePlate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8698" y="4983480"/>
            <a:ext cx="2859786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REST API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048756" y="4983480"/>
            <a:ext cx="2859786" cy="54864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/api/v2/tickets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798814" y="4983480"/>
            <a:ext cx="2859786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agent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71500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extend Freshworks around the AI-action boundary; we do not replace Freshdesk or the company's existing APIs.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Freshdesk Ticket Payload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handoff preserves the evidence a human needs to continue the conversation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10996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00200"/>
            <a:ext cx="11109960" cy="502920"/>
          </a:xfrm>
          <a:prstGeom prst="roundRect">
            <a:avLst>
              <a:gd name="adj" fmla="val 18182"/>
            </a:avLst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600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ticket  ·  created by Codemix Skill  ·  POST /api/v2/tickets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2286000"/>
            <a:ext cx="457200" cy="45720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395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44168" y="2286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 context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2880360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6968" y="288036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/ call ID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7240" y="3255264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86968" y="32552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transcript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77240" y="3630168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86968" y="36301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language / code-mix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77240" y="4005072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86968" y="40050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summary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77240" y="4379976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6968" y="43799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77240" y="4754880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86968" y="47548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DTMF source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434840" y="2286000"/>
            <a:ext cx="457200" cy="45720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7A5000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568" y="2395728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001768" y="2286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context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4434840" y="2880360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44568" y="288036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intent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4434840" y="3255264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544568" y="32552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434840" y="3630168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44568" y="36301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detected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4434840" y="4005072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544568" y="40050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4434840" y="4379976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544568" y="43799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API action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4434840" y="4754880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544568" y="47548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status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8092440" y="2286000"/>
            <a:ext cx="457200" cy="45720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2395728"/>
            <a:ext cx="237744" cy="237744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8659368" y="2286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 context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8092440" y="2880360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202168" y="288036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/ tags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8092440" y="3255264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8202168" y="32552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8092440" y="3630168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202168" y="36301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for escalation</a:t>
            </a:r>
            <a:endParaRPr lang="en-US" sz="1200" dirty="0"/>
          </a:p>
        </p:txBody>
      </p:sp>
      <p:sp>
        <p:nvSpPr>
          <p:cNvPr id="48" name="Shape 43"/>
          <p:cNvSpPr/>
          <p:nvPr/>
        </p:nvSpPr>
        <p:spPr>
          <a:xfrm>
            <a:off x="8092440" y="4005072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8202168" y="40050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API call</a:t>
            </a:r>
            <a:endParaRPr lang="en-US" sz="1200" dirty="0"/>
          </a:p>
        </p:txBody>
      </p:sp>
      <p:sp>
        <p:nvSpPr>
          <p:cNvPr id="50" name="Shape 45"/>
          <p:cNvSpPr/>
          <p:nvPr/>
        </p:nvSpPr>
        <p:spPr>
          <a:xfrm>
            <a:off x="8092440" y="4379976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202168" y="43799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handoff reason</a:t>
            </a:r>
            <a:endParaRPr lang="en-US" sz="1200" dirty="0"/>
          </a:p>
        </p:txBody>
      </p:sp>
      <p:sp>
        <p:nvSpPr>
          <p:cNvPr id="52" name="Shape 47"/>
          <p:cNvSpPr/>
          <p:nvPr/>
        </p:nvSpPr>
        <p:spPr>
          <a:xfrm>
            <a:off x="8092440" y="4754880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8202168" y="47548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reference</a:t>
            </a:r>
            <a:endParaRPr lang="en-US" sz="1200" dirty="0"/>
          </a:p>
        </p:txBody>
      </p:sp>
      <p:sp>
        <p:nvSpPr>
          <p:cNvPr id="54" name="Shape 49"/>
          <p:cNvSpPr/>
          <p:nvPr/>
        </p:nvSpPr>
        <p:spPr>
          <a:xfrm>
            <a:off x="548640" y="5440680"/>
            <a:ext cx="11109960" cy="731520"/>
          </a:xfrm>
          <a:prstGeom prst="roundRect">
            <a:avLst>
              <a:gd name="adj" fmla="val 125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5" name="Text 50"/>
          <p:cNvSpPr txBox="1"/>
          <p:nvPr/>
        </p:nvSpPr>
        <p:spPr>
          <a:xfrm>
            <a:off x="777240" y="544068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takeaway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is the system where uncertainty becomes a human workflow, with the evidence needed to act quickly.</a:t>
            </a:r>
            <a:endParaRPr lang="en-US" sz="1350" dirty="0"/>
          </a:p>
        </p:txBody>
      </p:sp>
      <p:sp>
        <p:nvSpPr>
          <p:cNvPr id="56" name="Text 5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Freshworks Is Central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is part of the control loop: safe actions continue automatically; uncertain or unsafe cases become human work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request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210312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intent + risk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0" y="260604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349240" y="260604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5760720" y="1874520"/>
            <a:ext cx="2103120" cy="146304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16002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executes through the company API. Transcript, decision and API call are logged.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306324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SAFE TO ACT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stops. Confirmation or Freshdesk escalation prevents an unsafe autonomous action.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 flipV="1">
            <a:off x="7863840" y="2148840"/>
            <a:ext cx="731520" cy="22860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863840" y="2834640"/>
            <a:ext cx="731520" cy="73152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8595360" y="4526280"/>
            <a:ext cx="3063240" cy="868680"/>
          </a:xfrm>
          <a:prstGeom prst="roundRect">
            <a:avLst>
              <a:gd name="adj" fmla="val 8421"/>
            </a:avLst>
          </a:prstGeom>
          <a:solidFill>
            <a:srgbClr val="DDF5F1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workflow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0126980" y="4206240"/>
            <a:ext cx="914" cy="320040"/>
          </a:xfrm>
          <a:prstGeom prst="line">
            <a:avLst/>
          </a:prstGeom>
          <a:noFill/>
          <a:ln w="25400">
            <a:solidFill>
              <a:srgbClr val="12AF97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645920" y="4956048"/>
            <a:ext cx="6949440" cy="0"/>
          </a:xfrm>
          <a:prstGeom prst="line">
            <a:avLst/>
          </a:prstGeom>
          <a:noFill/>
          <a:ln w="25400">
            <a:solidFill>
              <a:srgbClr val="12AF97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1645920" y="3108960"/>
            <a:ext cx="914" cy="1847088"/>
          </a:xfrm>
          <a:prstGeom prst="line">
            <a:avLst/>
          </a:prstGeom>
          <a:noFill/>
          <a:ln w="25400">
            <a:solidFill>
              <a:srgbClr val="12AF97"/>
            </a:solidFill>
            <a:prstDash val="dash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926080" y="46177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resolves → outcome recorded → loop closed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11109960" cy="640080"/>
          </a:xfrm>
          <a:prstGeom prst="roundRect">
            <a:avLst>
              <a:gd name="adj" fmla="val 14286"/>
            </a:avLst>
          </a:prstGeom>
          <a:solidFill>
            <a:srgbClr val="12AF97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532120"/>
            <a:ext cx="10652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value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closes the loop between autonomous action and accountable human support.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Integration — The Plugin Control Point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is middleware, not a replacement AI agent. It intercepts the proposed action before the company API is called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E4EDF6"/>
          </a:solidFill>
          <a:ln w="25400">
            <a:solidFill>
              <a:srgbClr val="E4EDF6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EXISTING AI AGENT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the conversation and proposes a tool/API action.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749040" y="2441448"/>
            <a:ext cx="914" cy="210312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CODEMIX SKILL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transcript + proposed action → Claude checks intent and negation; the gate checks risk, SOP and confidence.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49040" y="3493008"/>
            <a:ext cx="914" cy="210312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548640" y="370332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FFF4DA"/>
          </a:solidFill>
          <a:ln w="25400">
            <a:solidFill>
              <a:srgbClr val="FFF4DA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DECISION GATE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→ API call  ·  CONFIRM → customer confirmation  ·  BLOCK → stop action + Freshdesk handoff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49040" y="4544568"/>
            <a:ext cx="914" cy="210312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48640" y="475488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E1F3EC"/>
          </a:solidFill>
          <a:ln w="25400">
            <a:solidFill>
              <a:srgbClr val="E1F3EC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COMPANY SYSTEMS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APIs execute only after the gate. Freshdesk receives structured human handoffs.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59168" y="2761488"/>
            <a:ext cx="1005840" cy="457200"/>
          </a:xfrm>
          <a:prstGeom prst="roundRect">
            <a:avLst>
              <a:gd name="adj" fmla="val 40000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160020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interfaces</a:t>
            </a:r>
            <a:endParaRPr lang="en-US" sz="15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/ REST adapter around the agent's tool calls. The company keeps its existing agent and business APIs.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370332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5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safety + policy layer can sit in front of multiple action APIs without rebuilding the voice agent.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760720"/>
            <a:ext cx="11109960" cy="548640"/>
          </a:xfrm>
          <a:prstGeom prst="roundRect">
            <a:avLst>
              <a:gd name="adj" fmla="val 16667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57607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positioning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between the AI agent and its action tools.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&amp; Conversation Intelligence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voice experience is designed around how Indian customers actually speak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828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98241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874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Code-mixing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5603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 account la money varala.” Tamil + English can switch inside a single sentence. Sarvam → transcript → intent layer.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26280" y="1828800"/>
            <a:ext cx="640080" cy="64008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899" y="1982419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1874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Negation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5603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 The presence of “refund” must not trigger a refund when “vendam” reverses it.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75320" y="1828800"/>
            <a:ext cx="640080" cy="64008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8939" y="198241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52560" y="1874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Interrupts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5603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can interrupt while the AI speaks. The agent stops, listens and treats the new utterance as the latest input.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393192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77240" y="4160520"/>
            <a:ext cx="640080" cy="64008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" y="4314139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54480" y="4206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DTMF / IVR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777240" y="48920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exact confirmation, keypad input provides a reliable alternative to speech.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297680" y="393192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526280" y="4160520"/>
            <a:ext cx="640080" cy="640080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9899" y="431413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206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Sentiment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4526280" y="48920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/ distressed caller → human handoff through Freshdesk.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8046720" y="393192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275320" y="4160520"/>
            <a:ext cx="640080" cy="64008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8939" y="4314139"/>
            <a:ext cx="332842" cy="33284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52560" y="4206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response</a:t>
            </a:r>
            <a:endParaRPr lang="en-US" sz="1700" dirty="0"/>
          </a:p>
        </p:txBody>
      </p:sp>
      <p:sp>
        <p:nvSpPr>
          <p:cNvPr id="35" name="Text 27"/>
          <p:cNvSpPr txBox="1"/>
          <p:nvPr/>
        </p:nvSpPr>
        <p:spPr>
          <a:xfrm>
            <a:off x="8275320" y="48920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speaks the validated response and confirmation back to the customer.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Transparent Uncertainty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pretending to understand, the agent exposes uncertainty before a risky action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INPUT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011680"/>
            <a:ext cx="393192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Caller: “Refund… vendam… maybe replacement.”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97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detects conflicting or uncertain intent and does not silently choose an irreversible action.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291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CONFIRMATION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566160"/>
            <a:ext cx="4114800" cy="777240"/>
          </a:xfrm>
          <a:prstGeom prst="roundRect">
            <a:avLst>
              <a:gd name="adj" fmla="val 17647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“I'm not fully sure whether you want a refund or replacement. Please confirm.”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480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confirmation or DTMF can resolve it.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0" y="3383280"/>
            <a:ext cx="54864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6492240" y="2651760"/>
            <a:ext cx="1828800" cy="146304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flipV="1">
            <a:off x="8321040" y="2103120"/>
            <a:ext cx="411480" cy="128016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732520" y="160020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confirms → action may proceed.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V="1">
            <a:off x="8321040" y="3337560"/>
            <a:ext cx="411480" cy="45720"/>
          </a:xfrm>
          <a:prstGeom prst="line">
            <a:avLst/>
          </a:prstGeom>
          <a:noFill/>
          <a:ln w="25400">
            <a:solidFill>
              <a:srgbClr val="12AF97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8732520" y="283464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DDF5F1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/ NO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action → offer human help / Freshdesk.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321040" y="3383280"/>
            <a:ext cx="411480" cy="118872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8732520" y="406908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 / RISK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execute → escalate to human.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11109960" cy="731520"/>
          </a:xfrm>
          <a:prstGeom prst="roundRect">
            <a:avLst>
              <a:gd name="adj" fmla="val 125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" y="544068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becomes a visible decision point, not a hidden model guess.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DTMF + IVR Safety Path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confirmation does not need speech recognition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2697480" cy="1920240"/>
          </a:xfrm>
          <a:prstGeom prst="roundRect">
            <a:avLst>
              <a:gd name="adj" fmla="val 3810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proposes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want me to confirm the replacement. Press 1 to continue, 2 for a human agent.”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46120" y="2651760"/>
            <a:ext cx="32004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3566160" y="1691640"/>
            <a:ext cx="2697480" cy="1920240"/>
          </a:xfrm>
          <a:prstGeom prst="roundRect">
            <a:avLst>
              <a:gd name="adj" fmla="val 381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presses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passes the keypad signal directly. No speech-to-text ambiguity for the confirmation choice.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651760"/>
            <a:ext cx="32004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75120" y="1600200"/>
            <a:ext cx="1828800" cy="246888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12280" y="17373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8A63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17373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909560" y="17373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230428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30428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909560" y="230428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8712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712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28712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343814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343814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343814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503920" y="283464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8778240" y="2103120"/>
            <a:ext cx="1600200" cy="146304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469880" y="1600200"/>
            <a:ext cx="1188720" cy="1005840"/>
          </a:xfrm>
          <a:prstGeom prst="roundRect">
            <a:avLst>
              <a:gd name="adj" fmla="val 7273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safely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0469880" y="3063240"/>
            <a:ext cx="1188720" cy="1005840"/>
          </a:xfrm>
          <a:prstGeom prst="roundRect">
            <a:avLst>
              <a:gd name="adj" fmla="val 7273"/>
            </a:avLst>
          </a:prstGeom>
          <a:solidFill>
            <a:srgbClr val="DDF5F1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human handoff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 flipV="1">
            <a:off x="10332720" y="2103120"/>
            <a:ext cx="137160" cy="54864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332720" y="3017520"/>
            <a:ext cx="137160" cy="548640"/>
          </a:xfrm>
          <a:prstGeom prst="line">
            <a:avLst/>
          </a:prstGeom>
          <a:noFill/>
          <a:ln w="25400">
            <a:solidFill>
              <a:srgbClr val="12AF9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4434840"/>
            <a:ext cx="11109960" cy="1691640"/>
          </a:xfrm>
          <a:prstGeom prst="roundRect">
            <a:avLst>
              <a:gd name="adj" fmla="val 5405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2960" y="4434840"/>
            <a:ext cx="10607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IDs, account numbers and binary confirmation choices are better represented by DTMF than by speech recognition. This gives the safety layer a deterministic input channel.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SOP-Based Auditing &amp; Full Audit Trail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sensitive action can be reconstructed after the call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383280" cy="36118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914754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514600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transcript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898648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intent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282696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result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666744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050792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/ handoff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434840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818888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action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931920" y="3383280"/>
            <a:ext cx="457200" cy="914"/>
          </a:xfrm>
          <a:prstGeom prst="line">
            <a:avLst/>
          </a:prstGeom>
          <a:noFill/>
          <a:ln w="381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389120" y="1600200"/>
            <a:ext cx="3383280" cy="36118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617720" y="1783080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394" y="1914754"/>
            <a:ext cx="285293" cy="28529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3035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617720" y="2514600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SOP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4617720" y="2898648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authorization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4617720" y="3282696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confirmation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4617720" y="3666744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policy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4617720" y="4050792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Sensitive-action rules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7772400" y="3383280"/>
            <a:ext cx="457200" cy="914"/>
          </a:xfrm>
          <a:prstGeom prst="line">
            <a:avLst/>
          </a:prstGeom>
          <a:noFill/>
          <a:ln w="381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8229600" y="1600200"/>
            <a:ext cx="3383280" cy="36118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58200" y="1783080"/>
            <a:ext cx="548640" cy="54864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9874" y="191475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144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Produced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8458200" y="2514600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E1F3EC"/>
          </a:solidFill>
          <a:ln w="12700">
            <a:solidFill>
              <a:srgbClr val="E1F3EC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VIOLATION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8458200" y="2898648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reference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8458200" y="3282696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flag</a:t>
            </a:r>
            <a:endParaRPr lang="en-US" sz="1150" dirty="0"/>
          </a:p>
        </p:txBody>
      </p:sp>
      <p:sp>
        <p:nvSpPr>
          <p:cNvPr id="35" name="Text 30"/>
          <p:cNvSpPr txBox="1"/>
          <p:nvPr/>
        </p:nvSpPr>
        <p:spPr>
          <a:xfrm>
            <a:off x="8458200" y="3666744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context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8458200" y="4050792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Post-call trace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548640" y="5349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AUDIT CHAIN</a:t>
            </a:r>
            <a:endParaRPr lang="en-US" sz="1050" dirty="0"/>
          </a:p>
        </p:txBody>
      </p:sp>
      <p:sp>
        <p:nvSpPr>
          <p:cNvPr id="38" name="Text 33"/>
          <p:cNvSpPr txBox="1"/>
          <p:nvPr/>
        </p:nvSpPr>
        <p:spPr>
          <a:xfrm>
            <a:off x="548640" y="5623560"/>
            <a:ext cx="1681190" cy="548640"/>
          </a:xfrm>
          <a:prstGeom prst="homePlate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2120102" y="5623560"/>
            <a:ext cx="1681190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3691563" y="5623560"/>
            <a:ext cx="1681190" cy="54864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decision</a:t>
            </a:r>
            <a:endParaRPr lang="en-US" sz="1100" dirty="0"/>
          </a:p>
        </p:txBody>
      </p:sp>
      <p:sp>
        <p:nvSpPr>
          <p:cNvPr id="41" name="Text 36"/>
          <p:cNvSpPr txBox="1"/>
          <p:nvPr/>
        </p:nvSpPr>
        <p:spPr>
          <a:xfrm>
            <a:off x="5263025" y="5623560"/>
            <a:ext cx="1681190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6834487" y="5623560"/>
            <a:ext cx="1681190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call</a:t>
            </a:r>
            <a:endParaRPr lang="en-US" sz="1100" dirty="0"/>
          </a:p>
        </p:txBody>
      </p:sp>
      <p:sp>
        <p:nvSpPr>
          <p:cNvPr id="43" name="Text 38"/>
          <p:cNvSpPr txBox="1"/>
          <p:nvPr/>
        </p:nvSpPr>
        <p:spPr>
          <a:xfrm>
            <a:off x="8405949" y="5623560"/>
            <a:ext cx="1681190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9977410" y="5623560"/>
            <a:ext cx="1681190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case</a:t>
            </a:r>
            <a:endParaRPr lang="en-US" sz="1100" dirty="0"/>
          </a:p>
        </p:txBody>
      </p:sp>
      <p:sp>
        <p:nvSpPr>
          <p:cNvPr id="45" name="Text 40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&amp; Reliability Design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is a product feature, but measured claims are presented as targets unless already benchmarked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377440" y="2971800"/>
            <a:ext cx="36576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697480" y="2240280"/>
            <a:ext cx="2377440" cy="14630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irreversible?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 flipV="1">
            <a:off x="5074920" y="2057400"/>
            <a:ext cx="320040" cy="59436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754880" y="178308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74920" y="3291840"/>
            <a:ext cx="320040" cy="594360"/>
          </a:xfrm>
          <a:prstGeom prst="line">
            <a:avLst/>
          </a:prstGeom>
          <a:noFill/>
          <a:ln w="254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754880" y="338328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60020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 fast path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requests avoid unnecessary deep reasoning; minimum checks before a safe action.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342900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depth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intent + negation + confirmation checks for sensitive / irreversible actions.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412480" y="3931920"/>
            <a:ext cx="365760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778240" y="333756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DDF5F1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Fallbacks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for confirmation, Freshdesk for human handling, transcript retained for audit.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17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TARGETS (validate during pilot)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9377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77240" y="4983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900 ms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5961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response target, sensitive-action path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49377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4983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15%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5961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49377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75320" y="4983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55961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Metrics, Risks &amp; The Ask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safer actions, faster handling and complete accountability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16642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0.5%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58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160020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514600" y="16642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900 ms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258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reply target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160020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389120" y="16642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15%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2258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60020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63640" y="16642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258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46720" y="160020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138160" y="16642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−30%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2258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tickets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921240" y="160020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10012680" y="16642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5C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2258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target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  →  MITIGATION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337560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drops negation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0" y="3547872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611880" y="3337560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risky actions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849624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0" y="4059936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11880" y="3849624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checks only when needed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361688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 variation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00400" y="4572000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611880" y="4361688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lexicon + model fallback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873752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Read-back friction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0400" y="5084064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611880" y="4873752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 pilot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269480" y="3017520"/>
            <a:ext cx="4389120" cy="2331720"/>
          </a:xfrm>
          <a:prstGeom prst="roundRect">
            <a:avLst>
              <a:gd name="adj" fmla="val 3922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754380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543800" y="347472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Freshdesk sandbox + Marketplace listing path for a 3-brand pilot.</a:t>
            </a:r>
            <a:endParaRPr lang="en-US" sz="1700" dirty="0"/>
          </a:p>
        </p:txBody>
      </p:sp>
      <p:sp>
        <p:nvSpPr>
          <p:cNvPr id="40" name="Text 38"/>
          <p:cNvSpPr txBox="1"/>
          <p:nvPr/>
        </p:nvSpPr>
        <p:spPr>
          <a:xfrm>
            <a:off x="7543800" y="438912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pilot to measure wrong-action reduction, confirmation rate, latency and adoption.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5532120"/>
            <a:ext cx="11109960" cy="640080"/>
          </a:xfrm>
          <a:prstGeom prst="roundRect">
            <a:avLst>
              <a:gd name="adj" fmla="val 14286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532120"/>
            <a:ext cx="10652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principle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silently guess on a sensitive action; expose uncertainty, confirm or route to a human.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Pitch — Why This Is a Freshworks Extension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concise closing story for the judges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28800"/>
            <a:ext cx="228600" cy="22860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1783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945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voice + negation can cause an AI agent to misunderstand an action.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1828800"/>
            <a:ext cx="228600" cy="22860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783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1945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intent-validation safety gate between what the voice agent hears and what it is allowed to do: Understand → Decide → Act → Audit.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6459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828800"/>
            <a:ext cx="228600" cy="228600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95360" y="1783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FRESHWORKS VALUE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1945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AI should not act, Freshdesk turns uncertainty into a structured human workflow with transcript + decision context.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977640"/>
            <a:ext cx="1681190" cy="685800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120102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691563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263025" y="3977640"/>
            <a:ext cx="1681190" cy="68580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decision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34487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action OR Freshdesk ticket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05949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977410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983480"/>
            <a:ext cx="11109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“Don't cancel” should mean don't cancel</a:t>
            </a:r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and Freshworks should know exactly what happened when the AI chooses not to act.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Understand → Decide → Act → Audit  •  Thank you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Codemix Skill — Judge-Ready Business Case</dc:title>
  <dc:subject>PptxGenJS Presentation</dc:subject>
  <dc:creator>Team Ramanathan &amp; Sadhana</dc:creator>
  <cp:lastModifiedBy>Team Ramanathan &amp; Sadhana</cp:lastModifiedBy>
  <cp:revision>1</cp:revision>
  <dcterms:created xsi:type="dcterms:W3CDTF">2026-09-26T02:18:21Z</dcterms:created>
  <dcterms:modified xsi:type="dcterms:W3CDTF">2026-09-26T02:18:21Z</dcterms:modified>
</cp:coreProperties>
</file>