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Arial"/>
              </a:rPr>
              <a:t>Wrong refund / cancel on negated requests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Round-1 engine alone</c:v>
                </c:pt>
              </c:strCache>
            </c:strRef>
          </c:tx>
          <c:spPr>
            <a:solidFill>
              <a:srgbClr val="C8283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Negated requests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negation gate v0</c:v>
                </c:pt>
              </c:strCache>
            </c:strRef>
          </c:tx>
          <c:spPr>
            <a:solidFill>
              <a:srgbClr val="1F8A6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Negated requests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48% is reproducible: node decision-policy/negation-benchmark.mjs. It is a small team-written set, so present it as evidence the problem is real, not as a production accuracy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run shows the Round-1 keyword engine recognised only 7 of 20 genuine refund/cancel requests, which is why the MVP uses Claude for intent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AGENT HACKATHON 2026  ·  ROUND 2 BUSINESS CASE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CODEMIX SKILL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+ decision layer between AI agents and their actions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54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“Order cancel </a:t>
            </a:r>
            <a:pPr indent="0" marL="0">
              <a:buNone/>
            </a:pPr>
            <a:r>
              <a:rPr lang="en-US" sz="2200" b="1" i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</a:t>
            </a:r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karo, bas address change karna hai.”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2002536" cy="685800"/>
          </a:xfrm>
          <a:prstGeom prst="homePlate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624328" y="4160520"/>
            <a:ext cx="2002536" cy="685800"/>
          </a:xfrm>
          <a:prstGeom prst="chevron">
            <a:avLst/>
          </a:prstGeom>
          <a:solidFill>
            <a:srgbClr val="F4A300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17136" y="4160520"/>
            <a:ext cx="2002536" cy="68580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9944" y="4160520"/>
            <a:ext cx="2002536" cy="68580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074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put an intent-validation safety gate between what the voice agent hears and what the agent is allowed to do.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Ramanathan &amp; Sadhana  •  Track 1: Customer &amp; Employee Experience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12  ·  INITIATIVE OVERVIEW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Initiative Overview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Initiative: Codemix Skill  ·  Owner: Team Ramanathan &amp; Sadhana  ·  a plug-in that makes tool-using AI agents safe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83080"/>
            <a:ext cx="256032" cy="256032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172821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13055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agents can understand a request and immediately call a refund, cancellation or replacement API. A small missed negation can turn the right conversation into the wrong transaction.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355848"/>
            <a:ext cx="256032" cy="25603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3009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product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0332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sits between the AI agent and its API/tool calls. It validates intent, negation, confidence, sentiment and SOP rules before execution.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45736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928616"/>
            <a:ext cx="256032" cy="256032"/>
          </a:xfrm>
          <a:prstGeom prst="ellipse">
            <a:avLst/>
          </a:prstGeom>
          <a:solidFill>
            <a:srgbClr val="12AF97"/>
          </a:solidFill>
          <a:ln w="12700">
            <a:solidFill>
              <a:srgbClr val="12AF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873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Freshworks extension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27608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Unsafe, uncertain or emotionally escalated calls become Freshdesk tickets with transcript, decision context and action details for a human agent.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600200"/>
            <a:ext cx="5257800" cy="4562856"/>
          </a:xfrm>
          <a:prstGeom prst="roundRect">
            <a:avLst>
              <a:gd name="adj" fmla="val 2004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294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SITS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28600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AI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agent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210312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254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• Decide • Audit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332720" y="228600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E1F3EC"/>
          </a:solidFill>
          <a:ln w="12700">
            <a:solidFill>
              <a:srgbClr val="E1F3E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APIs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actions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92440" y="2834640"/>
            <a:ext cx="32004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12680" y="2834640"/>
            <a:ext cx="320040" cy="914"/>
          </a:xfrm>
          <a:prstGeom prst="line">
            <a:avLst/>
          </a:prstGeom>
          <a:noFill/>
          <a:ln w="25400">
            <a:solidFill>
              <a:srgbClr val="1F8A6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12580" y="3566160"/>
            <a:ext cx="914" cy="777240"/>
          </a:xfrm>
          <a:prstGeom prst="line">
            <a:avLst/>
          </a:prstGeom>
          <a:noFill/>
          <a:ln w="25400">
            <a:solidFill>
              <a:srgbClr val="12AF97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8229600" y="43434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DDF5F1"/>
          </a:solidFill>
          <a:ln w="12700">
            <a:solidFill>
              <a:srgbClr val="12AF9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handoff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/ unsure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0" y="2487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5486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proposes an action. Codemix Skill decides whether it runs, needs confirmation, or goes to a human.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12  ·  PROBLEM STATEMENT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code-mixed voice, one short word can reverse the meaning of an API action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709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EXAMPLE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842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“Order cancel </a:t>
            </a:r>
            <a:pPr indent="0" marL="0">
              <a:buNone/>
            </a:pPr>
            <a:r>
              <a:rPr lang="en-US" sz="1650" b="1" i="1" u="sng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</a:t>
            </a:r>
            <a:pPr indent="0" marL="0">
              <a:buNone/>
            </a:pPr>
            <a:r>
              <a:rPr lang="en-US" sz="165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karo, bas address change karna hai.”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146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intent: do NOT cancel → update address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92240" y="1709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EXAMPLE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9842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“Refund </a:t>
            </a:r>
            <a:pPr indent="0" marL="0">
              <a:buNone/>
            </a:pPr>
            <a:r>
              <a:rPr lang="en-US" sz="1650" b="1" i="1" u="sng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vendam</a:t>
            </a:r>
            <a:pPr indent="0" marL="0">
              <a:buNone/>
            </a:pPr>
            <a:r>
              <a:rPr lang="en-US" sz="165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replacement anuppunga.”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5146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intent: do NOT refund → send replacement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54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BREAKS TODAY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747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says “don't cancel”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63240" y="3909060"/>
            <a:ext cx="301752" cy="914"/>
          </a:xfrm>
          <a:prstGeom prst="line">
            <a:avLst/>
          </a:prstGeom>
          <a:noFill/>
          <a:ln w="317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364992" y="34747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4DA"/>
          </a:solidFill>
          <a:ln w="12700">
            <a:solidFill>
              <a:srgbClr val="FFF4DA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drops “mat”, or the intent model ignores 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79592" y="3909060"/>
            <a:ext cx="301752" cy="914"/>
          </a:xfrm>
          <a:prstGeom prst="line">
            <a:avLst/>
          </a:prstGeom>
          <a:noFill/>
          <a:ln w="317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181344" y="34747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cancel_order()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95944" y="3909060"/>
            <a:ext cx="301752" cy="914"/>
          </a:xfrm>
          <a:prstGeom prst="line">
            <a:avLst/>
          </a:prstGeom>
          <a:noFill/>
          <a:ln w="317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997696" y="34747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cancelled: money, reshipping, trust lost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77240" y="46634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2331720" y="468172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negated requests would still trigger a refund / cancel in our own Round-1 engine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760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11 of 23 team-written test sentences (Hindi, Tamil, English, Telugu, Kannada, Bengali)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45720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46520" y="46634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8001000" y="468172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cash-on-delivery orders in India return to origin, so refund / cancel / return calls are high-volume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5760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Shipway ShipNotes report, FY25 (Jul 2025)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12  ·  WHY NOW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have write access, so misunderstanding is no longer just a bad answer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52044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93669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0020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can act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0604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and MCP let agents trigger refunds, cancellations, returns and other business actions directly.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1600200"/>
            <a:ext cx="352044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1783080"/>
            <a:ext cx="640080" cy="640080"/>
          </a:xfrm>
          <a:prstGeom prst="ellipse">
            <a:avLst/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193669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924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Code-mixing is normal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60604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callers switch between languages inside a sentence. The risk is concentrated around small intent-flipping words.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46720" y="1600200"/>
            <a:ext cx="352044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1783080"/>
            <a:ext cx="640080" cy="640080"/>
          </a:xfrm>
          <a:prstGeom prst="ellipse">
            <a:avLst/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193669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9828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stack is ready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60604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provides phone access + DTMF, Sarvam handles Indian speech-to-text, Claude validates intent, and ElevenLabs returns the response.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4805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4DA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777240" y="4480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5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27–70%</a:t>
            </a:r>
            <a:endParaRPr lang="en-US" sz="3000" dirty="0"/>
          </a:p>
        </p:txBody>
      </p:sp>
      <p:sp>
        <p:nvSpPr>
          <p:cNvPr id="24" name="Text 19"/>
          <p:cNvSpPr txBox="1"/>
          <p:nvPr/>
        </p:nvSpPr>
        <p:spPr>
          <a:xfrm>
            <a:off x="2651760" y="448056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error rate on Hinglish across speech-to-text models, on identical audio.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alone can't yet be trusted with irreversible actions, so the gate is needed now.</a:t>
            </a:r>
            <a:pPr indent="0" marL="0">
              <a:buNone/>
            </a:pPr>
            <a:r>
              <a:rPr lang="en-US" sz="9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Source: Deepgram, “Hinglish Voice AI: Why ASR Fails”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timing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layer is not another voice bot. It is a safety and decision layer that controls when an existing AI agent is allowed to call an API.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12  ·  COMPETITIVE LANDSCAPE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focus specifically on the gap between language understanding and action execution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17373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nothing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231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15568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integration effort.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246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15568" y="3200400"/>
            <a:ext cx="1883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actions can execute on the agent's first interpretation.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64992" y="160020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566160" y="17373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Confirm-everything IVR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4231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31920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confirmation.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2461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931920" y="3200400"/>
            <a:ext cx="1883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friction to every action, even low-risk requests.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181344" y="160020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6382512" y="17373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LLM guardrails</a:t>
            </a:r>
            <a:endParaRPr lang="en-US" sz="16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42316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748272" y="237744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policy, toxicity and PII.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24612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748272" y="3200400"/>
            <a:ext cx="1883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designed as an action gate for code-mixed negation + speech confidence.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8997696" y="160020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18"/>
          <p:cNvSpPr txBox="1"/>
          <p:nvPr/>
        </p:nvSpPr>
        <p:spPr>
          <a:xfrm>
            <a:off x="9198864" y="17373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Codemix Skill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9198864" y="2377440"/>
            <a:ext cx="2249424" cy="438912"/>
          </a:xfrm>
          <a:prstGeom prst="roundRect">
            <a:avLst>
              <a:gd name="adj" fmla="val 16667"/>
            </a:avLst>
          </a:prstGeom>
          <a:solidFill>
            <a:srgbClr val="1F3057"/>
          </a:solidFill>
          <a:ln w="12700">
            <a:solidFill>
              <a:srgbClr val="1F305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code-mixed intent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10323576" y="2816352"/>
            <a:ext cx="914" cy="164592"/>
          </a:xfrm>
          <a:prstGeom prst="line">
            <a:avLst/>
          </a:prstGeom>
          <a:noFill/>
          <a:ln w="190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9" name="Text 21"/>
          <p:cNvSpPr txBox="1"/>
          <p:nvPr/>
        </p:nvSpPr>
        <p:spPr>
          <a:xfrm>
            <a:off x="9198864" y="2980944"/>
            <a:ext cx="2249424" cy="438912"/>
          </a:xfrm>
          <a:prstGeom prst="roundRect">
            <a:avLst>
              <a:gd name="adj" fmla="val 16667"/>
            </a:avLst>
          </a:prstGeom>
          <a:solidFill>
            <a:srgbClr val="1F3057"/>
          </a:solidFill>
          <a:ln w="12700">
            <a:solidFill>
              <a:srgbClr val="1F305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action risk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10323576" y="3419856"/>
            <a:ext cx="914" cy="164592"/>
          </a:xfrm>
          <a:prstGeom prst="line">
            <a:avLst/>
          </a:prstGeom>
          <a:noFill/>
          <a:ln w="190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31" name="Text 23"/>
          <p:cNvSpPr txBox="1"/>
          <p:nvPr/>
        </p:nvSpPr>
        <p:spPr>
          <a:xfrm>
            <a:off x="9198864" y="3584448"/>
            <a:ext cx="2249424" cy="438912"/>
          </a:xfrm>
          <a:prstGeom prst="roundRect">
            <a:avLst>
              <a:gd name="adj" fmla="val 16667"/>
            </a:avLst>
          </a:prstGeom>
          <a:solidFill>
            <a:srgbClr val="1F3057"/>
          </a:solidFill>
          <a:ln w="12700">
            <a:solidFill>
              <a:srgbClr val="1F305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CONFIRM / BLOCK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10323576" y="4023360"/>
            <a:ext cx="914" cy="164592"/>
          </a:xfrm>
          <a:prstGeom prst="line">
            <a:avLst/>
          </a:prstGeom>
          <a:noFill/>
          <a:ln w="190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33" name="Text 25"/>
          <p:cNvSpPr txBox="1"/>
          <p:nvPr/>
        </p:nvSpPr>
        <p:spPr>
          <a:xfrm>
            <a:off x="9198864" y="4187952"/>
            <a:ext cx="2249424" cy="438912"/>
          </a:xfrm>
          <a:prstGeom prst="roundRect">
            <a:avLst>
              <a:gd name="adj" fmla="val 16667"/>
            </a:avLst>
          </a:prstGeom>
          <a:solidFill>
            <a:srgbClr val="12AF97"/>
          </a:solidFill>
          <a:ln w="12700">
            <a:solidFill>
              <a:srgbClr val="12AF9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unsafe cases to Freshworks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on every action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795528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Risk-based: only risky actions get a check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policy-aware action gate with human escalation and an auditable record of what the caller said, what the agent decided, and what API was called.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PROPOSED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is the control point between an existing AI agent and its tools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2125980"/>
            <a:ext cx="32004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651760" y="16459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AI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call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2125980"/>
            <a:ext cx="32004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754880" y="16459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37960" y="2125980"/>
            <a:ext cx="32004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858000" y="16459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negation check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41080" y="2125980"/>
            <a:ext cx="32004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8961120" y="1417320"/>
            <a:ext cx="2697480" cy="1417320"/>
          </a:xfrm>
          <a:prstGeom prst="diamond">
            <a:avLst/>
          </a:prstGeom>
          <a:solidFill>
            <a:srgbClr val="F4A300"/>
          </a:solidFill>
          <a:ln>
            <a:solidFill>
              <a:srgbClr val="F4A3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act?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H="1">
            <a:off x="9738360" y="2834640"/>
            <a:ext cx="571500" cy="594360"/>
          </a:xfrm>
          <a:prstGeom prst="line">
            <a:avLst/>
          </a:prstGeom>
          <a:noFill/>
          <a:ln w="25400">
            <a:solidFill>
              <a:srgbClr val="1F8A63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8275320" y="34290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Dodo Payments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/ return / replacement runs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92124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738360" y="4343400"/>
            <a:ext cx="914" cy="32004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6537960" y="2834640"/>
            <a:ext cx="3771900" cy="59436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074920" y="34290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caller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read-back, voice or DTMF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37960" y="4343400"/>
            <a:ext cx="914" cy="32004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3337560" y="2834640"/>
            <a:ext cx="6972300" cy="594360"/>
          </a:xfrm>
          <a:prstGeom prst="line">
            <a:avLst/>
          </a:prstGeom>
          <a:noFill/>
          <a:ln w="25400">
            <a:solidFill>
              <a:srgbClr val="C8283C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1874520" y="34290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 ticket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case for a human agent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33756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/ angry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37560" y="4343400"/>
            <a:ext cx="914" cy="32004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1874520" y="4663440"/>
            <a:ext cx="9326880" cy="548640"/>
          </a:xfrm>
          <a:prstGeom prst="roundRect">
            <a:avLst>
              <a:gd name="adj" fmla="val 13333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speaks the reply in the caller's own language mix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77240" y="544068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innovation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put an intent-validation safety gate between what the voice agent hears and what the agent is allowed to do.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PROPOSED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 &amp; Integration Stack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sponsor/API has one clear job; Codemix Skill coordinates the handoff and controls action execution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E4EDF6"/>
          </a:solidFill>
          <a:ln w="12700">
            <a:solidFill>
              <a:srgbClr val="E4ED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82496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2A5C8A"/>
          </a:solidFill>
          <a:ln w="12700">
            <a:solidFill>
              <a:srgbClr val="2A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15727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VoBiz AI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5727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DTMF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57276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customers call. Keypad (DTMF) gives a confirmation that needs no speech recognition.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231136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E4EDF6"/>
          </a:solidFill>
          <a:ln w="12700">
            <a:solidFill>
              <a:srgbClr val="E4ED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340864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2A5C8A"/>
          </a:solidFill>
          <a:ln w="12700">
            <a:solidFill>
              <a:srgbClr val="2A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22311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Sarvam AI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2311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23113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Transcribes code-mixed Hindi + English and Tamil + English, so the negation reaches the intent check.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889504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999232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28895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28895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SAFETY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88950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sensitive action: finds the real intent. “Refund vendam” = NO refund, YES replacement.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547872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 w="25400">
            <a:solidFill>
              <a:srgbClr val="F4A3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657600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F4A300"/>
          </a:solidFill>
          <a:ln w="12700">
            <a:solidFill>
              <a:srgbClr val="F4A3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057400" y="35478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Codemix Skill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35478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+ SAFETY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5478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gate between what the voice agent hears and what it is allowed to do.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E1F3EC"/>
          </a:solidFill>
          <a:ln w="12700">
            <a:solidFill>
              <a:srgbClr val="E1F3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4315968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1F8A63"/>
          </a:solidFill>
          <a:ln w="12700">
            <a:solidFill>
              <a:srgbClr val="1F8A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057400" y="4206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Dodo Payments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434840" y="42062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API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42062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refunds, returns and replacements, but only after the safety gate says YES.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4864608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DDF5F1"/>
          </a:solidFill>
          <a:ln w="12700">
            <a:solidFill>
              <a:srgbClr val="DDF5F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4974336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12AF97"/>
          </a:solidFill>
          <a:ln w="12700">
            <a:solidFill>
              <a:srgbClr val="12AF97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057400" y="48646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Freshworks / Freshdesk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434840" y="486460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WORKFLOW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48646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can't be resolved safely, a Freshdesk ticket hands the case to a human agent.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5522976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5632704"/>
            <a:ext cx="1188720" cy="347472"/>
          </a:xfrm>
          <a:prstGeom prst="roundRect">
            <a:avLst>
              <a:gd name="adj" fmla="val 39474"/>
            </a:avLst>
          </a:prstGeom>
          <a:solidFill>
            <a:srgbClr val="7A5000"/>
          </a:solidFill>
          <a:ln w="12700">
            <a:solidFill>
              <a:srgbClr val="7A5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2057400" y="55229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ElevenLabs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434840" y="552297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OUTPUT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552297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the reply in the caller's own language mix and reads back what it understood.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PROPOSED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Call, End to End — All 11 Features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appears only where it adds value; routine calls take the fast path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E4EDF6"/>
          </a:solidFill>
          <a:ln w="12700">
            <a:solidFill>
              <a:srgbClr val="E4ED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709928"/>
            <a:ext cx="365760" cy="365760"/>
          </a:xfrm>
          <a:prstGeom prst="ellipse">
            <a:avLst/>
          </a:prstGeom>
          <a:solidFill>
            <a:srgbClr val="2A5C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130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speaks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phone line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770632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5C8A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handling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2487168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34640" y="160020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E4EDF6"/>
          </a:solidFill>
          <a:ln w="12700">
            <a:solidFill>
              <a:srgbClr val="E4ED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44368" y="1709928"/>
            <a:ext cx="365760" cy="365760"/>
          </a:xfrm>
          <a:prstGeom prst="ellipse">
            <a:avLst/>
          </a:prstGeom>
          <a:solidFill>
            <a:srgbClr val="2A5C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4436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944368" y="2130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944368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944368" y="2770632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5C8A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487168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20640" y="160020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30368" y="1709928"/>
            <a:ext cx="365760" cy="3657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3036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230368" y="2130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+ intent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230368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engine + Claude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2770632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213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Mixed-language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3044952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213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40880" y="2487168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06640" y="160020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16368" y="1709928"/>
            <a:ext cx="365760" cy="3657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1636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516368" y="2130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check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516368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/ vendam / nahi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516368" y="2770632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213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326880" y="2487168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692640" y="160020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802368" y="1709928"/>
            <a:ext cx="365760" cy="365760"/>
          </a:xfrm>
          <a:prstGeom prst="ellipse">
            <a:avLst/>
          </a:prstGeom>
          <a:solidFill>
            <a:srgbClr val="7A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80236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802368" y="2130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check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802368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→ human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802368" y="2770632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500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→ human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652760" y="3383280"/>
            <a:ext cx="914" cy="320040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692640" y="370332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802368" y="3813048"/>
            <a:ext cx="365760" cy="365760"/>
          </a:xfrm>
          <a:prstGeom prst="ellipse">
            <a:avLst/>
          </a:prstGeom>
          <a:solidFill>
            <a:srgbClr val="7A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80236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9802368" y="42336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9802368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CONFIRM / BLOCK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802368" y="4873752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500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 flipH="1">
            <a:off x="9326880" y="4590288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406640" y="370332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16368" y="3813048"/>
            <a:ext cx="365760" cy="365760"/>
          </a:xfrm>
          <a:prstGeom prst="ellipse">
            <a:avLst/>
          </a:prstGeom>
          <a:solidFill>
            <a:srgbClr val="7A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51636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7516368" y="42336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if unsure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7516368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voice or keypad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7516368" y="4873752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500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uncertainty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7516368" y="5148072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500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DTMF + IVR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 flipH="1">
            <a:off x="7040880" y="4590288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120640" y="370332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230368" y="3813048"/>
            <a:ext cx="365760" cy="36576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23036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5230368" y="42336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5230368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Dodo / company API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 flipH="1">
            <a:off x="4754880" y="4590288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834640" y="370332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E1F3EC"/>
          </a:solidFill>
          <a:ln w="12700">
            <a:solidFill>
              <a:srgbClr val="E1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2944368" y="3813048"/>
            <a:ext cx="365760" cy="365760"/>
          </a:xfrm>
          <a:prstGeom prst="ellipse">
            <a:avLst/>
          </a:prstGeom>
          <a:solidFill>
            <a:srgbClr val="1F8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94436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2944368" y="42336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audit</a:t>
            </a:r>
            <a:endParaRPr lang="en-US" sz="1250" dirty="0"/>
          </a:p>
        </p:txBody>
      </p:sp>
      <p:sp>
        <p:nvSpPr>
          <p:cNvPr id="68" name="Text 66"/>
          <p:cNvSpPr txBox="1"/>
          <p:nvPr/>
        </p:nvSpPr>
        <p:spPr>
          <a:xfrm>
            <a:off x="2944368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rules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2944368" y="4873752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6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auditing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 flipH="1">
            <a:off x="2468880" y="4590288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548640" y="370332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E1F3EC"/>
          </a:solidFill>
          <a:ln w="12700">
            <a:solidFill>
              <a:srgbClr val="E1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58368" y="3813048"/>
            <a:ext cx="365760" cy="365760"/>
          </a:xfrm>
          <a:prstGeom prst="ellipse">
            <a:avLst/>
          </a:prstGeom>
          <a:solidFill>
            <a:srgbClr val="1F8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5836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658368" y="42336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50" dirty="0"/>
          </a:p>
        </p:txBody>
      </p:sp>
      <p:sp>
        <p:nvSpPr>
          <p:cNvPr id="75" name="Text 73"/>
          <p:cNvSpPr txBox="1"/>
          <p:nvPr/>
        </p:nvSpPr>
        <p:spPr>
          <a:xfrm>
            <a:off x="658368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+ decisions + API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4873752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6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548640" y="557784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</a:t>
            </a:r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scores caller sentiment every turn; two negative turns or an explicit request for a human → Freshdesk ticket.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latency: </a:t>
            </a:r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offline checks first (1.87 ms measured); Claude runs only before sensitive actions. White tags = the 11 features.</a:t>
            </a:r>
            <a:endParaRPr lang="en-US" sz="1150" dirty="0"/>
          </a:p>
        </p:txBody>
      </p:sp>
      <p:sp>
        <p:nvSpPr>
          <p:cNvPr id="78" name="Text 76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PROPOSED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Safety Decision &amp; Transparent Confirmation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silently guesses on an irreversible action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refund(order)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0" y="2125980"/>
            <a:ext cx="27432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560320" y="1508760"/>
            <a:ext cx="2103120" cy="1234440"/>
          </a:xfrm>
          <a:prstGeom prst="diamond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check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125980"/>
            <a:ext cx="27432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937760" y="1508760"/>
            <a:ext cx="2103120" cy="1234440"/>
          </a:xfrm>
          <a:prstGeom prst="diamond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2125980"/>
            <a:ext cx="27432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315200" y="1463040"/>
            <a:ext cx="4343400" cy="804672"/>
          </a:xfrm>
          <a:prstGeom prst="roundRect">
            <a:avLst>
              <a:gd name="adj" fmla="val 9091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+ safe → execute and log.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359152"/>
            <a:ext cx="4343400" cy="804672"/>
          </a:xfrm>
          <a:prstGeom prst="roundRect">
            <a:avLst>
              <a:gd name="adj" fmla="val 9091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on a risky action → say what's unsure → voice or DTMF.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3255264"/>
            <a:ext cx="4343400" cy="804672"/>
          </a:xfrm>
          <a:prstGeom prst="roundRect">
            <a:avLst>
              <a:gd name="adj" fmla="val 9091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ROUTE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conflicts with the action, or confirmation fails → stop API + Freshdesk.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6492240" cy="3108960"/>
          </a:xfrm>
          <a:prstGeom prst="roundRect">
            <a:avLst>
              <a:gd name="adj" fmla="val 2941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3154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CONFIRMATION IN PRACTICE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34564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3685032"/>
            <a:ext cx="475488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“Refund… vendam… maybe replacement.”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0965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ElevenLabs, caller's mix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325112"/>
            <a:ext cx="4754880" cy="621792"/>
          </a:xfrm>
          <a:prstGeom prst="roundRect">
            <a:avLst>
              <a:gd name="adj" fmla="val 17647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not fully sure whether you want a refund or a replacement. Press 1 for replacement, 2 for a human agent.”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057400" y="49926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· keypad via VoBiz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057400" y="5221224"/>
            <a:ext cx="4754880" cy="347472"/>
          </a:xfrm>
          <a:prstGeom prst="roundRect">
            <a:avLst>
              <a:gd name="adj" fmla="val 31579"/>
            </a:avLst>
          </a:prstGeom>
          <a:solidFill>
            <a:srgbClr val="FFF4DA"/>
          </a:solidFill>
          <a:ln w="12700">
            <a:solidFill>
              <a:srgbClr val="FFF4DA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presses 1  →  no speech-to-text ambiguity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65099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Interrupts: VoBiz voice-activity detection stops ElevenLabs playback the moment the caller speaks; the new words become the latest input.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0" y="4206240"/>
            <a:ext cx="4343400" cy="1965960"/>
          </a:xfrm>
          <a:prstGeom prst="roundRect">
            <a:avLst>
              <a:gd name="adj" fmla="val 4651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543800" y="420624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OUTCOME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“Refund vendam, replacement anuppunga.”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refund  →  confirm replacement  →  if unclear, Freshdesk ticket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FRESHWORKS INTEGRATION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Freshworks Integration — Human-in-the-Loop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takes the handoff; also works with Freshcaller as the voice channel and alongside Freddy AI Agent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2103120"/>
            <a:ext cx="274320" cy="914"/>
          </a:xfrm>
          <a:prstGeom prst="line">
            <a:avLst/>
          </a:prstGeom>
          <a:noFill/>
          <a:ln w="317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468880" y="16459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254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274320" cy="914"/>
          </a:xfrm>
          <a:prstGeom prst="line">
            <a:avLst/>
          </a:prstGeom>
          <a:noFill/>
          <a:ln w="317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572000" y="1481328"/>
            <a:ext cx="1645920" cy="1243584"/>
          </a:xfrm>
          <a:prstGeom prst="diamond">
            <a:avLst/>
          </a:prstGeom>
          <a:solidFill>
            <a:srgbClr val="F4A300"/>
          </a:solidFill>
          <a:ln>
            <a:solidFill>
              <a:srgbClr val="F4A3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V="1">
            <a:off x="6217920" y="1783080"/>
            <a:ext cx="274320" cy="91440"/>
          </a:xfrm>
          <a:prstGeom prst="line">
            <a:avLst/>
          </a:prstGeom>
          <a:noFill/>
          <a:ln w="25400">
            <a:solidFill>
              <a:srgbClr val="1F8A6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0" y="2331720"/>
            <a:ext cx="274320" cy="182880"/>
          </a:xfrm>
          <a:prstGeom prst="line">
            <a:avLst/>
          </a:prstGeom>
          <a:noFill/>
          <a:ln w="25400">
            <a:solidFill>
              <a:srgbClr val="C8283C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492240" y="1463040"/>
            <a:ext cx="5166360" cy="594360"/>
          </a:xfrm>
          <a:prstGeom prst="roundRect">
            <a:avLst>
              <a:gd name="adj" fmla="val 12308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company API executes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transcript, decision and API call are logged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240280"/>
            <a:ext cx="5166360" cy="594360"/>
          </a:xfrm>
          <a:prstGeom prst="roundRect">
            <a:avLst>
              <a:gd name="adj" fmla="val 12308"/>
            </a:avLst>
          </a:prstGeom>
          <a:solidFill>
            <a:srgbClr val="12AF97"/>
          </a:solidFill>
          <a:ln w="12700">
            <a:solidFill>
              <a:srgbClr val="12AF9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Freshdesk REST API  ·  POST /api/v2/tickets  →  human agent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46634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200400"/>
            <a:ext cx="438912" cy="438912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859" y="3305739"/>
            <a:ext cx="228234" cy="22823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280160" y="32004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ticket is created when…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7033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is unsafe or unclear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doesn't confirm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is angry / distressed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should not guess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31520" y="4846320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9" y="4951659"/>
            <a:ext cx="228234" cy="22823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80160" y="48463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add to Freshdesk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77240" y="53218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 intent validation, action gating, transparent confirmation and structured escalation, on top of ticketing, agent workspace and customer history.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440680" y="3063240"/>
            <a:ext cx="621792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440680" y="3063240"/>
            <a:ext cx="6217920" cy="411480"/>
          </a:xfrm>
          <a:prstGeom prst="roundRect">
            <a:avLst>
              <a:gd name="adj" fmla="val 22222"/>
            </a:avLst>
          </a:prstGeom>
          <a:solidFill>
            <a:srgbClr val="12AF97"/>
          </a:solidFill>
          <a:ln w="12700">
            <a:solidFill>
              <a:srgbClr val="12AF97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623560" y="30632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human agent receives in the Freshdesk ticket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5577840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5577840" y="3877056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ID + timestamp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5577840" y="4306824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code-mixed transcript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5577840" y="4736592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languages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5577840" y="5166360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summary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5577840" y="5596128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DTMF source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7589520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7589520" y="3877056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confidence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7589520" y="4306824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detected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7589520" y="4736592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verdict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7589520" y="5166360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API action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7589520" y="5596128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status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9601200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9601200" y="3877056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/ tags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9601200" y="4306824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result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9601200" y="4736592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escalation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9601200" y="5166360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API call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9601200" y="5596128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reference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AGENTIC / AI DESIGN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Design &amp; SOP Audit Trail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plug-in control point: it intercepts the proposed action before the company API is called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E4EDF6"/>
          </a:solidFill>
          <a:ln w="25400">
            <a:solidFill>
              <a:srgbClr val="E4EDF6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EXISTING AI AGENT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conversation and proposes a tool / API action.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2368296"/>
            <a:ext cx="914" cy="164592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48640" y="253288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14213D"/>
          </a:solidFill>
          <a:ln w="25400">
            <a:solidFill>
              <a:srgbClr val="F4A300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CODEMIX SKILL (plug-in)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checks intent + negation; the gate checks risk, sentiment, SOP and confidence.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3300984"/>
            <a:ext cx="914" cy="164592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48640" y="346557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FF4DA"/>
          </a:solidFill>
          <a:ln w="25400">
            <a:solidFill>
              <a:srgbClr val="FFF4DA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DECISION GATE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→ API  ·  CONFIRM → caller  ·  BLOCK → stop + Freshdesk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91840" y="4233672"/>
            <a:ext cx="914" cy="164592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" y="43982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E1F3EC"/>
          </a:solidFill>
          <a:ln w="25400">
            <a:solidFill>
              <a:srgbClr val="E1F3EC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COMPANY SYSTEMS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Dodo / company APIs run only after the gate; Freshdesk gets the handoff.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94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 via an MCP / REST adapter around the agent's tool calls, whether that is Freddy AI Agent or the company's own agent. The company keeps its existing agent and APIs.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1600200"/>
            <a:ext cx="5303520" cy="4526280"/>
          </a:xfrm>
          <a:prstGeom prst="roundRect">
            <a:avLst>
              <a:gd name="adj" fmla="val 2020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83680" y="1719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SOP-BASED AUDITING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084832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A5C8A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· intent · negation · confidence · sentiment · confirmation · API 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06840" y="2907792"/>
            <a:ext cx="914" cy="201168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583680" y="310896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4213D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SOP · action authorisation · required confirmation · escalation policy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06840" y="3931920"/>
            <a:ext cx="914" cy="201168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583680" y="4133088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F8A63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VIOLATION · audit reference · supervisor flag · Freshdesk context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5212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sensitive action can be reconstructed after the call: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486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→ intent → decision → confirmation → API call → SOP result → Freshdesk case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MVP SCOPE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Scope, What Is Built &amp; Early Proof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demonstrated today, what the MVP adds, and what we've measured so far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F8A63"/>
          </a:solidFill>
          <a:ln>
            <a:solidFill>
              <a:srgbClr val="1F8A6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16002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E1F3EC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60320" y="16916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Code-mix tagging engine + intent scoring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9339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MCP server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176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Freshdesk ticket API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4185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Negation gate v0 + benchmark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6609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demo on Vercel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1089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(3 months)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31089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E9EDF3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560320" y="32004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VoBiz + Sarvam + ElevenLabs voice path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34427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Claude safety gate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36850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Dodo action path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39273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Freshdesk escalation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41696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Hindi + Tamil + English, audit trail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61772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2A5C8A"/>
          </a:solidFill>
          <a:ln>
            <a:solidFill>
              <a:srgbClr val="2A5C8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377440" y="461772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E4EDF6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2560320" y="47091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Sentiment + interrupt tuning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49514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SOP rule editor + reports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560320" y="51937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More Indian languages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560320" y="54361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Freshworks Marketplace app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560320" y="56784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Plug-in via MCP / REST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1600200"/>
            <a:ext cx="49834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903720" y="1719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PROOF (MEASURED)</a:t>
            </a:r>
            <a:endParaRPr lang="en-US" sz="10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6812280" y="1965960"/>
          <a:ext cx="47091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Text 28"/>
          <p:cNvSpPr txBox="1"/>
          <p:nvPr/>
        </p:nvSpPr>
        <p:spPr>
          <a:xfrm>
            <a:off x="6903720" y="4617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23 → 0 of 23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actions, with 0 of 20 genuine requests wrongly blocked.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903720" y="5212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team-written sentences (Hindi, Tamil, English, Telugu, Kannada, Bengali). A small, self-authored set: the pilot measures real calls. Reproduce: node decision-policy/negation-benchmark.mjs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6 &amp; 7 OF 12  ·  TARGET CUSTOMERS  ·  VALUE PROPOSITION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6·7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Customers &amp; Value Proposition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where AI agents already have permission to take customer actions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8308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925726"/>
            <a:ext cx="309067" cy="30906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01168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D2C, e-commerce and fintech brands using Freshdesk and deploying AI voice agents for Indian customers.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69748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880360"/>
            <a:ext cx="594360" cy="594360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" y="3023006"/>
            <a:ext cx="309067" cy="30906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63040" y="2788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310896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BPOs and support outsourcers that need one safety / policy layer across many client accounts.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379476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3977640"/>
            <a:ext cx="594360" cy="594360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4120286"/>
            <a:ext cx="309067" cy="30906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63040" y="3886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 actions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463040" y="420624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• returns • replacements • cancellations • any company API exposed to the AI agent.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49377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buy: with ~26% of COD orders returning to origin, refund / return / cancel calls are a large share of support volume, and each wrong action costs real money.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943600" y="1600200"/>
            <a:ext cx="5715000" cy="960120"/>
          </a:xfrm>
          <a:prstGeom prst="roundRect">
            <a:avLst>
              <a:gd name="adj" fmla="val 9524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6172200" y="160020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it in once: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AI agent serves mixed-language callers, and nothing irreversible happens on a misheard word.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5943600" y="2743200"/>
            <a:ext cx="2807208" cy="3383280"/>
          </a:xfrm>
          <a:prstGeom prst="roundRect">
            <a:avLst>
              <a:gd name="adj" fmla="val 3257"/>
            </a:avLst>
          </a:prstGeom>
          <a:solidFill>
            <a:srgbClr val="FBE4E7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88036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537960" y="28529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172200" y="342900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its first interpretation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dropped “mat” = a wrong refund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escalation to humans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 happened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8851392" y="2743200"/>
            <a:ext cx="2807208" cy="3383280"/>
          </a:xfrm>
          <a:prstGeom prst="roundRect">
            <a:avLst>
              <a:gd name="adj" fmla="val 3257"/>
            </a:avLst>
          </a:prstGeom>
          <a:solidFill>
            <a:srgbClr val="E1F3EC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272" y="2880360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445752" y="28529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Codemix Skill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9079992" y="342900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intent + negation first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when unsure (voice / DTMF)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handoff with full context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Full, SOP-checked audit trail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8 &amp; 9 OF 12  ·  PRICING &amp; PACKAGING  ·  GO-TO-MARKET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8·9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Packaging · Go-to-Market Plan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measurable proof → Freshworks distribution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E9EDF3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60020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1691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mode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19659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risky actions, never blocks · weekly wrong-action report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679192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2679192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7706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guarded actions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04495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safety gate, DTMF confirm, Freshdesk escalation, audit trail · 30 days free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58184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E9EDF3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3758184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8496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412394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SOP rule packs · transcript retention + India data residency · SLA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FF4DA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48920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price works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sensitive actions are metered. One prevented wrong refund of ₹1,000 (~$11) pays for over 2,000 guarded actions. Proposed; validated in the pilot.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1600200"/>
            <a:ext cx="54406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46520" y="1719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47688" y="2240280"/>
            <a:ext cx="0" cy="3063240"/>
          </a:xfrm>
          <a:prstGeom prst="line">
            <a:avLst/>
          </a:prstGeom>
          <a:noFill/>
          <a:ln w="25400">
            <a:solidFill>
              <a:srgbClr val="B8C2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3952" y="2103120"/>
            <a:ext cx="347472" cy="347472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2057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Indian D2C design partners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2331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on Freshdesk with AI voice agents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73952" y="2816352"/>
            <a:ext cx="347472" cy="347472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73952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95160" y="2770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monitor-mode pilot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30449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wrong actions without blocking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73952" y="3529584"/>
            <a:ext cx="347472" cy="347472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73952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995160" y="34838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wrong-action proof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995160" y="37581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+ Hinglish / Tanglish demo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73952" y="4242816"/>
            <a:ext cx="347472" cy="347472"/>
          </a:xfrm>
          <a:prstGeom prst="ellipse">
            <a:avLst/>
          </a:prstGeom>
          <a:solidFill>
            <a:srgbClr val="12AF9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73952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995160" y="4197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 Marketplace listing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995160" y="44714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install for Freshdesk admins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73952" y="4956048"/>
            <a:ext cx="347472" cy="347472"/>
          </a:xfrm>
          <a:prstGeom prst="ellipse">
            <a:avLst/>
          </a:prstGeom>
          <a:solidFill>
            <a:srgbClr val="1421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73952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995160" y="49103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via Freshdesk + BPO partners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995160" y="51846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alongside Freshdesk deals, India / SEA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446520" y="5669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Freshworks: Freshdesk turns an unsafe AI decision into an actionable human case.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OF 12  ·  COSTS &amp; RESOURCES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&amp; Resources Needed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~$90K proposed budget for a 3-month MVP (estimates)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BREAKDOWN (ESTIMATE)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engineers × 3 months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76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path, safety gate, Freshworks app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1993392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40680" y="19933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23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 + data labelling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779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 Hindi + Tamil utterances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83280" y="2596896"/>
            <a:ext cx="335280" cy="329184"/>
          </a:xfrm>
          <a:prstGeom prst="roundRect">
            <a:avLst>
              <a:gd name="adj" fmla="val 16667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64280" y="259689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PM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383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+ pricing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0" y="3200400"/>
            <a:ext cx="268224" cy="329184"/>
          </a:xfrm>
          <a:prstGeom prst="roundRect">
            <a:avLst>
              <a:gd name="adj" fmla="val 20455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97224" y="32004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telephony usage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986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Sarvam, Claude, ElevenLabs, VoBiz, Dodo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3803904"/>
            <a:ext cx="234696" cy="329184"/>
          </a:xfrm>
          <a:prstGeom prst="roundRect">
            <a:avLst>
              <a:gd name="adj" fmla="val 23377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63696" y="38039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334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590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83280" y="4407408"/>
            <a:ext cx="167640" cy="329184"/>
          </a:xfrm>
          <a:prstGeom prst="roundRect">
            <a:avLst>
              <a:gd name="adj" fmla="val 32727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96640" y="44074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77240" y="50292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~$90K total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engineers · 1 linguist · part-time PM · 3 months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MVP TIMELINE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1920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464040" y="1920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0561320" y="1920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2212848"/>
            <a:ext cx="5486400" cy="42062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63640" y="2240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dataset + lexicon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366760" y="2295144"/>
            <a:ext cx="1316736" cy="256032"/>
          </a:xfrm>
          <a:prstGeom prst="roundRect">
            <a:avLst>
              <a:gd name="adj" fmla="val 28571"/>
            </a:avLst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2670048"/>
            <a:ext cx="5486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6364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gate + Dodo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15400" y="2752344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3127248"/>
            <a:ext cx="5486400" cy="42062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6364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+ Sarvam + ElevenLabs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464040" y="3209544"/>
            <a:ext cx="1316736" cy="256032"/>
          </a:xfrm>
          <a:prstGeom prst="roundRect">
            <a:avLst>
              <a:gd name="adj" fmla="val 28571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3584448"/>
            <a:ext cx="5486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63640" y="3611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+ audit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793224" y="3666744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12AF97"/>
          </a:solidFill>
          <a:ln w="12700">
            <a:solidFill>
              <a:srgbClr val="12AF9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200" y="4041648"/>
            <a:ext cx="5486400" cy="42062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63640" y="4069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Design-partner pilot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561320" y="4123944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72200" y="46634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6400800" y="46634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revenue estimate (assumption-based)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customers × 20,000 guarded actions / month × $5 per 1,000 ≈ </a:t>
            </a:r>
            <a:pPr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 ARR in Year 1</a:t>
            </a:r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input is tested in the pilot.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OF 12  ·  BENEFITS &amp; SUCCESS METRICS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 &amp; Success Metrics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where we have one; everything else is a pilot target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600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600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TARGET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actions on negated requests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48%*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0.5%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450592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450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latency (language + intent)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24505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1.87 ms†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4505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8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980944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29809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reply time (sensitive path)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29809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9809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900 ms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511296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5112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rate (friction budget)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749040" y="35112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35112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5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15%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4041648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0416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749040" y="4041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4041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8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4572000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/ cancel reversal tickets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749040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303520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8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5102352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5102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(eligible customers, 2 quarters)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749040" y="51023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303520" y="51023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6692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Round-1 engine without the gate, 23-sentence negation test set.   † Average over the repo benchmark (npm test), 0.12 ms median.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78040" y="1600200"/>
            <a:ext cx="4480560" cy="4526280"/>
          </a:xfrm>
          <a:prstGeom prst="roundRect">
            <a:avLst>
              <a:gd name="adj" fmla="val 2041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7406640" y="17190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LOW LATENCY IS KEPT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406640" y="219456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549640" y="2560320"/>
            <a:ext cx="18288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8732520" y="1965960"/>
            <a:ext cx="1691640" cy="1188720"/>
          </a:xfrm>
          <a:prstGeom prst="diamond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action?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578340" y="3154680"/>
            <a:ext cx="914" cy="27432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9646920" y="31272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424160" y="2560320"/>
            <a:ext cx="137160" cy="914"/>
          </a:xfrm>
          <a:prstGeom prst="line">
            <a:avLst/>
          </a:prstGeom>
          <a:noFill/>
          <a:ln w="25400">
            <a:solidFill>
              <a:srgbClr val="1F8A63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10241280" y="2212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0561320" y="21031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7406640" y="342900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depth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intent + negation + confirmation only for sensitive / irreversible actions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7406640" y="4617720"/>
            <a:ext cx="4069080" cy="1280160"/>
          </a:xfrm>
          <a:prstGeom prst="roundRect">
            <a:avLst>
              <a:gd name="adj" fmla="val 5714"/>
            </a:avLst>
          </a:prstGeom>
          <a:solidFill>
            <a:srgbClr val="DDF5F1"/>
          </a:solidFill>
          <a:ln w="12700">
            <a:solidFill>
              <a:srgbClr val="12AF9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DTMF for confirmation · Freshdesk for human handling · transcript retained for audit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OF 12  ·  RISKS &amp; ASSUMPTIONS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Assumptions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wrong, how we reduce it, and what we're assuming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 →  MITIGATION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3017520" cy="512064"/>
          </a:xfrm>
          <a:prstGeom prst="roundRect">
            <a:avLst>
              <a:gd name="adj" fmla="val 14286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drops the negation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176272"/>
            <a:ext cx="36576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931920" y="1920240"/>
            <a:ext cx="3063240" cy="512064"/>
          </a:xfrm>
          <a:prstGeom prst="roundRect">
            <a:avLst>
              <a:gd name="adj" fmla="val 14286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every risky action (voice or DTMF)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42032"/>
            <a:ext cx="3017520" cy="512064"/>
          </a:xfrm>
          <a:prstGeom prst="roundRect">
            <a:avLst>
              <a:gd name="adj" fmla="val 14286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 adds latency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2798064"/>
            <a:ext cx="36576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931920" y="2542032"/>
            <a:ext cx="3063240" cy="512064"/>
          </a:xfrm>
          <a:prstGeom prst="roundRect">
            <a:avLst>
              <a:gd name="adj" fmla="val 14286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checks only for sensitive actions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163824"/>
            <a:ext cx="3017520" cy="512064"/>
          </a:xfrm>
          <a:prstGeom prst="roundRect">
            <a:avLst>
              <a:gd name="adj" fmla="val 14286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 / spelling variation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3419856"/>
            <a:ext cx="36576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931920" y="3163824"/>
            <a:ext cx="3063240" cy="512064"/>
          </a:xfrm>
          <a:prstGeom prst="roundRect">
            <a:avLst>
              <a:gd name="adj" fmla="val 14286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+ model fallback, learn from human overrides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85616"/>
            <a:ext cx="3017520" cy="512064"/>
          </a:xfrm>
          <a:prstGeom prst="roundRect">
            <a:avLst>
              <a:gd name="adj" fmla="val 14286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Read-back feels like friction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4041648"/>
            <a:ext cx="36576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931920" y="3785616"/>
            <a:ext cx="3063240" cy="512064"/>
          </a:xfrm>
          <a:prstGeom prst="roundRect">
            <a:avLst>
              <a:gd name="adj" fmla="val 14286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15% confirmation budget, tuned in pilot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46320"/>
            <a:ext cx="6446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brands expose refund / return APIs to their AI agent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accept a short confirmation on risky actions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accuracy on phone audio is good enough with the confirmation fallback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69480" y="1600200"/>
            <a:ext cx="4389120" cy="2926080"/>
          </a:xfrm>
          <a:prstGeom prst="roundRect">
            <a:avLst>
              <a:gd name="adj" fmla="val 3125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5438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20574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Freshdesk sandbox + Marketplace listing path for a 3-brand pilot.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310896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pilot to measure wrong-action reduction, confirmation rate, latency and adoption.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269480" y="4754880"/>
            <a:ext cx="4389120" cy="1371600"/>
          </a:xfrm>
          <a:prstGeom prst="roundRect">
            <a:avLst>
              <a:gd name="adj" fmla="val 6667"/>
            </a:avLst>
          </a:prstGeom>
          <a:solidFill>
            <a:srgbClr val="FFF4DA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498080" y="475488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principle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silently guess on a sensitive action; expose uncertainty, confirm or route to a human.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Pitch — Why This Is a Freshworks Extension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closing story for the judges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F3057"/>
          </a:solidFill>
          <a:ln w="12700">
            <a:solidFill>
              <a:srgbClr val="1F30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228600" cy="228600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 voice + negation can cause an AI agent to misunderstand an action.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F3057"/>
          </a:solidFill>
          <a:ln w="12700">
            <a:solidFill>
              <a:srgbClr val="1F30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828800"/>
            <a:ext cx="228600" cy="22860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intent-validation safety gate between what the voice agent hears and what it is allowed to do: Understand → Decide → Act → Audit.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F3057"/>
          </a:solidFill>
          <a:ln w="12700">
            <a:solidFill>
              <a:srgbClr val="1F30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828800"/>
            <a:ext cx="228600" cy="228600"/>
          </a:xfrm>
          <a:prstGeom prst="ellipse">
            <a:avLst/>
          </a:prstGeom>
          <a:solidFill>
            <a:srgbClr val="12AF97"/>
          </a:solidFill>
          <a:ln w="12700">
            <a:solidFill>
              <a:srgbClr val="12AF9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2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FRESHWORKS VALUE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AI should not act, Freshdesk turns uncertainty into a structured human workflow with transcript + decision context.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77640"/>
            <a:ext cx="1681190" cy="685800"/>
          </a:xfrm>
          <a:prstGeom prst="homePlate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120102" y="3977640"/>
            <a:ext cx="1681190" cy="68580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691563" y="3977640"/>
            <a:ext cx="1681190" cy="68580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263025" y="3977640"/>
            <a:ext cx="1681190" cy="685800"/>
          </a:xfrm>
          <a:prstGeom prst="chevron">
            <a:avLst/>
          </a:prstGeom>
          <a:solidFill>
            <a:srgbClr val="F4A300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decision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34487" y="3977640"/>
            <a:ext cx="1681190" cy="68580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Dodo action OR Freshdesk ticket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405949" y="3977640"/>
            <a:ext cx="1681190" cy="68580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977410" y="3977640"/>
            <a:ext cx="1681190" cy="685800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983480"/>
            <a:ext cx="11109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“Don't cancel” should mean don't cancel</a:t>
            </a:r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and Freshworks should know exactly what happened when the AI chooses not to act.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Understand → Decide → Act → Audit  •  Thank you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Codemix Skill — Judge-Ready Business Case</dc:title>
  <dc:subject>PptxGenJS Presentation</dc:subject>
  <dc:creator>Team Ramanathan &amp; Sadhana</dc:creator>
  <cp:lastModifiedBy>Team Ramanathan &amp; Sadhana</cp:lastModifiedBy>
  <cp:revision>1</cp:revision>
  <dcterms:created xsi:type="dcterms:W3CDTF">2026-09-26T02:40:13Z</dcterms:created>
  <dcterms:modified xsi:type="dcterms:W3CDTF">2026-09-26T02:40:13Z</dcterms:modified>
</cp:coreProperties>
</file>