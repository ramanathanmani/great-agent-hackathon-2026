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213D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4213D"/>
                </a:solidFill>
                <a:latin typeface="Arial"/>
              </a:rPr>
              <a:t>Wrong refund / cancel on negated requests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Round-1 engine alone</c:v>
                </c:pt>
              </c:strCache>
            </c:strRef>
          </c:tx>
          <c:spPr>
            <a:solidFill>
              <a:srgbClr val="C8283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negation gate v0</c:v>
                </c:pt>
              </c:strCache>
            </c:strRef>
          </c:tx>
          <c:spPr>
            <a:solidFill>
              <a:srgbClr val="1F8A6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48% is reproducible: node decision-policy/negation-benchmark.mjs. It is a small team-written set, so present it as evidence the problem is real, not as a production accuracy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run shows the Round-1 keyword engine recognised only 7 of 20 genuine refund/cancel requests, which is why the MVP uses Claude for intent detection.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GREAT AGENT HACKATHON 2026  ·  ROUND 2 BUSINESS CASE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+ decision layer between AI agents and their actions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546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2200" b="1" i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60520"/>
            <a:ext cx="2002536" cy="685800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624328" y="4160520"/>
            <a:ext cx="2002536" cy="68580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17136" y="4160520"/>
            <a:ext cx="2002536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9944" y="4160520"/>
            <a:ext cx="2002536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0749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an intent-validation safety gate between what the voice agent hears and what the agent is allowed to do.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Ramanathan &amp; Sadhana  •  Track 1: Customer &amp; Employee Experience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12  ·  INITIATIVE OVERVIEW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Initiative Overview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Initiative: Codemix Skill  ·  Owner: Team Ramanathan &amp; Sadhana  ·  a plug-in that makes tool-using AI agents safe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83080"/>
            <a:ext cx="256032" cy="256032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172821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130552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agents can understand a request and immediately call a refund, cancellation or replacement API. A small missed negation can turn the right conversation into the wrong transaction.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72968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355848"/>
            <a:ext cx="256032" cy="25603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3009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product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70332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sits between the AI agent and its API/tool calls. It validates intent, negation, confidence, sentiment and SOP rules before execution.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745736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928616"/>
            <a:ext cx="256032" cy="256032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extension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276088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Unsafe, uncertain or emotionally escalated calls become Freshdesk tickets with transcript, decision context and action details for a human agent.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1600200"/>
            <a:ext cx="5257800" cy="4562856"/>
          </a:xfrm>
          <a:prstGeom prst="roundRect">
            <a:avLst>
              <a:gd name="adj" fmla="val 2004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62940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2286000"/>
            <a:ext cx="1417320" cy="1097280"/>
          </a:xfrm>
          <a:prstGeom prst="roundRect">
            <a:avLst>
              <a:gd name="adj" fmla="val 6667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AI Agent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agent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103120"/>
            <a:ext cx="1600200" cy="14630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• Decide • Audit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0" y="228600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E1F3EC"/>
          </a:solidFill>
          <a:ln w="12700">
            <a:solidFill>
              <a:srgbClr val="E1F3E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APIs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actions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283464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012680" y="2834640"/>
            <a:ext cx="320040" cy="914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212580" y="3566160"/>
            <a:ext cx="914" cy="777240"/>
          </a:xfrm>
          <a:prstGeom prst="line">
            <a:avLst/>
          </a:prstGeom>
          <a:noFill/>
          <a:ln w="25400">
            <a:solidFill>
              <a:srgbClr val="12AF97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8229600" y="434340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handoff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281160" y="3840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/ unsure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248716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675120" y="54864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an action. Codemix Skill decides whether it runs, needs confirmation, or goes to a human.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12  ·  PROBLEM STATEMENT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code-mixed voice, one short word can reverse the meaning of an API action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EXAMPLE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cancel → update address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9224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EXAMPLE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“Refund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vendam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replacement anuppunga.”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refund → send replacement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546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BREAKS TODAY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says “don't cancel”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63240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364992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drops “mat”, or the intent model ignores 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9592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181344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cancel_order()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95944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8997696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cancelled: money, reshipping, trust lost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35204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6451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1755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negated requests would still trigger a refund / cancel in our own Round-1 engine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11 of 23 team-written test sentences (Hindi, Tamil, English, Telugu, Kannada, Bengali)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297680" y="4572000"/>
            <a:ext cx="35204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4526280" y="46451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27–70%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526280" y="51755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error rate on Hinglish across speech-to-text models, on identical audio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Deepgram, “Hinglish Voice AI: Why ASR Fails”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046720" y="4572000"/>
            <a:ext cx="35204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8275320" y="46451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28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1755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cash-on-delivery orders in India return to origin, so refund / cancel / return calls are high-volume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Shipway ShipNotes report, FY25 (Jul 2025)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12  ·  WHY NOW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have write access, so misunderstanding is no longer just a bad answer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828800"/>
            <a:ext cx="777240" cy="7772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015338"/>
            <a:ext cx="404165" cy="40416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can act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004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and MCP let agents trigger refunds, cancellations, returns and other business actions directly.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97680" y="16002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0" y="1828800"/>
            <a:ext cx="777240" cy="7772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538" y="2015338"/>
            <a:ext cx="404165" cy="40416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Code-mixing is normal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2004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callers switch between languages inside a sentence. The risk is concentrated around small intent-flipping words.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46720" y="160020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21040" y="1828800"/>
            <a:ext cx="777240" cy="7772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578" y="2015338"/>
            <a:ext cx="404165" cy="40416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2104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stack is ready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32004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provides phone access + DTMF, Sarvam handles Indian speech-to-text, Claude validates intent, and ElevenLabs returns the response.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548640" y="498348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7724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timing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layer is not another voice bot. It is a safety and decision layer that controls when an existing AI agent is allowed to call an API.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12  ·  COMPETITIVE LANDSCAPE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 Landscape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focus specifically on the gap between language understanding and action execution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nothing</a:t>
            </a:r>
            <a:endParaRPr lang="en-US" sz="16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42316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15568" y="237744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integration effort.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461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200400"/>
            <a:ext cx="1883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actions can execute on the agent's first interpretation.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364992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3566160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Confirm-everything IVR</a:t>
            </a:r>
            <a:endParaRPr lang="en-US" sz="16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4231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31920" y="237744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confirmation.</a:t>
            </a:r>
            <a:endParaRPr lang="en-US" sz="12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2461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931920" y="3200400"/>
            <a:ext cx="1883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friction to every action, even low-risk requests.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6181344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6382512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LLM guardrails</a:t>
            </a:r>
            <a:endParaRPr lang="en-US" sz="16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242316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748272" y="237744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policy, toxicity and PII.</a:t>
            </a:r>
            <a:endParaRPr lang="en-US" sz="12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3246120"/>
            <a:ext cx="274320" cy="2743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748272" y="3200400"/>
            <a:ext cx="1883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designed as an action gate for code-mixed negation + speech confidence.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8997696" y="1600200"/>
            <a:ext cx="2651760" cy="3246120"/>
          </a:xfrm>
          <a:prstGeom prst="roundRect">
            <a:avLst>
              <a:gd name="adj" fmla="val 3448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18"/>
          <p:cNvSpPr txBox="1"/>
          <p:nvPr/>
        </p:nvSpPr>
        <p:spPr>
          <a:xfrm>
            <a:off x="9198864" y="17373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1600" dirty="0"/>
          </a:p>
        </p:txBody>
      </p:sp>
      <p:sp>
        <p:nvSpPr>
          <p:cNvPr id="27" name="Text 19"/>
          <p:cNvSpPr txBox="1"/>
          <p:nvPr/>
        </p:nvSpPr>
        <p:spPr>
          <a:xfrm>
            <a:off x="9198864" y="2377440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code-mixed intent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10323576" y="2816352"/>
            <a:ext cx="914" cy="164592"/>
          </a:xfrm>
          <a:prstGeom prst="line">
            <a:avLst/>
          </a:prstGeom>
          <a:noFill/>
          <a:ln w="190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9" name="Text 21"/>
          <p:cNvSpPr txBox="1"/>
          <p:nvPr/>
        </p:nvSpPr>
        <p:spPr>
          <a:xfrm>
            <a:off x="9198864" y="2980944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action risk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10323576" y="3419856"/>
            <a:ext cx="914" cy="164592"/>
          </a:xfrm>
          <a:prstGeom prst="line">
            <a:avLst/>
          </a:prstGeom>
          <a:noFill/>
          <a:ln w="190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1" name="Text 23"/>
          <p:cNvSpPr txBox="1"/>
          <p:nvPr/>
        </p:nvSpPr>
        <p:spPr>
          <a:xfrm>
            <a:off x="9198864" y="3584448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F3057"/>
          </a:solidFill>
          <a:ln w="12700">
            <a:solidFill>
              <a:srgbClr val="1F30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10323576" y="4023360"/>
            <a:ext cx="914" cy="164592"/>
          </a:xfrm>
          <a:prstGeom prst="line">
            <a:avLst/>
          </a:prstGeom>
          <a:noFill/>
          <a:ln w="190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3" name="Text 25"/>
          <p:cNvSpPr txBox="1"/>
          <p:nvPr/>
        </p:nvSpPr>
        <p:spPr>
          <a:xfrm>
            <a:off x="9198864" y="4187952"/>
            <a:ext cx="2249424" cy="438912"/>
          </a:xfrm>
          <a:prstGeom prst="roundRect">
            <a:avLst>
              <a:gd name="adj" fmla="val 16667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unsafe cases to Freshworks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on every action</a:t>
            </a:r>
            <a:endParaRPr lang="en-US" sz="1050" dirty="0"/>
          </a:p>
        </p:txBody>
      </p:sp>
      <p:sp>
        <p:nvSpPr>
          <p:cNvPr id="35" name="Text 27"/>
          <p:cNvSpPr txBox="1"/>
          <p:nvPr/>
        </p:nvSpPr>
        <p:spPr>
          <a:xfrm>
            <a:off x="795528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Risk-based: only risky actions get a check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29"/>
          <p:cNvSpPr txBox="1"/>
          <p:nvPr/>
        </p:nvSpPr>
        <p:spPr>
          <a:xfrm>
            <a:off x="77724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policy-aware action gate with human escalation and an auditable record of what the caller said, what the agent decided, and what API was called.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Architecture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is the control point between an existing AI agent and its tools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331720" y="212598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651760" y="164592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 call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212598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754880" y="164592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37960" y="212598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858000" y="164592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negation check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41080" y="212598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8961120" y="1417320"/>
            <a:ext cx="2697480" cy="141732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act?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flipH="1">
            <a:off x="9738360" y="2834640"/>
            <a:ext cx="571500" cy="59436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8275320" y="34290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return / replacement runs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921240" y="31089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738360" y="4343400"/>
            <a:ext cx="914" cy="32004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6537960" y="2834640"/>
            <a:ext cx="3771900" cy="594360"/>
          </a:xfrm>
          <a:prstGeom prst="line">
            <a:avLst/>
          </a:prstGeom>
          <a:noFill/>
          <a:ln w="254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074920" y="34290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caller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read-back, voice or DTMF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31089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37960" y="4343400"/>
            <a:ext cx="914" cy="32004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337560" y="2834640"/>
            <a:ext cx="6972300" cy="59436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1874520" y="34290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ticket</a:t>
            </a:r>
            <a:endParaRPr lang="en-US" sz="14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case for a human agent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337560" y="31089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/ angry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337560" y="4343400"/>
            <a:ext cx="914" cy="32004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1874520" y="4663440"/>
            <a:ext cx="9326880" cy="548640"/>
          </a:xfrm>
          <a:prstGeom prst="roundRect">
            <a:avLst>
              <a:gd name="adj" fmla="val 13333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speaks the reply in the caller's own language mix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109960" cy="731520"/>
          </a:xfrm>
          <a:prstGeom prst="roundRect">
            <a:avLst>
              <a:gd name="adj" fmla="val 125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544068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innovation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an intent-validation safety gate between what the voice agent hears and what the agent is allowed to do.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Sponsor &amp; Integration Stack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sponsor/API has one clear job; Codemix Skill coordinates the handoff and controls action execution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682496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2A5C8A"/>
          </a:solidFill>
          <a:ln w="12700">
            <a:solidFill>
              <a:srgbClr val="2A5C8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157276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VoBiz AI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57276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DTMF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57276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customers call. Keypad (DTMF) gives a confirmation that needs no speech recognition.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231136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2A5C8A"/>
          </a:solidFill>
          <a:ln w="12700">
            <a:solidFill>
              <a:srgbClr val="2A5C8A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22311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Sarvam AI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223113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23113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Transcribes code-mixed Hindi + English and Tamil + English, so the negation reaches the intent check.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2889504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999232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288950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API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434840" y="28895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SAFETY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8895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sensitive action: finds the real intent. “Refund vendam” = NO refund, YES replacement.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14213D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657600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057400" y="354787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434840" y="354787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+ SAFETY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5478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gate between what the voice agent hears and what it is allowed to do.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4206240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315968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1F8A63"/>
          </a:solidFill>
          <a:ln w="12700">
            <a:solidFill>
              <a:srgbClr val="1F8A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057400" y="42062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Dodo Payments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34840" y="42062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API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42062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refunds, returns and replacements, but only after the safety gate says YES.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4864608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DDF5F1"/>
          </a:solidFill>
          <a:ln w="12700">
            <a:solidFill>
              <a:srgbClr val="DDF5F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4974336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2057400" y="486460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/ Freshdesk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4434840" y="486460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WORKFLOW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can't be resolved safely, a Freshdesk ticket hands the case to a human agent.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5522976"/>
            <a:ext cx="11109960" cy="566928"/>
          </a:xfrm>
          <a:prstGeom prst="roundRect">
            <a:avLst>
              <a:gd name="adj" fmla="val 12903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39474"/>
            </a:avLst>
          </a:prstGeom>
          <a:solidFill>
            <a:srgbClr val="7A5000"/>
          </a:solidFill>
          <a:ln w="12700">
            <a:solidFill>
              <a:srgbClr val="7A50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2057400" y="552297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ElevenLabs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4434840" y="552297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OUTPUT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583680" y="55229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the reply in the caller's own language mix and reads back what it understood.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End to End — All 11 Features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appears only where it adds value; routine calls take the fast path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920240" cy="1783080"/>
          </a:xfrm>
          <a:prstGeom prst="roundRect">
            <a:avLst>
              <a:gd name="adj" fmla="val 4103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1709928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30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speaks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423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phone line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77063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68880" y="248716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34640" y="1600200"/>
            <a:ext cx="1920240" cy="1783080"/>
          </a:xfrm>
          <a:prstGeom prst="roundRect">
            <a:avLst>
              <a:gd name="adj" fmla="val 4103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944368" y="1709928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44368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944368" y="2130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2423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944368" y="277063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248716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20640" y="1600200"/>
            <a:ext cx="1920240" cy="1783080"/>
          </a:xfrm>
          <a:prstGeom prst="roundRect">
            <a:avLst>
              <a:gd name="adj" fmla="val 4103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30368" y="1709928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30368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230368" y="2130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intent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423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engine + Claude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230368" y="277063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Mixed-language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230368" y="304495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40880" y="248716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06640" y="1600200"/>
            <a:ext cx="1920240" cy="1783080"/>
          </a:xfrm>
          <a:prstGeom prst="roundRect">
            <a:avLst>
              <a:gd name="adj" fmla="val 4103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516368" y="1709928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16368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2130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check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2423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 / vendam / nahi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516368" y="277063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26880" y="248716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692640" y="1600200"/>
            <a:ext cx="1920240" cy="1783080"/>
          </a:xfrm>
          <a:prstGeom prst="roundRect">
            <a:avLst>
              <a:gd name="adj" fmla="val 4103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802368" y="170992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02368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9802368" y="2130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check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9802368" y="2423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→ human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9802368" y="277063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human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0652760" y="3383280"/>
            <a:ext cx="914" cy="320040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692640" y="3703320"/>
            <a:ext cx="1920240" cy="1783080"/>
          </a:xfrm>
          <a:prstGeom prst="roundRect">
            <a:avLst>
              <a:gd name="adj" fmla="val 4103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802368" y="38130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802368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2336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802368" y="4526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802368" y="487375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 flipH="1">
            <a:off x="9326880" y="45902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7406640" y="3703320"/>
            <a:ext cx="1920240" cy="1783080"/>
          </a:xfrm>
          <a:prstGeom prst="roundRect">
            <a:avLst>
              <a:gd name="adj" fmla="val 4103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516368" y="38130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516368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7516368" y="42336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if unsure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7516368" y="4526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voice or keypad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7516368" y="487375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uncertainty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7516368" y="514807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+ IVR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 flipH="1">
            <a:off x="7040880" y="45902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120640" y="3703320"/>
            <a:ext cx="1920240" cy="1783080"/>
          </a:xfrm>
          <a:prstGeom prst="roundRect">
            <a:avLst>
              <a:gd name="adj" fmla="val 410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5230368" y="3813048"/>
            <a:ext cx="365760" cy="36576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230368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5230368" y="42336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62" name="Text 60"/>
          <p:cNvSpPr txBox="1"/>
          <p:nvPr/>
        </p:nvSpPr>
        <p:spPr>
          <a:xfrm>
            <a:off x="5230368" y="4526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/ company API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 flipH="1">
            <a:off x="4754880" y="45902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2834640" y="3703320"/>
            <a:ext cx="1920240" cy="1783080"/>
          </a:xfrm>
          <a:prstGeom prst="roundRect">
            <a:avLst>
              <a:gd name="adj" fmla="val 4103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2944368" y="38130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944368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2944368" y="42336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</a:t>
            </a:r>
            <a:endParaRPr lang="en-US" sz="1250" dirty="0"/>
          </a:p>
        </p:txBody>
      </p:sp>
      <p:sp>
        <p:nvSpPr>
          <p:cNvPr id="68" name="Text 66"/>
          <p:cNvSpPr txBox="1"/>
          <p:nvPr/>
        </p:nvSpPr>
        <p:spPr>
          <a:xfrm>
            <a:off x="2944368" y="4526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rules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2944368" y="487375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auditing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 flipH="1">
            <a:off x="2468880" y="45902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48640" y="3703320"/>
            <a:ext cx="1920240" cy="1783080"/>
          </a:xfrm>
          <a:prstGeom prst="roundRect">
            <a:avLst>
              <a:gd name="adj" fmla="val 4103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658368" y="38130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8368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42336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5262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decisions + API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87375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tags = the 11 product features. Low latency: fast offline checks first; Claude runs only before sensitive actions.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Safety Decision &amp; Transparent Confirmation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silently guesses on an irreversible action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refund(order)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56032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93776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315200" y="1463040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 + safe → execute and log.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359152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on a risky action → say what's unsure → voice or DTMF.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3255264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ROUTE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conflicts with the action, or confirmation fails → stop API + Freshdesk.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6492240" cy="3108960"/>
          </a:xfrm>
          <a:prstGeom prst="roundRect">
            <a:avLst>
              <a:gd name="adj" fmla="val 2941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CONFIRMATION IN PRACTICE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34564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3685032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“Refund… vendam… maybe replacement.”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9651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ElevenLabs, caller's mix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325112"/>
            <a:ext cx="4754880" cy="621792"/>
          </a:xfrm>
          <a:prstGeom prst="roundRect">
            <a:avLst>
              <a:gd name="adj" fmla="val 17647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not fully sure whether you want a refund or a replacement. Press 1 for replacement, 2 for a human agent.”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499262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· keypad via VoBiz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2057400" y="5221224"/>
            <a:ext cx="4754880" cy="347472"/>
          </a:xfrm>
          <a:prstGeom prst="roundRect">
            <a:avLst>
              <a:gd name="adj" fmla="val 31579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1  →  no speech-to-text ambiguity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5099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Interrupts: the caller can cut in at any time; the agent stops and treats it as the latest input.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4206240"/>
            <a:ext cx="4343400" cy="1965960"/>
          </a:xfrm>
          <a:prstGeom prst="roundRect">
            <a:avLst>
              <a:gd name="adj" fmla="val 465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43800" y="420624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OUTCOME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refund  →  confirm replacement  →  if unclear, Freshdesk ticket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FRESHWORKS INTEGRATION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Integration — Human-in-the-Loop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is where the AI hands over when it should not act alone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action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468880" y="16459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572000" y="1481328"/>
            <a:ext cx="1645920" cy="1243584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flipV="1">
            <a:off x="6217920" y="1783080"/>
            <a:ext cx="274320" cy="9144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2331720"/>
            <a:ext cx="274320" cy="18288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6492240" y="146304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→ company API executes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decision and API call are logged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24028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 Freshdesk REST API  ·  POST /api/v2/tickets  →  human agent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46634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200400"/>
            <a:ext cx="438912" cy="438912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3305739"/>
            <a:ext cx="228234" cy="22823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80160" y="3200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ticket is created when…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7033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is unsafe or unclear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doesn't confirm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is angry / distressed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should not guess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31520" y="4846320"/>
            <a:ext cx="438912" cy="43891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9" y="4951659"/>
            <a:ext cx="228234" cy="22823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280160" y="48463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add to Freshdesk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777240" y="532180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validation, action gating, transparent confirmation and structured escalation, on top of ticketing, agent workspace and customer history.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440680" y="3063240"/>
            <a:ext cx="621792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5440680" y="3063240"/>
            <a:ext cx="6217920" cy="411480"/>
          </a:xfrm>
          <a:prstGeom prst="roundRect">
            <a:avLst>
              <a:gd name="adj" fmla="val 22222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30632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agent receives in the Freshdesk ticket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557784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ID + timestamp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557784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code-mixed transcript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57784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languages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57784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summary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557784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DTMF source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58952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confidence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58952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detected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58952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758952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API action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758952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status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960120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960120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/ tags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960120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960120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for escalation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960120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API call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960120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reference</a:t>
            </a:r>
            <a:endParaRPr lang="en-US" sz="1000" dirty="0"/>
          </a:p>
        </p:txBody>
      </p:sp>
      <p:sp>
        <p:nvSpPr>
          <p:cNvPr id="46" name="Text 4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AGENTIC / AI DESIGN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Design &amp; SOP Audit Trail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control point: it intercepts the proposed action before the company API is called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00200"/>
            <a:ext cx="5486400" cy="768096"/>
          </a:xfrm>
          <a:prstGeom prst="roundRect">
            <a:avLst>
              <a:gd name="adj" fmla="val 9524"/>
            </a:avLst>
          </a:prstGeom>
          <a:solidFill>
            <a:srgbClr val="E4EDF6"/>
          </a:solidFill>
          <a:ln w="25400">
            <a:solidFill>
              <a:srgbClr val="E4EDF6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EXISTING AI AGENT</a:t>
            </a:r>
            <a:endParaRPr lang="en-US" sz="125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the conversation and proposes a tool / API action.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2368296"/>
            <a:ext cx="914" cy="164592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48640" y="2532888"/>
            <a:ext cx="5486400" cy="768096"/>
          </a:xfrm>
          <a:prstGeom prst="roundRect">
            <a:avLst>
              <a:gd name="adj" fmla="val 9524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CODEMIX SKILL (plug-in)</a:t>
            </a:r>
            <a:endParaRPr lang="en-US" sz="125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checks intent + negation; the gate checks risk, sentiment, SOP and confidence.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91840" y="3300984"/>
            <a:ext cx="914" cy="164592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548640" y="3465576"/>
            <a:ext cx="5486400" cy="768096"/>
          </a:xfrm>
          <a:prstGeom prst="roundRect">
            <a:avLst>
              <a:gd name="adj" fmla="val 9524"/>
            </a:avLst>
          </a:prstGeom>
          <a:solidFill>
            <a:srgbClr val="FFF4DA"/>
          </a:solidFill>
          <a:ln w="25400">
            <a:solidFill>
              <a:srgbClr val="FFF4DA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DECISION GATE</a:t>
            </a:r>
            <a:endParaRPr lang="en-US" sz="125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→ API  ·  CONFIRM → caller  ·  BLOCK → stop + Freshdesk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91840" y="4233672"/>
            <a:ext cx="914" cy="164592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48640" y="4398264"/>
            <a:ext cx="5486400" cy="768096"/>
          </a:xfrm>
          <a:prstGeom prst="roundRect">
            <a:avLst>
              <a:gd name="adj" fmla="val 9524"/>
            </a:avLst>
          </a:prstGeom>
          <a:solidFill>
            <a:srgbClr val="E1F3EC"/>
          </a:solidFill>
          <a:ln w="25400">
            <a:solidFill>
              <a:srgbClr val="E1F3EC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COMPANY SYSTEMS</a:t>
            </a:r>
            <a:endParaRPr lang="en-US" sz="125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/ company APIs run only after the gate; Freshdesk gets the handoff.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3949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 via an MCP / REST adapter around the agent's tool calls. The company keeps its existing agent and APIs.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55080" y="1600200"/>
            <a:ext cx="5303520" cy="4526280"/>
          </a:xfrm>
          <a:prstGeom prst="roundRect">
            <a:avLst>
              <a:gd name="adj" fmla="val 2020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83680" y="17190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SOP-BASED AUDITING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2084832"/>
            <a:ext cx="48463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· intent · negation · confidence · sentiment · confirmation · API action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06840" y="2907792"/>
            <a:ext cx="914" cy="201168"/>
          </a:xfrm>
          <a:prstGeom prst="line">
            <a:avLst/>
          </a:prstGeom>
          <a:noFill/>
          <a:ln w="254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583680" y="3108960"/>
            <a:ext cx="48463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SOP · action authorisation · required confirmation · escalation policy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06840" y="3931920"/>
            <a:ext cx="914" cy="201168"/>
          </a:xfrm>
          <a:prstGeom prst="line">
            <a:avLst/>
          </a:prstGeom>
          <a:noFill/>
          <a:ln w="254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583680" y="4133088"/>
            <a:ext cx="48463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VIOLATION · audit reference · supervisor flag · Freshdesk context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212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sensitive action can be reconstructed after the call: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54864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→ intent → decision → confirmation → API call → SOP result → Freshdesk case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MVP SCOPE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Scope, What Is Built &amp; Early Proof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demonstrated today, what the MVP adds, and what we've measured so far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0020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1F8A63"/>
          </a:solidFill>
          <a:ln>
            <a:solidFill>
              <a:srgbClr val="1F8A6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TODAY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77440" y="160020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60320" y="169164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Code-mix tagging engine + intent scoring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3395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MCP server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1762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Live Freshdesk ticket API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41858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Negation gate v0 + benchmark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66090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Live demo on Vercel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10896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(3 months)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377440" y="310896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2560320" y="320040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VoBiz + Sarvam + ElevenLabs voice path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344271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Claude safety gate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368503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Dodo action path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392734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Freshdesk escalation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416966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Hindi + Tamil + English, audit trail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61772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2A5C8A"/>
          </a:solidFill>
          <a:ln>
            <a:solidFill>
              <a:srgbClr val="2A5C8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377440" y="461772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2560320" y="470916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Sentiment + interrupt tuning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495147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SOP rule editor + reports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560320" y="519379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More Indian languages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543610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Freshworks Marketplace app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560320" y="56784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Plug-in via MCP / REST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1600200"/>
            <a:ext cx="49834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903720" y="17190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PROOF (MEASURED)</a:t>
            </a:r>
            <a:endParaRPr lang="en-US" sz="10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6812280" y="1965960"/>
          <a:ext cx="470916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6903720" y="4617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23 → 0 of 23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actions, with 0 of 20 genuine requests wrongly blocked.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6903720" y="52120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team-written sentences (Hindi, Tamil, English, Telugu, Kannada, Bengali). A small, self-authored set: the pilot measures real calls. Reproduce: node decision-policy/negation-benchmark.mjs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6 &amp; 7 OF 12  ·  TARGET CUSTOMERS  ·  VALUE PROPOSITION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6·7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Customers &amp; Value Proposition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where AI agents already have permission to take customer actions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120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7830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92572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691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011680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D2C, e-commerce and fintech brands using Freshdesk and deploying AI voice agents for Indian customers.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697480"/>
            <a:ext cx="5120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880360"/>
            <a:ext cx="594360" cy="5943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166" y="3023006"/>
            <a:ext cx="309067" cy="309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6304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Secondary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463040" y="3108960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BPOs and support outsourcers that need one safety / policy layer across many client accounts.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3794760"/>
            <a:ext cx="51206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31520" y="3977640"/>
            <a:ext cx="594360" cy="59436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4120286"/>
            <a:ext cx="309067" cy="30906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463040" y="3886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Protected actions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463040" y="4206240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• returns • replacements • cancellations • any company API exposed to the AI agent.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49377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they buy: with ~26% of COD orders returning to origin, refund / return / cancel calls are a large share of support volume, and each wrong action costs real money.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943600" y="1600200"/>
            <a:ext cx="5715000" cy="960120"/>
          </a:xfrm>
          <a:prstGeom prst="roundRect">
            <a:avLst>
              <a:gd name="adj" fmla="val 9524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6172200" y="160020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it in once: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AI agent serves mixed-language callers, and nothing irreversible happens on a misheard word.</a:t>
            </a:r>
            <a:endParaRPr lang="en-US" sz="1350" dirty="0"/>
          </a:p>
        </p:txBody>
      </p:sp>
      <p:sp>
        <p:nvSpPr>
          <p:cNvPr id="25" name="Shape 20"/>
          <p:cNvSpPr/>
          <p:nvPr/>
        </p:nvSpPr>
        <p:spPr>
          <a:xfrm>
            <a:off x="5943600" y="2743200"/>
            <a:ext cx="2807208" cy="3383280"/>
          </a:xfrm>
          <a:prstGeom prst="roundRect">
            <a:avLst>
              <a:gd name="adj" fmla="val 3257"/>
            </a:avLst>
          </a:prstGeom>
          <a:solidFill>
            <a:srgbClr val="FBE4E7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880360"/>
            <a:ext cx="347472" cy="34747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37960" y="28529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6172200" y="3429000"/>
            <a:ext cx="2468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on its first interpretation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dropped “mat” = a wrong refund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escalation to humans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 of what happened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8851392" y="2743200"/>
            <a:ext cx="2807208" cy="3383280"/>
          </a:xfrm>
          <a:prstGeom prst="roundRect">
            <a:avLst>
              <a:gd name="adj" fmla="val 3257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4272" y="2880360"/>
            <a:ext cx="347472" cy="34747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445752" y="2852928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Codemix Skill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9079992" y="3429000"/>
            <a:ext cx="2468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intent + negation first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when unsure (voice / DTMF)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handoff with full context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Full, SOP-checked audit trail</a:t>
            </a:r>
            <a:endParaRPr lang="en-US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8 &amp; 9 OF 12  ·  PRICING &amp; PACKAGING  ·  GO-TO-MARKET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8·9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&amp; Packaging · Go-to-Market Plan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→ measurable proof → Freshworks distribution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1600200"/>
            <a:ext cx="1417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16916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19659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risky actions, never blocks · weekly wrong-action report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679192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" y="2679192"/>
            <a:ext cx="1417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27706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guarded actions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304495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safety gate, DTMF confirm, Freshdesk escalation, audit trail · 30 days free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758184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1520" y="3758184"/>
            <a:ext cx="1417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2194560" y="38496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412394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SOP rule packs · transcript retention + India data residency · SLA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5394960" cy="1234440"/>
          </a:xfrm>
          <a:prstGeom prst="roundRect">
            <a:avLst>
              <a:gd name="adj" fmla="val 7407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892040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price works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sensitive actions are metered. One prevented wrong refund of ₹1,000 (~$11) pays for over 2,000 guarded actions. Proposed; validated in the pilot.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17920" y="160020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46520" y="1719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647688" y="2240280"/>
            <a:ext cx="0" cy="3063240"/>
          </a:xfrm>
          <a:prstGeom prst="line">
            <a:avLst/>
          </a:prstGeom>
          <a:noFill/>
          <a:ln w="25400">
            <a:solidFill>
              <a:srgbClr val="B8C2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73952" y="2103120"/>
            <a:ext cx="347472" cy="347472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73952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2057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Indian D2C design partners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995160" y="23317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on Freshdesk with AI voice agents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73952" y="2816352"/>
            <a:ext cx="347472" cy="347472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73952" y="2816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995160" y="27706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monitor-mode pilot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995160" y="30449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wrong actions without blocking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73952" y="3529584"/>
            <a:ext cx="347472" cy="347472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73952" y="3529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995160" y="34838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wrong-action proof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995160" y="37581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+ Hinglish / Tanglish demo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73952" y="4242816"/>
            <a:ext cx="347472" cy="347472"/>
          </a:xfrm>
          <a:prstGeom prst="ellipse">
            <a:avLst/>
          </a:prstGeom>
          <a:solidFill>
            <a:srgbClr val="12AF9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73952" y="4242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995160" y="41970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listing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44714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install for Freshdesk admins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73952" y="4956048"/>
            <a:ext cx="347472" cy="347472"/>
          </a:xfrm>
          <a:prstGeom prst="ellipse">
            <a:avLst/>
          </a:prstGeom>
          <a:solidFill>
            <a:srgbClr val="1421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73952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995160" y="49103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Freshdesk + BPO partners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6995160" y="5184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alongside Freshdesk deals, India / SEA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446520" y="5669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Freshworks: Freshdesk turns an unsafe AI decision into an actionable human case.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 OF 12  ·  COSTS &amp; RESOURCES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&amp; Resources Needed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~$90K proposed budget for a 3-month MVP (estimates)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00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BREAKDOWN (ESTIMATE)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engineers × 3 months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762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path, safety gate, Freshworks app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83280" y="1993392"/>
            <a:ext cx="2011680" cy="329184"/>
          </a:xfrm>
          <a:prstGeom prst="roundRect">
            <a:avLst>
              <a:gd name="adj" fmla="val 16667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40680" y="19933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 + data labelling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Hindi + Tamil utterances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83280" y="2596896"/>
            <a:ext cx="335280" cy="329184"/>
          </a:xfrm>
          <a:prstGeom prst="roundRect">
            <a:avLst>
              <a:gd name="adj" fmla="val 16667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64280" y="259689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27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Part-time PM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383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+ pricing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83280" y="3200400"/>
            <a:ext cx="268224" cy="329184"/>
          </a:xfrm>
          <a:prstGeom prst="roundRect">
            <a:avLst>
              <a:gd name="adj" fmla="val 20455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97224" y="32004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7307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telephony usage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986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Sarvam, Claude, ElevenLabs, VoBiz, Dodo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83280" y="3803904"/>
            <a:ext cx="234696" cy="329184"/>
          </a:xfrm>
          <a:prstGeom prst="roundRect">
            <a:avLst>
              <a:gd name="adj" fmla="val 23377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63696" y="380390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$7K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34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5902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83280" y="4407408"/>
            <a:ext cx="167640" cy="329184"/>
          </a:xfrm>
          <a:prstGeom prst="roundRect">
            <a:avLst>
              <a:gd name="adj" fmla="val 32727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96640" y="440740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50292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~$90K total</a:t>
            </a:r>
            <a:endParaRPr lang="en-US" sz="24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engineers · 1 linguist · part-time PM · 3 months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1600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MVP TIMELINE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366760" y="19202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464040" y="19202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561320" y="19202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72200" y="2212848"/>
            <a:ext cx="5486400" cy="42062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63640" y="22402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dataset + lexicon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366760" y="2295144"/>
            <a:ext cx="1316736" cy="256032"/>
          </a:xfrm>
          <a:prstGeom prst="roundRect">
            <a:avLst>
              <a:gd name="adj" fmla="val 28571"/>
            </a:avLst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72200" y="2670048"/>
            <a:ext cx="54864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63640" y="2697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gate + Dodo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915400" y="2752344"/>
            <a:ext cx="1645920" cy="256032"/>
          </a:xfrm>
          <a:prstGeom prst="roundRect">
            <a:avLst>
              <a:gd name="adj" fmla="val 2857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72200" y="3127248"/>
            <a:ext cx="5486400" cy="42062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63640" y="31546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+ Sarvam + ElevenLabs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464040" y="3209544"/>
            <a:ext cx="1316736" cy="256032"/>
          </a:xfrm>
          <a:prstGeom prst="roundRect">
            <a:avLst>
              <a:gd name="adj" fmla="val 28571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72200" y="3584448"/>
            <a:ext cx="54864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63640" y="36118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+ audit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793224" y="3666744"/>
            <a:ext cx="1645920" cy="256032"/>
          </a:xfrm>
          <a:prstGeom prst="roundRect">
            <a:avLst>
              <a:gd name="adj" fmla="val 28571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72200" y="4041648"/>
            <a:ext cx="5486400" cy="42062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63640" y="4069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Design-partner pilot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0561320" y="4123944"/>
            <a:ext cx="1097280" cy="256032"/>
          </a:xfrm>
          <a:prstGeom prst="roundRect">
            <a:avLst>
              <a:gd name="adj" fmla="val 28571"/>
            </a:avLst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72200" y="466344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6400800" y="46634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revenue estimate (assumption-based)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customers × 20,000 guarded actions / month × $5 per 1,000 ≈ </a:t>
            </a:r>
            <a:pPr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$120K ARR in Year 1</a:t>
            </a:r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Every input is tested in the pilot.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11 OF 12  ·  BENEFITS &amp; SUCCESS METRICS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Benefits &amp; Success Metrics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where we have one; everything else is a pilot target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16002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6002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6309360" cy="530352"/>
          </a:xfrm>
          <a:prstGeom prst="roundRect">
            <a:avLst>
              <a:gd name="adj" fmla="val 1034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192024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 on negated requests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192024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48%*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192024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0.5%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542032"/>
            <a:ext cx="63093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542032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reply time (sensitive path)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254203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254203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900 ms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163824"/>
            <a:ext cx="6309360" cy="530352"/>
          </a:xfrm>
          <a:prstGeom prst="roundRect">
            <a:avLst>
              <a:gd name="adj" fmla="val 1034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163824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 (friction budget)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749040" y="316382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3163824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15%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3785616"/>
            <a:ext cx="63093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378561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378561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378561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48640" y="4407408"/>
            <a:ext cx="6309360" cy="530352"/>
          </a:xfrm>
          <a:prstGeom prst="roundRect">
            <a:avLst>
              <a:gd name="adj" fmla="val 1034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407408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cancel reversal tickets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3749040" y="440740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303520" y="440740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−30%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5029200"/>
            <a:ext cx="63093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502920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(eligible customers, 2 quarters)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3749040" y="50292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303520" y="502920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5C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7150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Round-1 engine without the gate, on the 23-sentence negation test set.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178040" y="1600200"/>
            <a:ext cx="4480560" cy="4526280"/>
          </a:xfrm>
          <a:prstGeom prst="roundRect">
            <a:avLst>
              <a:gd name="adj" fmla="val 2041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7406640" y="17190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LOW LATENCY IS KEPT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406640" y="219456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549640" y="2560320"/>
            <a:ext cx="18288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8732520" y="1965960"/>
            <a:ext cx="1691640" cy="118872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action?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578340" y="3154680"/>
            <a:ext cx="914" cy="274320"/>
          </a:xfrm>
          <a:prstGeom prst="line">
            <a:avLst/>
          </a:prstGeom>
          <a:noFill/>
          <a:ln w="254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9646920" y="31272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424160" y="2560320"/>
            <a:ext cx="137160" cy="914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241280" y="22128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561320" y="2103120"/>
            <a:ext cx="914400" cy="914400"/>
          </a:xfrm>
          <a:prstGeom prst="roundRect">
            <a:avLst>
              <a:gd name="adj" fmla="val 8000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3429000"/>
            <a:ext cx="4069080" cy="1005840"/>
          </a:xfrm>
          <a:prstGeom prst="roundRect">
            <a:avLst>
              <a:gd name="adj" fmla="val 7273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depth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intent + negation + confirmation only for sensitive / irreversible actions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7406640" y="4617720"/>
            <a:ext cx="4069080" cy="1280160"/>
          </a:xfrm>
          <a:prstGeom prst="roundRect">
            <a:avLst>
              <a:gd name="adj" fmla="val 5714"/>
            </a:avLst>
          </a:prstGeom>
          <a:solidFill>
            <a:srgbClr val="DDF5F1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Fallbacks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for confirmation · Freshdesk for human handling · transcript retained for audit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12 OF 12  ·  RISKS &amp; ASSUMPTIONS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Assumptions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go wrong, how we reduce it, and what we're assuming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00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  →  MITIGATION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920240"/>
            <a:ext cx="3017520" cy="512064"/>
          </a:xfrm>
          <a:prstGeom prst="roundRect">
            <a:avLst>
              <a:gd name="adj" fmla="val 14286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drops the negation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2176272"/>
            <a:ext cx="36576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3931920" y="1920240"/>
            <a:ext cx="3063240" cy="512064"/>
          </a:xfrm>
          <a:prstGeom prst="roundRect">
            <a:avLst>
              <a:gd name="adj" fmla="val 14286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every risky action (voice or DTMF)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542032"/>
            <a:ext cx="3017520" cy="512064"/>
          </a:xfrm>
          <a:prstGeom prst="roundRect">
            <a:avLst>
              <a:gd name="adj" fmla="val 14286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check adds latency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66160" y="2798064"/>
            <a:ext cx="36576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931920" y="2542032"/>
            <a:ext cx="3063240" cy="512064"/>
          </a:xfrm>
          <a:prstGeom prst="roundRect">
            <a:avLst>
              <a:gd name="adj" fmla="val 14286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checks only for sensitive actions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163824"/>
            <a:ext cx="3017520" cy="512064"/>
          </a:xfrm>
          <a:prstGeom prst="roundRect">
            <a:avLst>
              <a:gd name="adj" fmla="val 14286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 / spelling variation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66160" y="3419856"/>
            <a:ext cx="36576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931920" y="3163824"/>
            <a:ext cx="3063240" cy="512064"/>
          </a:xfrm>
          <a:prstGeom prst="roundRect">
            <a:avLst>
              <a:gd name="adj" fmla="val 14286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Lexicon + model fallback, learn from human overrides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785616"/>
            <a:ext cx="3017520" cy="512064"/>
          </a:xfrm>
          <a:prstGeom prst="roundRect">
            <a:avLst>
              <a:gd name="adj" fmla="val 14286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Read-back feels like friction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66160" y="4041648"/>
            <a:ext cx="36576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931920" y="3785616"/>
            <a:ext cx="3063240" cy="512064"/>
          </a:xfrm>
          <a:prstGeom prst="roundRect">
            <a:avLst>
              <a:gd name="adj" fmla="val 14286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15% confirmation budget, tuned in pilot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262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46320"/>
            <a:ext cx="6446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brands expose refund / return APIs to their AI agent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accept a short confirmation on risky actions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accuracy on phone audio is good enough with the confirmation fallback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269480" y="1600200"/>
            <a:ext cx="4389120" cy="2926080"/>
          </a:xfrm>
          <a:prstGeom prst="roundRect">
            <a:avLst>
              <a:gd name="adj" fmla="val 3125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4380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205740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Freshdesk sandbox + Marketplace listing path for a 3-brand pilot.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543800" y="310896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pilot to measure wrong-action reduction, confirmation rate, latency and adoption.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269480" y="4754880"/>
            <a:ext cx="4389120" cy="1371600"/>
          </a:xfrm>
          <a:prstGeom prst="roundRect">
            <a:avLst>
              <a:gd name="adj" fmla="val 6667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498080" y="47548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principle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silently guess on a sensitive action; expose uncertainty, confirm or route to a human.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Pitch — Why This Is a Freshworks Extension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concise closing story for the judges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28800"/>
            <a:ext cx="228600" cy="22860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1783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945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voice + negation can cause an AI agent to misunderstand an action.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1828800"/>
            <a:ext cx="228600" cy="22860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783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945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intent-validation safety gate between what the voice agent hears and what it is allowed to do: Understand → Decide → Act → Audit.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828800"/>
            <a:ext cx="228600" cy="228600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95360" y="1783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FRESHWORKS VALUE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1945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AI should not act, Freshdesk turns uncertainty into a structured human workflow with transcript + decision context.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657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977640"/>
            <a:ext cx="1681190" cy="685800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20102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691563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263025" y="3977640"/>
            <a:ext cx="1681190" cy="685800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decision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34487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action OR Freshdesk ticket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05949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977410" y="3977640"/>
            <a:ext cx="1681190" cy="685800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983480"/>
            <a:ext cx="11109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“Don't cancel” should mean don't cancel</a:t>
            </a:r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and Freshworks should know exactly what happened when the AI chooses not to act.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Understand → Decide → Act → Audit  •  Thank you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Codemix Skill — Judge-Ready Business Case</dc:title>
  <dc:subject>PptxGenJS Presentation</dc:subject>
  <dc:creator>Team Ramanathan &amp; Sadhana</dc:creator>
  <cp:lastModifiedBy>Team Ramanathan &amp; Sadhana</cp:lastModifiedBy>
  <cp:revision>1</cp:revision>
  <dcterms:created xsi:type="dcterms:W3CDTF">2026-09-26T02:32:22Z</dcterms:created>
  <dcterms:modified xsi:type="dcterms:W3CDTF">2026-09-26T02:32:22Z</dcterms:modified>
</cp:coreProperties>
</file>